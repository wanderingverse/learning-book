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5"/>
    <p:sldMasterId id="2147483671" r:id="rId46"/>
    <p:sldMasterId id="2147483660" r:id="rId47"/>
    <p:sldMasterId id="2147483672" r:id="rId48"/>
    <p:sldMasterId id="2147483679" r:id="rId49"/>
    <p:sldMasterId id="2147483690" r:id="rId50"/>
  </p:sldMasterIdLst>
  <p:notesMasterIdLst>
    <p:notesMasterId r:id="rId77"/>
  </p:notesMasterIdLst>
  <p:handoutMasterIdLst>
    <p:handoutMasterId r:id="rId78"/>
  </p:handoutMasterIdLst>
  <p:sldIdLst>
    <p:sldId id="687" r:id="rId51"/>
    <p:sldId id="715" r:id="rId52"/>
    <p:sldId id="689" r:id="rId53"/>
    <p:sldId id="690" r:id="rId54"/>
    <p:sldId id="691" r:id="rId55"/>
    <p:sldId id="692" r:id="rId56"/>
    <p:sldId id="693" r:id="rId57"/>
    <p:sldId id="695" r:id="rId58"/>
    <p:sldId id="696" r:id="rId59"/>
    <p:sldId id="697" r:id="rId60"/>
    <p:sldId id="698" r:id="rId61"/>
    <p:sldId id="699" r:id="rId62"/>
    <p:sldId id="700" r:id="rId63"/>
    <p:sldId id="701" r:id="rId64"/>
    <p:sldId id="702" r:id="rId65"/>
    <p:sldId id="703" r:id="rId66"/>
    <p:sldId id="716" r:id="rId67"/>
    <p:sldId id="704" r:id="rId68"/>
    <p:sldId id="705" r:id="rId69"/>
    <p:sldId id="717" r:id="rId70"/>
    <p:sldId id="707" r:id="rId71"/>
    <p:sldId id="708" r:id="rId72"/>
    <p:sldId id="718" r:id="rId73"/>
    <p:sldId id="709" r:id="rId74"/>
    <p:sldId id="288" r:id="rId75"/>
    <p:sldId id="432" r:id="rId76"/>
  </p:sldIdLst>
  <p:sldSz cx="12192000" cy="6858000"/>
  <p:notesSz cx="6858000" cy="9144000"/>
  <p:custDataLst>
    <p:tags r:id="rId79"/>
  </p:custDataLst>
  <p:defaultText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8D1D"/>
    <a:srgbClr val="2F2F2F"/>
    <a:srgbClr val="9361E3"/>
    <a:srgbClr val="14FC4B"/>
    <a:srgbClr val="9D9D9D"/>
    <a:srgbClr val="71DDFA"/>
    <a:srgbClr val="15A0FA"/>
    <a:srgbClr val="C8B4F2"/>
    <a:srgbClr val="B9EDFE"/>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3" autoAdjust="0"/>
    <p:restoredTop sz="95086" autoAdjust="0"/>
  </p:normalViewPr>
  <p:slideViewPr>
    <p:cSldViewPr snapToGrid="0" showGuides="1">
      <p:cViewPr varScale="1">
        <p:scale>
          <a:sx n="77" d="100"/>
          <a:sy n="77" d="100"/>
        </p:scale>
        <p:origin x="76" y="20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21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slideMaster" Target="slideMasters/slideMaster3.xml"/><Relationship Id="rId50" Type="http://schemas.openxmlformats.org/officeDocument/2006/relationships/slideMaster" Target="slideMasters/slideMaster6.xml"/><Relationship Id="rId55" Type="http://schemas.openxmlformats.org/officeDocument/2006/relationships/slide" Target="slides/slide5.xml"/><Relationship Id="rId63" Type="http://schemas.openxmlformats.org/officeDocument/2006/relationships/slide" Target="slides/slide13.xml"/><Relationship Id="rId68" Type="http://schemas.openxmlformats.org/officeDocument/2006/relationships/slide" Target="slides/slide18.xml"/><Relationship Id="rId76" Type="http://schemas.openxmlformats.org/officeDocument/2006/relationships/slide" Target="slides/slide26.xml"/><Relationship Id="rId7" Type="http://schemas.openxmlformats.org/officeDocument/2006/relationships/customXml" Target="../customXml/item7.xml"/><Relationship Id="rId71"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slideMaster" Target="slideMasters/slideMaster1.xml"/><Relationship Id="rId53" Type="http://schemas.openxmlformats.org/officeDocument/2006/relationships/slide" Target="slides/slide3.xml"/><Relationship Id="rId58" Type="http://schemas.openxmlformats.org/officeDocument/2006/relationships/slide" Target="slides/slide8.xml"/><Relationship Id="rId66" Type="http://schemas.openxmlformats.org/officeDocument/2006/relationships/slide" Target="slides/slide16.xml"/><Relationship Id="rId74" Type="http://schemas.openxmlformats.org/officeDocument/2006/relationships/slide" Target="slides/slide24.xml"/><Relationship Id="rId79" Type="http://schemas.openxmlformats.org/officeDocument/2006/relationships/tags" Target="tags/tag1.xml"/><Relationship Id="rId5" Type="http://schemas.openxmlformats.org/officeDocument/2006/relationships/customXml" Target="../customXml/item5.xml"/><Relationship Id="rId61" Type="http://schemas.openxmlformats.org/officeDocument/2006/relationships/slide" Target="slides/slide11.xml"/><Relationship Id="rId82" Type="http://schemas.openxmlformats.org/officeDocument/2006/relationships/theme" Target="theme/theme1.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2.xml"/><Relationship Id="rId60" Type="http://schemas.openxmlformats.org/officeDocument/2006/relationships/slide" Target="slides/slide10.xml"/><Relationship Id="rId65" Type="http://schemas.openxmlformats.org/officeDocument/2006/relationships/slide" Target="slides/slide15.xml"/><Relationship Id="rId73" Type="http://schemas.openxmlformats.org/officeDocument/2006/relationships/slide" Target="slides/slide23.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slideMaster" Target="slideMasters/slideMaster4.xml"/><Relationship Id="rId56" Type="http://schemas.openxmlformats.org/officeDocument/2006/relationships/slide" Target="slides/slide6.xml"/><Relationship Id="rId64" Type="http://schemas.openxmlformats.org/officeDocument/2006/relationships/slide" Target="slides/slide14.xml"/><Relationship Id="rId69" Type="http://schemas.openxmlformats.org/officeDocument/2006/relationships/slide" Target="slides/slide19.xml"/><Relationship Id="rId77"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slide" Target="slides/slide1.xml"/><Relationship Id="rId72" Type="http://schemas.openxmlformats.org/officeDocument/2006/relationships/slide" Target="slides/slide22.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2.xml"/><Relationship Id="rId59" Type="http://schemas.openxmlformats.org/officeDocument/2006/relationships/slide" Target="slides/slide9.xml"/><Relationship Id="rId67" Type="http://schemas.openxmlformats.org/officeDocument/2006/relationships/slide" Target="slides/slide1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4.xml"/><Relationship Id="rId62" Type="http://schemas.openxmlformats.org/officeDocument/2006/relationships/slide" Target="slides/slide12.xml"/><Relationship Id="rId70" Type="http://schemas.openxmlformats.org/officeDocument/2006/relationships/slide" Target="slides/slide20.xml"/><Relationship Id="rId75" Type="http://schemas.openxmlformats.org/officeDocument/2006/relationships/slide" Target="slides/slide25.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Master" Target="slideMasters/slideMaster5.xml"/><Relationship Id="rId57"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23121D-534D-C18D-86F2-F8B084E7F1B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3724E421-5F99-33C1-6C60-3D67F5BBC34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11D20C-92F4-4D32-92CD-1278806BF344}" type="datetimeFigureOut">
              <a:rPr lang="zh-CN" altLang="en-US" smtClean="0"/>
              <a:t>2025/11/7</a:t>
            </a:fld>
            <a:endParaRPr lang="zh-CN" altLang="en-US"/>
          </a:p>
        </p:txBody>
      </p:sp>
      <p:sp>
        <p:nvSpPr>
          <p:cNvPr id="4" name="页脚占位符 3">
            <a:extLst>
              <a:ext uri="{FF2B5EF4-FFF2-40B4-BE49-F238E27FC236}">
                <a16:creationId xmlns:a16="http://schemas.microsoft.com/office/drawing/2014/main" id="{A4CEAC0C-2766-8EA5-AFAC-04E2AE7E1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69A8BD-4CEA-8355-A923-3DE76C669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4D7DA4C-D0A3-441A-A01E-F1F72C62FDE0}" type="slidenum">
              <a:rPr lang="zh-CN" altLang="en-US" smtClean="0"/>
              <a:t>‹#›</a:t>
            </a:fld>
            <a:endParaRPr lang="zh-CN" altLang="en-US"/>
          </a:p>
        </p:txBody>
      </p:sp>
    </p:spTree>
    <p:extLst>
      <p:ext uri="{BB962C8B-B14F-4D97-AF65-F5344CB8AC3E}">
        <p14:creationId xmlns:p14="http://schemas.microsoft.com/office/powerpoint/2010/main" val="493079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2025/11/7</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内容页">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CED916A-3E34-4B9E-8F9F-7A8921A30F99}"/>
              </a:ext>
            </a:extLst>
          </p:cNvPr>
          <p:cNvSpPr>
            <a:spLocks noGrp="1"/>
          </p:cNvSpPr>
          <p:nvPr>
            <p:ph idx="1" hasCustomPrompt="1"/>
          </p:nvPr>
        </p:nvSpPr>
        <p:spPr>
          <a:xfrm>
            <a:off x="576200" y="956244"/>
            <a:ext cx="11060481" cy="5331825"/>
          </a:xfrm>
          <a:prstGeom prst="rect">
            <a:avLst/>
          </a:prstGeom>
        </p:spPr>
        <p:txBody>
          <a:bodyPr/>
          <a:lstStyle>
            <a:lvl1pPr marL="0" indent="0">
              <a:lnSpc>
                <a:spcPct val="150000"/>
              </a:lnSpc>
              <a:buNone/>
              <a:defRPr sz="1600"/>
            </a:lvl1pPr>
          </a:lstStyle>
          <a:p>
            <a:pPr lvl="0"/>
            <a:r>
              <a:rPr lang="zh-CN" altLang="en-US"/>
              <a:t>单击此处编辑内容</a:t>
            </a:r>
            <a:endParaRPr lang="zh-CN" altLang="en-US" dirty="0"/>
          </a:p>
        </p:txBody>
      </p:sp>
      <p:sp>
        <p:nvSpPr>
          <p:cNvPr id="8" name="标题 7">
            <a:extLst>
              <a:ext uri="{FF2B5EF4-FFF2-40B4-BE49-F238E27FC236}">
                <a16:creationId xmlns:a16="http://schemas.microsoft.com/office/drawing/2014/main" id="{E0BD5DE7-58FF-A736-CEC2-C49FBA5469E8}"/>
              </a:ext>
            </a:extLst>
          </p:cNvPr>
          <p:cNvSpPr>
            <a:spLocks noGrp="1"/>
          </p:cNvSpPr>
          <p:nvPr>
            <p:ph type="title"/>
          </p:nvPr>
        </p:nvSpPr>
        <p:spPr>
          <a:xfrm>
            <a:off x="576198" y="336402"/>
            <a:ext cx="10747497" cy="474415"/>
          </a:xfrm>
          <a:prstGeom prst="rect">
            <a:avLst/>
          </a:prstGeom>
        </p:spPr>
        <p:txBody>
          <a:bodyPr/>
          <a:lstStyle>
            <a:lvl1pPr>
              <a:lnSpc>
                <a:spcPct val="100000"/>
              </a:lnSpc>
              <a:defRPr sz="2400">
                <a:solidFill>
                  <a:schemeClr val="accent1"/>
                </a:solidFill>
              </a:defRPr>
            </a:lvl1pPr>
          </a:lstStyle>
          <a:p>
            <a:r>
              <a:rPr lang="zh-CN" altLang="en-US"/>
              <a:t>单击此处编辑母版标题样式</a:t>
            </a:r>
          </a:p>
        </p:txBody>
      </p:sp>
      <p:sp>
        <p:nvSpPr>
          <p:cNvPr id="47" name="椭圆 46">
            <a:extLst>
              <a:ext uri="{FF2B5EF4-FFF2-40B4-BE49-F238E27FC236}">
                <a16:creationId xmlns:a16="http://schemas.microsoft.com/office/drawing/2014/main" id="{2828A69B-715F-4EF1-58FB-A763C01CE99E}"/>
              </a:ext>
            </a:extLst>
          </p:cNvPr>
          <p:cNvSpPr/>
          <p:nvPr userDrawn="1"/>
        </p:nvSpPr>
        <p:spPr>
          <a:xfrm>
            <a:off x="221807"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8" name="椭圆 47">
            <a:extLst>
              <a:ext uri="{FF2B5EF4-FFF2-40B4-BE49-F238E27FC236}">
                <a16:creationId xmlns:a16="http://schemas.microsoft.com/office/drawing/2014/main" id="{D09C51A0-F849-48A7-BC23-68B1480BCFBA}"/>
              </a:ext>
            </a:extLst>
          </p:cNvPr>
          <p:cNvSpPr/>
          <p:nvPr userDrawn="1"/>
        </p:nvSpPr>
        <p:spPr>
          <a:xfrm>
            <a:off x="293859" y="224695"/>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8237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7">
            <a:extLst>
              <a:ext uri="{FF2B5EF4-FFF2-40B4-BE49-F238E27FC236}">
                <a16:creationId xmlns:a16="http://schemas.microsoft.com/office/drawing/2014/main" id="{FCDA8ECA-5550-1579-68CA-CC29E9FAE4D5}"/>
              </a:ext>
            </a:extLst>
          </p:cNvPr>
          <p:cNvSpPr>
            <a:spLocks noGrp="1"/>
          </p:cNvSpPr>
          <p:nvPr>
            <p:ph type="title"/>
          </p:nvPr>
        </p:nvSpPr>
        <p:spPr>
          <a:xfrm>
            <a:off x="576627" y="335206"/>
            <a:ext cx="10737020"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sp>
        <p:nvSpPr>
          <p:cNvPr id="39" name="椭圆 38">
            <a:extLst>
              <a:ext uri="{FF2B5EF4-FFF2-40B4-BE49-F238E27FC236}">
                <a16:creationId xmlns:a16="http://schemas.microsoft.com/office/drawing/2014/main" id="{0F420230-886B-D4D3-2B3C-23A24A3C217F}"/>
              </a:ext>
            </a:extLst>
          </p:cNvPr>
          <p:cNvSpPr/>
          <p:nvPr userDrawn="1"/>
        </p:nvSpPr>
        <p:spPr>
          <a:xfrm>
            <a:off x="221807" y="190972"/>
            <a:ext cx="144104" cy="14410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0" name="椭圆 39">
            <a:extLst>
              <a:ext uri="{FF2B5EF4-FFF2-40B4-BE49-F238E27FC236}">
                <a16:creationId xmlns:a16="http://schemas.microsoft.com/office/drawing/2014/main" id="{0C47F643-5264-44DA-EC51-A1FD97EB2FDA}"/>
              </a:ext>
            </a:extLst>
          </p:cNvPr>
          <p:cNvSpPr/>
          <p:nvPr userDrawn="1"/>
        </p:nvSpPr>
        <p:spPr>
          <a:xfrm>
            <a:off x="293859" y="224695"/>
            <a:ext cx="220764" cy="2207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257642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标题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71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案例</a:t>
              </a:r>
              <a:endParaRPr lang="zh-CN" altLang="en-US" sz="2000" b="0"/>
            </a:p>
          </p:txBody>
        </p:sp>
      </p:grpSp>
    </p:spTree>
    <p:extLst>
      <p:ext uri="{BB962C8B-B14F-4D97-AF65-F5344CB8AC3E}">
        <p14:creationId xmlns:p14="http://schemas.microsoft.com/office/powerpoint/2010/main" val="367163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ea typeface="Alibaba PuHuiTi B" pitchFamily="18" charset="-122"/>
                </a:rPr>
                <a:t>步骤</a:t>
              </a:r>
              <a:endParaRPr lang="zh-CN" altLang="en-US" sz="2000" b="0"/>
            </a:p>
          </p:txBody>
        </p:sp>
      </p:grpSp>
    </p:spTree>
    <p:extLst>
      <p:ext uri="{BB962C8B-B14F-4D97-AF65-F5344CB8AC3E}">
        <p14:creationId xmlns:p14="http://schemas.microsoft.com/office/powerpoint/2010/main" val="180155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27" name="椭圆 26">
            <a:extLst>
              <a:ext uri="{FF2B5EF4-FFF2-40B4-BE49-F238E27FC236}">
                <a16:creationId xmlns:a16="http://schemas.microsoft.com/office/drawing/2014/main" id="{CE1A1E8E-5BFA-290B-CE2D-C63161DD862D}"/>
              </a:ext>
            </a:extLst>
          </p:cNvPr>
          <p:cNvSpPr/>
          <p:nvPr userDrawn="1"/>
        </p:nvSpPr>
        <p:spPr>
          <a:xfrm>
            <a:off x="410285" y="263624"/>
            <a:ext cx="201683" cy="201683"/>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标题 7">
            <a:extLst>
              <a:ext uri="{FF2B5EF4-FFF2-40B4-BE49-F238E27FC236}">
                <a16:creationId xmlns:a16="http://schemas.microsoft.com/office/drawing/2014/main" id="{28157308-7332-F855-6CD5-8994EF9131BA}"/>
              </a:ext>
            </a:extLst>
          </p:cNvPr>
          <p:cNvSpPr>
            <a:spLocks noGrp="1"/>
          </p:cNvSpPr>
          <p:nvPr>
            <p:ph type="title"/>
          </p:nvPr>
        </p:nvSpPr>
        <p:spPr>
          <a:xfrm>
            <a:off x="1753099" y="316673"/>
            <a:ext cx="9735968" cy="474415"/>
          </a:xfrm>
          <a:prstGeom prst="rect">
            <a:avLst/>
          </a:prstGeom>
        </p:spPr>
        <p:txBody>
          <a:bodyPr anchor="ctr"/>
          <a:lstStyle>
            <a:lvl1pPr>
              <a:lnSpc>
                <a:spcPct val="100000"/>
              </a:lnSpc>
              <a:defRPr sz="2400">
                <a:solidFill>
                  <a:schemeClr val="accent1"/>
                </a:solidFill>
              </a:defRPr>
            </a:lvl1pPr>
          </a:lstStyle>
          <a:p>
            <a:r>
              <a:rPr lang="zh-CN" altLang="en-US"/>
              <a:t>单击此处编辑母版标题样式</a:t>
            </a:r>
          </a:p>
        </p:txBody>
      </p:sp>
      <p:pic>
        <p:nvPicPr>
          <p:cNvPr id="14" name="图形 13">
            <a:extLst>
              <a:ext uri="{FF2B5EF4-FFF2-40B4-BE49-F238E27FC236}">
                <a16:creationId xmlns:a16="http://schemas.microsoft.com/office/drawing/2014/main" id="{7C282B3D-F354-6522-5657-ED6D2CE0D848}"/>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5780" y="423788"/>
            <a:ext cx="201683" cy="201683"/>
          </a:xfrm>
          <a:prstGeom prst="rect">
            <a:avLst/>
          </a:prstGeom>
        </p:spPr>
      </p:pic>
      <p:sp>
        <p:nvSpPr>
          <p:cNvPr id="18" name="文本占位符 17">
            <a:extLst>
              <a:ext uri="{FF2B5EF4-FFF2-40B4-BE49-F238E27FC236}">
                <a16:creationId xmlns:a16="http://schemas.microsoft.com/office/drawing/2014/main" id="{003B1F35-1C5E-4046-0266-04F81948A3E3}"/>
              </a:ext>
            </a:extLst>
          </p:cNvPr>
          <p:cNvSpPr>
            <a:spLocks noGrp="1"/>
          </p:cNvSpPr>
          <p:nvPr>
            <p:ph type="body" sz="quarter" idx="10" hasCustomPrompt="1"/>
          </p:nvPr>
        </p:nvSpPr>
        <p:spPr>
          <a:xfrm>
            <a:off x="1753099" y="1024934"/>
            <a:ext cx="9570540" cy="4780556"/>
          </a:xfrm>
          <a:prstGeom prst="rect">
            <a:avLst/>
          </a:prstGeom>
        </p:spPr>
        <p:txBody>
          <a:bodyPr/>
          <a:lstStyle>
            <a:lvl1pPr marL="0" indent="0">
              <a:lnSpc>
                <a:spcPct val="150000"/>
              </a:lnSpc>
              <a:buNone/>
              <a:defRPr sz="1600"/>
            </a:lvl1pPr>
          </a:lstStyle>
          <a:p>
            <a:pPr lvl="0"/>
            <a:r>
              <a:rPr lang="zh-CN" altLang="en-US"/>
              <a:t>此处</a:t>
            </a:r>
            <a:r>
              <a:rPr lang="en-US" altLang="zh-CN"/>
              <a:t>weight</a:t>
            </a:r>
            <a:r>
              <a:rPr lang="zh-CN" altLang="en-US"/>
              <a:t>案例内容，字体不可改，阿里巴巴惠普体</a:t>
            </a:r>
            <a:r>
              <a:rPr lang="en-US" altLang="zh-CN"/>
              <a:t>16</a:t>
            </a:r>
            <a:r>
              <a:rPr lang="zh-CN" altLang="en-US"/>
              <a:t>号</a:t>
            </a:r>
          </a:p>
        </p:txBody>
      </p:sp>
      <p:grpSp>
        <p:nvGrpSpPr>
          <p:cNvPr id="26" name="组合 25">
            <a:extLst>
              <a:ext uri="{FF2B5EF4-FFF2-40B4-BE49-F238E27FC236}">
                <a16:creationId xmlns:a16="http://schemas.microsoft.com/office/drawing/2014/main" id="{20A81A7A-9283-4012-AFC4-85E90FC61246}"/>
              </a:ext>
            </a:extLst>
          </p:cNvPr>
          <p:cNvGrpSpPr/>
          <p:nvPr userDrawn="1"/>
        </p:nvGrpSpPr>
        <p:grpSpPr>
          <a:xfrm>
            <a:off x="504136" y="308770"/>
            <a:ext cx="1212683" cy="453281"/>
            <a:chOff x="532462" y="1628775"/>
            <a:chExt cx="1212682" cy="453281"/>
          </a:xfrm>
        </p:grpSpPr>
        <p:sp>
          <p:nvSpPr>
            <p:cNvPr id="24" name="矩形: 圆角 23">
              <a:extLst>
                <a:ext uri="{FF2B5EF4-FFF2-40B4-BE49-F238E27FC236}">
                  <a16:creationId xmlns:a16="http://schemas.microsoft.com/office/drawing/2014/main" id="{54670D28-3CCE-924C-0936-90894593722C}"/>
                </a:ext>
              </a:extLst>
            </p:cNvPr>
            <p:cNvSpPr/>
            <p:nvPr userDrawn="1"/>
          </p:nvSpPr>
          <p:spPr>
            <a:xfrm>
              <a:off x="695616" y="1668659"/>
              <a:ext cx="1031831" cy="373512"/>
            </a:xfrm>
            <a:prstGeom prst="roundRect">
              <a:avLst>
                <a:gd name="adj" fmla="val 15027"/>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椭圆 21">
              <a:extLst>
                <a:ext uri="{FF2B5EF4-FFF2-40B4-BE49-F238E27FC236}">
                  <a16:creationId xmlns:a16="http://schemas.microsoft.com/office/drawing/2014/main" id="{55B1B6FC-F79A-9918-E71A-665867D34C18}"/>
                </a:ext>
              </a:extLst>
            </p:cNvPr>
            <p:cNvSpPr/>
            <p:nvPr userDrawn="1"/>
          </p:nvSpPr>
          <p:spPr>
            <a:xfrm>
              <a:off x="532462" y="1628775"/>
              <a:ext cx="453281" cy="4532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23" name="图形 22">
              <a:extLst>
                <a:ext uri="{FF2B5EF4-FFF2-40B4-BE49-F238E27FC236}">
                  <a16:creationId xmlns:a16="http://schemas.microsoft.com/office/drawing/2014/main" id="{831BBACC-20D7-DBD1-9827-7405F380536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261" y="1754574"/>
              <a:ext cx="201682" cy="201682"/>
            </a:xfrm>
            <a:prstGeom prst="rect">
              <a:avLst/>
            </a:prstGeom>
          </p:spPr>
        </p:pic>
        <p:sp>
          <p:nvSpPr>
            <p:cNvPr id="25" name="文本框 24">
              <a:extLst>
                <a:ext uri="{FF2B5EF4-FFF2-40B4-BE49-F238E27FC236}">
                  <a16:creationId xmlns:a16="http://schemas.microsoft.com/office/drawing/2014/main" id="{92206755-775B-95BA-7085-C3DF286396FF}"/>
                </a:ext>
              </a:extLst>
            </p:cNvPr>
            <p:cNvSpPr txBox="1"/>
            <p:nvPr userDrawn="1"/>
          </p:nvSpPr>
          <p:spPr>
            <a:xfrm>
              <a:off x="1000760" y="1655360"/>
              <a:ext cx="744384" cy="400110"/>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zh-CN" altLang="en-US" sz="2000" b="0">
                  <a:solidFill>
                    <a:schemeClr val="accent1"/>
                  </a:solidFill>
                  <a:latin typeface="Alibaba PuHuiTi B" pitchFamily="18" charset="-122"/>
                  <a:ea typeface="Alibaba PuHuiTi B" pitchFamily="18" charset="-122"/>
                  <a:cs typeface="Alibaba PuHuiTi B" pitchFamily="18" charset="-122"/>
                </a:rPr>
                <a:t>练习</a:t>
              </a:r>
              <a:endParaRPr lang="zh-CN" altLang="en-US" sz="2000" b="0"/>
            </a:p>
          </p:txBody>
        </p:sp>
      </p:grpSp>
    </p:spTree>
    <p:extLst>
      <p:ext uri="{BB962C8B-B14F-4D97-AF65-F5344CB8AC3E}">
        <p14:creationId xmlns:p14="http://schemas.microsoft.com/office/powerpoint/2010/main" val="339810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EA5F5-EE94-4024-E6F6-17ED7A77B91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9334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296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p>
        </p:txBody>
      </p:sp>
    </p:spTree>
    <p:extLst>
      <p:ext uri="{BB962C8B-B14F-4D97-AF65-F5344CB8AC3E}">
        <p14:creationId xmlns:p14="http://schemas.microsoft.com/office/powerpoint/2010/main" val="762237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1" name="椭圆 20">
            <a:extLst>
              <a:ext uri="{FF2B5EF4-FFF2-40B4-BE49-F238E27FC236}">
                <a16:creationId xmlns:a16="http://schemas.microsoft.com/office/drawing/2014/main" id="{A2C6D317-56F4-9711-5A26-95000236D36F}"/>
              </a:ext>
            </a:extLst>
          </p:cNvPr>
          <p:cNvSpPr/>
          <p:nvPr userDrawn="1"/>
        </p:nvSpPr>
        <p:spPr>
          <a:xfrm>
            <a:off x="375011" y="1961115"/>
            <a:ext cx="220344" cy="220344"/>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8" name="椭圆 17">
            <a:extLst>
              <a:ext uri="{FF2B5EF4-FFF2-40B4-BE49-F238E27FC236}">
                <a16:creationId xmlns:a16="http://schemas.microsoft.com/office/drawing/2014/main" id="{9B200C4C-3F9D-867C-E497-ADCB7E43A5BB}"/>
              </a:ext>
            </a:extLst>
          </p:cNvPr>
          <p:cNvSpPr/>
          <p:nvPr userDrawn="1"/>
        </p:nvSpPr>
        <p:spPr>
          <a:xfrm>
            <a:off x="2838086" y="-2028162"/>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椭圆 16">
            <a:extLst>
              <a:ext uri="{FF2B5EF4-FFF2-40B4-BE49-F238E27FC236}">
                <a16:creationId xmlns:a16="http://schemas.microsoft.com/office/drawing/2014/main" id="{4824A05E-CCAC-E012-444F-D8238FD3ABEF}"/>
              </a:ext>
            </a:extLst>
          </p:cNvPr>
          <p:cNvSpPr/>
          <p:nvPr userDrawn="1"/>
        </p:nvSpPr>
        <p:spPr>
          <a:xfrm>
            <a:off x="4568598" y="-297650"/>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椭圆 15">
            <a:extLst>
              <a:ext uri="{FF2B5EF4-FFF2-40B4-BE49-F238E27FC236}">
                <a16:creationId xmlns:a16="http://schemas.microsoft.com/office/drawing/2014/main" id="{AC93AF0E-4B39-C67D-D03D-00737E937EE7}"/>
              </a:ext>
            </a:extLst>
          </p:cNvPr>
          <p:cNvSpPr/>
          <p:nvPr userDrawn="1"/>
        </p:nvSpPr>
        <p:spPr>
          <a:xfrm>
            <a:off x="6170530" y="1304283"/>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2" y="2220689"/>
            <a:ext cx="10858500" cy="869023"/>
          </a:xfrm>
          <a:prstGeom prst="rect">
            <a:avLst/>
          </a:prstGeom>
        </p:spPr>
        <p:txBody>
          <a:bodyPr vert="horz" lIns="91440" tIns="45720" rIns="91440" bIns="45720" rtlCol="0" anchor="b">
            <a:normAutofit/>
          </a:bodyPr>
          <a:lstStyle>
            <a:lvl1pPr>
              <a:defRPr lang="zh-CN" altLang="en-US" sz="4800" b="1" dirty="0">
                <a:solidFill>
                  <a:schemeClr val="accent1"/>
                </a:solidFill>
              </a:defRPr>
            </a:lvl1pPr>
          </a:lstStyle>
          <a:p>
            <a:pPr lvl="0" defTabSz="914309"/>
            <a:r>
              <a:rPr lang="zh-CN" altLang="en-US"/>
              <a:t>点击输入一级标题</a:t>
            </a:r>
            <a:endParaRPr lang="zh-CN" altLang="en-US" dirty="0"/>
          </a:p>
        </p:txBody>
      </p:sp>
      <p:grpSp>
        <p:nvGrpSpPr>
          <p:cNvPr id="6" name="íS1iďê">
            <a:extLst>
              <a:ext uri="{FF2B5EF4-FFF2-40B4-BE49-F238E27FC236}">
                <a16:creationId xmlns:a16="http://schemas.microsoft.com/office/drawing/2014/main" id="{4883F772-DFB6-F082-E942-F47544710FF8}"/>
              </a:ext>
            </a:extLst>
          </p:cNvPr>
          <p:cNvGrpSpPr/>
          <p:nvPr userDrawn="1"/>
        </p:nvGrpSpPr>
        <p:grpSpPr>
          <a:xfrm>
            <a:off x="7262969" y="2396724"/>
            <a:ext cx="435739" cy="435739"/>
            <a:chOff x="7101141" y="4197557"/>
            <a:chExt cx="435738" cy="435738"/>
          </a:xfrm>
        </p:grpSpPr>
        <p:sp>
          <p:nvSpPr>
            <p:cNvPr id="11" name="iS1íḓê">
              <a:extLst>
                <a:ext uri="{FF2B5EF4-FFF2-40B4-BE49-F238E27FC236}">
                  <a16:creationId xmlns:a16="http://schemas.microsoft.com/office/drawing/2014/main" id="{6F73DB22-8BD9-67FD-6EBE-B56D6BF83FC2}"/>
                </a:ext>
              </a:extLst>
            </p:cNvPr>
            <p:cNvSpPr/>
            <p:nvPr/>
          </p:nvSpPr>
          <p:spPr>
            <a:xfrm>
              <a:off x="7101141" y="4197557"/>
              <a:ext cx="435738" cy="435738"/>
            </a:xfrm>
            <a:prstGeom prst="ellipse">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 name="î$ľiḓe">
              <a:extLst>
                <a:ext uri="{FF2B5EF4-FFF2-40B4-BE49-F238E27FC236}">
                  <a16:creationId xmlns:a16="http://schemas.microsoft.com/office/drawing/2014/main" id="{82339D60-0D0F-E0A8-9FEF-57B1B018D0C7}"/>
                </a:ext>
              </a:extLst>
            </p:cNvPr>
            <p:cNvSpPr/>
            <p:nvPr userDrawn="1"/>
          </p:nvSpPr>
          <p:spPr>
            <a:xfrm>
              <a:off x="7252642" y="4348192"/>
              <a:ext cx="132735" cy="1327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sp>
        <p:nvSpPr>
          <p:cNvPr id="8" name="文本占位符 7">
            <a:extLst>
              <a:ext uri="{FF2B5EF4-FFF2-40B4-BE49-F238E27FC236}">
                <a16:creationId xmlns:a16="http://schemas.microsoft.com/office/drawing/2014/main" id="{FC241F82-E1B0-0249-A9D6-2656A3C64CB7}"/>
              </a:ext>
            </a:extLst>
          </p:cNvPr>
          <p:cNvSpPr>
            <a:spLocks noGrp="1"/>
          </p:cNvSpPr>
          <p:nvPr>
            <p:ph type="body" sz="quarter" idx="10" hasCustomPrompt="1"/>
          </p:nvPr>
        </p:nvSpPr>
        <p:spPr>
          <a:xfrm>
            <a:off x="660401" y="3586893"/>
            <a:ext cx="4486275" cy="563563"/>
          </a:xfrm>
          <a:prstGeom prst="rect">
            <a:avLst/>
          </a:prstGeom>
        </p:spPr>
        <p:txBody>
          <a:bodyPr/>
          <a:lstStyle>
            <a:lvl1pPr marL="0" indent="0">
              <a:buNone/>
              <a:defRPr sz="2400"/>
            </a:lvl1pPr>
          </a:lstStyle>
          <a:p>
            <a:pPr lvl="0"/>
            <a:r>
              <a:rPr lang="zh-CN" altLang="en-US"/>
              <a:t>点击输入副标题</a:t>
            </a:r>
          </a:p>
        </p:txBody>
      </p:sp>
      <p:sp>
        <p:nvSpPr>
          <p:cNvPr id="20" name="椭圆 19">
            <a:extLst>
              <a:ext uri="{FF2B5EF4-FFF2-40B4-BE49-F238E27FC236}">
                <a16:creationId xmlns:a16="http://schemas.microsoft.com/office/drawing/2014/main" id="{EF4E1EF7-DD7F-C77D-A571-C682C80AC047}"/>
              </a:ext>
            </a:extLst>
          </p:cNvPr>
          <p:cNvSpPr/>
          <p:nvPr userDrawn="1"/>
        </p:nvSpPr>
        <p:spPr>
          <a:xfrm>
            <a:off x="485184" y="1962437"/>
            <a:ext cx="350435" cy="35043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2" name="文本框 21">
            <a:extLst>
              <a:ext uri="{FF2B5EF4-FFF2-40B4-BE49-F238E27FC236}">
                <a16:creationId xmlns:a16="http://schemas.microsoft.com/office/drawing/2014/main" id="{B3C9B1B7-3BA3-1D3F-637E-1B77EAD927E4}"/>
              </a:ext>
            </a:extLst>
          </p:cNvPr>
          <p:cNvSpPr txBox="1"/>
          <p:nvPr userDrawn="1"/>
        </p:nvSpPr>
        <p:spPr>
          <a:xfrm>
            <a:off x="660399" y="6111674"/>
            <a:ext cx="8065704" cy="246221"/>
          </a:xfrm>
          <a:prstGeom prst="rect">
            <a:avLst/>
          </a:prstGeom>
          <a:noFill/>
        </p:spPr>
        <p:txBody>
          <a:bodyPr wrap="square" rtlCol="0">
            <a:spAutoFit/>
          </a:bodyPr>
          <a:lstStyle/>
          <a:p>
            <a:r>
              <a:rPr lang="zh-CN" altLang="en-US" sz="1000" i="0">
                <a:solidFill>
                  <a:schemeClr val="bg1">
                    <a:lumMod val="50000"/>
                  </a:schemeClr>
                </a:solidFill>
                <a:latin typeface="楷体" panose="02010609060101010101" pitchFamily="49" charset="-122"/>
                <a:ea typeface="楷体" panose="02010609060101010101" pitchFamily="49" charset="-122"/>
              </a:rPr>
              <a:t>多一句没有，少一句不行，用更短的时间，教会更实用的技术</a:t>
            </a:r>
          </a:p>
        </p:txBody>
      </p:sp>
      <p:sp>
        <p:nvSpPr>
          <p:cNvPr id="23" name="矩形 22">
            <a:extLst>
              <a:ext uri="{FF2B5EF4-FFF2-40B4-BE49-F238E27FC236}">
                <a16:creationId xmlns:a16="http://schemas.microsoft.com/office/drawing/2014/main" id="{976DEFC5-AB31-715D-5481-255694BCA629}"/>
              </a:ext>
            </a:extLst>
          </p:cNvPr>
          <p:cNvSpPr/>
          <p:nvPr userDrawn="1"/>
        </p:nvSpPr>
        <p:spPr>
          <a:xfrm>
            <a:off x="720619" y="5942538"/>
            <a:ext cx="2001676" cy="63628"/>
          </a:xfrm>
          <a:prstGeom prst="rect">
            <a:avLst/>
          </a:prstGeom>
          <a:gradFill flip="none" rotWithShape="1">
            <a:gsLst>
              <a:gs pos="0">
                <a:schemeClr val="bg1"/>
              </a:gs>
              <a:gs pos="50000">
                <a:schemeClr val="accent1"/>
              </a:gs>
              <a:gs pos="100000">
                <a:schemeClr val="accent1">
                  <a:shade val="100000"/>
                  <a:satMod val="11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cxnSp>
        <p:nvCxnSpPr>
          <p:cNvPr id="13" name="iSľîďé">
            <a:extLst>
              <a:ext uri="{FF2B5EF4-FFF2-40B4-BE49-F238E27FC236}">
                <a16:creationId xmlns:a16="http://schemas.microsoft.com/office/drawing/2014/main" id="{29F34751-B9FF-378D-D7A3-B7B27A91478D}"/>
              </a:ext>
            </a:extLst>
          </p:cNvPr>
          <p:cNvCxnSpPr>
            <a:cxnSpLocks/>
          </p:cNvCxnSpPr>
          <p:nvPr userDrawn="1"/>
        </p:nvCxnSpPr>
        <p:spPr>
          <a:xfrm>
            <a:off x="7858834" y="2124884"/>
            <a:ext cx="129159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íşľíďe">
            <a:extLst>
              <a:ext uri="{FF2B5EF4-FFF2-40B4-BE49-F238E27FC236}">
                <a16:creationId xmlns:a16="http://schemas.microsoft.com/office/drawing/2014/main" id="{C37184BC-D315-706A-20DF-529BAFF1993E}"/>
              </a:ext>
            </a:extLst>
          </p:cNvPr>
          <p:cNvSpPr txBox="1"/>
          <p:nvPr userDrawn="1"/>
        </p:nvSpPr>
        <p:spPr>
          <a:xfrm>
            <a:off x="8399533" y="1847887"/>
            <a:ext cx="1366080" cy="307777"/>
          </a:xfrm>
          <a:prstGeom prst="rect">
            <a:avLst/>
          </a:prstGeom>
          <a:noFill/>
        </p:spPr>
        <p:txBody>
          <a:bodyPr wrap="none" rtlCol="0">
            <a:spAutoFit/>
          </a:bodyPr>
          <a:lstStyle/>
          <a:p>
            <a:r>
              <a:rPr lang="en-US" altLang="zh-CN" sz="1400" b="1">
                <a:solidFill>
                  <a:schemeClr val="accent1"/>
                </a:solidFill>
              </a:rPr>
              <a:t>AI Copilot </a:t>
            </a:r>
            <a:endParaRPr lang="zh-CN" altLang="en-US" sz="1400" b="1">
              <a:solidFill>
                <a:schemeClr val="accent1"/>
              </a:solidFill>
            </a:endParaRPr>
          </a:p>
        </p:txBody>
      </p:sp>
      <p:cxnSp>
        <p:nvCxnSpPr>
          <p:cNvPr id="15" name="îṣ1iďé">
            <a:extLst>
              <a:ext uri="{FF2B5EF4-FFF2-40B4-BE49-F238E27FC236}">
                <a16:creationId xmlns:a16="http://schemas.microsoft.com/office/drawing/2014/main" id="{E9D012F5-DFB7-A078-3B1C-F9FE02E47E91}"/>
              </a:ext>
            </a:extLst>
          </p:cNvPr>
          <p:cNvCxnSpPr/>
          <p:nvPr userDrawn="1"/>
        </p:nvCxnSpPr>
        <p:spPr>
          <a:xfrm flipV="1">
            <a:off x="7550307" y="2124884"/>
            <a:ext cx="308527" cy="26631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1E490B8-2AEA-ACCD-9526-01BED78DEB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564276" flipH="1" flipV="1">
            <a:off x="3592764" y="481457"/>
            <a:ext cx="9317253" cy="6210881"/>
          </a:xfrm>
          <a:prstGeom prst="rect">
            <a:avLst/>
          </a:prstGeom>
        </p:spPr>
      </p:pic>
      <p:sp>
        <p:nvSpPr>
          <p:cNvPr id="3" name="圆角矩形 3">
            <a:extLst>
              <a:ext uri="{FF2B5EF4-FFF2-40B4-BE49-F238E27FC236}">
                <a16:creationId xmlns:a16="http://schemas.microsoft.com/office/drawing/2014/main" id="{CFB6AB88-6F2B-FA25-A5B2-382CF4A19CD6}"/>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5274E830-1462-A24C-6AF5-F8C8CFA8F02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541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完结">
    <p:spTree>
      <p:nvGrpSpPr>
        <p:cNvPr id="1" name=""/>
        <p:cNvGrpSpPr/>
        <p:nvPr/>
      </p:nvGrpSpPr>
      <p:grpSpPr>
        <a:xfrm>
          <a:off x="0" y="0"/>
          <a:ext cx="0" cy="0"/>
          <a:chOff x="0" y="0"/>
          <a:chExt cx="0" cy="0"/>
        </a:xfrm>
      </p:grpSpPr>
      <p:sp>
        <p:nvSpPr>
          <p:cNvPr id="36" name="椭圆 35">
            <a:extLst>
              <a:ext uri="{FF2B5EF4-FFF2-40B4-BE49-F238E27FC236}">
                <a16:creationId xmlns:a16="http://schemas.microsoft.com/office/drawing/2014/main" id="{9C7E64E7-1F0A-79D2-A263-3605467F0B51}"/>
              </a:ext>
            </a:extLst>
          </p:cNvPr>
          <p:cNvSpPr/>
          <p:nvPr userDrawn="1"/>
        </p:nvSpPr>
        <p:spPr>
          <a:xfrm>
            <a:off x="1367630" y="-121375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7" name="椭圆 36">
            <a:extLst>
              <a:ext uri="{FF2B5EF4-FFF2-40B4-BE49-F238E27FC236}">
                <a16:creationId xmlns:a16="http://schemas.microsoft.com/office/drawing/2014/main" id="{C8A0D84D-155A-2194-ED3A-5A7CB9A4B72A}"/>
              </a:ext>
            </a:extLst>
          </p:cNvPr>
          <p:cNvSpPr/>
          <p:nvPr userDrawn="1"/>
        </p:nvSpPr>
        <p:spPr>
          <a:xfrm>
            <a:off x="3098142" y="51675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8" name="椭圆 37">
            <a:extLst>
              <a:ext uri="{FF2B5EF4-FFF2-40B4-BE49-F238E27FC236}">
                <a16:creationId xmlns:a16="http://schemas.microsoft.com/office/drawing/2014/main" id="{0F7740DA-4F67-1648-9FE7-BA25A7F2910D}"/>
              </a:ext>
            </a:extLst>
          </p:cNvPr>
          <p:cNvSpPr/>
          <p:nvPr userDrawn="1"/>
        </p:nvSpPr>
        <p:spPr>
          <a:xfrm>
            <a:off x="4700074" y="211869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1" name="iṩ1iḍé">
            <a:extLst>
              <a:ext uri="{FF2B5EF4-FFF2-40B4-BE49-F238E27FC236}">
                <a16:creationId xmlns:a16="http://schemas.microsoft.com/office/drawing/2014/main" id="{7F87E56D-6D24-DF28-4A8B-DD94A5588CCD}"/>
              </a:ext>
            </a:extLst>
          </p:cNvPr>
          <p:cNvSpPr/>
          <p:nvPr userDrawn="1"/>
        </p:nvSpPr>
        <p:spPr>
          <a:xfrm>
            <a:off x="0" y="2689967"/>
            <a:ext cx="12192000" cy="1478071"/>
          </a:xfrm>
          <a:prstGeom prst="rect">
            <a:avLst/>
          </a:prstGeom>
          <a:gradFill flip="none" rotWithShape="1">
            <a:gsLst>
              <a:gs pos="0">
                <a:schemeClr val="accent1"/>
              </a:gs>
              <a:gs pos="90000">
                <a:schemeClr val="accent1"/>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nvGrpSpPr>
          <p:cNvPr id="32" name="组合 31">
            <a:extLst>
              <a:ext uri="{FF2B5EF4-FFF2-40B4-BE49-F238E27FC236}">
                <a16:creationId xmlns:a16="http://schemas.microsoft.com/office/drawing/2014/main" id="{57CD92EE-FE45-4CC1-22A5-2D2AFAEDCC3F}"/>
              </a:ext>
            </a:extLst>
          </p:cNvPr>
          <p:cNvGrpSpPr/>
          <p:nvPr userDrawn="1"/>
        </p:nvGrpSpPr>
        <p:grpSpPr>
          <a:xfrm>
            <a:off x="3131927" y="2916811"/>
            <a:ext cx="4953839" cy="853925"/>
            <a:chOff x="3131925" y="2844887"/>
            <a:chExt cx="4953838" cy="853924"/>
          </a:xfrm>
        </p:grpSpPr>
        <p:pic>
          <p:nvPicPr>
            <p:cNvPr id="33" name="图片 1">
              <a:extLst>
                <a:ext uri="{FF2B5EF4-FFF2-40B4-BE49-F238E27FC236}">
                  <a16:creationId xmlns:a16="http://schemas.microsoft.com/office/drawing/2014/main" id="{C64F9D38-0ED4-99F8-903A-45555ADF80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627"/>
            <a:stretch/>
          </p:blipFill>
          <p:spPr bwMode="auto">
            <a:xfrm>
              <a:off x="3131925" y="2844887"/>
              <a:ext cx="2948463" cy="8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a:extLst>
                <a:ext uri="{FF2B5EF4-FFF2-40B4-BE49-F238E27FC236}">
                  <a16:creationId xmlns:a16="http://schemas.microsoft.com/office/drawing/2014/main" id="{C2C68E28-2375-6922-E133-284E7821B447}"/>
                </a:ext>
              </a:extLst>
            </p:cNvPr>
            <p:cNvCxnSpPr>
              <a:cxnSpLocks/>
            </p:cNvCxnSpPr>
            <p:nvPr userDrawn="1"/>
          </p:nvCxnSpPr>
          <p:spPr>
            <a:xfrm>
              <a:off x="6010382" y="3154751"/>
              <a:ext cx="0" cy="380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AC7DE38E-8849-1998-75E8-89E432D90EBE}"/>
                </a:ext>
              </a:extLst>
            </p:cNvPr>
            <p:cNvSpPr txBox="1"/>
            <p:nvPr userDrawn="1"/>
          </p:nvSpPr>
          <p:spPr>
            <a:xfrm>
              <a:off x="6096001" y="3021657"/>
              <a:ext cx="1989762" cy="508087"/>
            </a:xfrm>
            <a:prstGeom prst="rect">
              <a:avLst/>
            </a:prstGeom>
            <a:noFill/>
          </p:spPr>
          <p:txBody>
            <a:bodyPr wrap="square" rtlCol="0">
              <a:spAutoFit/>
            </a:bodyPr>
            <a:lstStyle/>
            <a:p>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传智教育旗下</a:t>
              </a:r>
              <a:endParaRPr lang="en-US" altLang="zh-CN"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endParaRPr>
            </a:p>
            <a:p>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高端</a:t>
              </a:r>
              <a:r>
                <a:rPr lang="en-US" altLang="zh-CN"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IT</a:t>
              </a:r>
              <a:r>
                <a:rPr lang="zh-CN" altLang="en-US" sz="1351">
                  <a:solidFill>
                    <a:schemeClr val="bg1"/>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rPr>
                <a:t>教育品牌</a:t>
              </a:r>
            </a:p>
          </p:txBody>
        </p:sp>
      </p:grpSp>
    </p:spTree>
    <p:extLst>
      <p:ext uri="{BB962C8B-B14F-4D97-AF65-F5344CB8AC3E}">
        <p14:creationId xmlns:p14="http://schemas.microsoft.com/office/powerpoint/2010/main" val="3497003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19" name="椭圆 18">
            <a:extLst>
              <a:ext uri="{FF2B5EF4-FFF2-40B4-BE49-F238E27FC236}">
                <a16:creationId xmlns:a16="http://schemas.microsoft.com/office/drawing/2014/main" id="{C3296A99-F5C4-3E6A-FF6E-4852C12DEE94}"/>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6114165" y="2469083"/>
            <a:ext cx="3397251"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433029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6115249" y="2203928"/>
            <a:ext cx="3484715" cy="668339"/>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351440" y="2924830"/>
            <a:ext cx="3692525" cy="2206679"/>
          </a:xfrm>
          <a:prstGeom prst="rect">
            <a:avLst/>
          </a:prstGeom>
        </p:spPr>
        <p:txBody>
          <a:bodyPr anchor="t"/>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6">
            <a:extLst>
              <a:ext uri="{FF2B5EF4-FFF2-40B4-BE49-F238E27FC236}">
                <a16:creationId xmlns:a16="http://schemas.microsoft.com/office/drawing/2014/main" id="{E953D52D-98D3-6554-049E-17A2FDD24005}"/>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1178867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06715BF8-0A12-5796-1551-488CA6BA7E8B}"/>
              </a:ext>
            </a:extLst>
          </p:cNvPr>
          <p:cNvSpPr txBox="1"/>
          <p:nvPr userDrawn="1"/>
        </p:nvSpPr>
        <p:spPr>
          <a:xfrm>
            <a:off x="4058867" y="2285294"/>
            <a:ext cx="2167599"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410600" y="1662413"/>
            <a:ext cx="3692525" cy="2631151"/>
          </a:xfrm>
          <a:prstGeom prst="rect">
            <a:avLst/>
          </a:prstGeom>
        </p:spPr>
        <p:txBody>
          <a:bodyPr anchor="ctr"/>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íşľíďe">
            <a:extLst>
              <a:ext uri="{FF2B5EF4-FFF2-40B4-BE49-F238E27FC236}">
                <a16:creationId xmlns:a16="http://schemas.microsoft.com/office/drawing/2014/main" id="{32B4F824-6998-DCF1-0043-E682C565BE4E}"/>
              </a:ext>
            </a:extLst>
          </p:cNvPr>
          <p:cNvSpPr txBox="1"/>
          <p:nvPr userDrawn="1"/>
        </p:nvSpPr>
        <p:spPr>
          <a:xfrm flipH="1">
            <a:off x="4497713" y="2654823"/>
            <a:ext cx="1107996" cy="646331"/>
          </a:xfrm>
          <a:prstGeom prst="rect">
            <a:avLst/>
          </a:prstGeom>
          <a:noFill/>
        </p:spPr>
        <p:txBody>
          <a:bodyPr wrap="none" rtlCol="0">
            <a:spAutoFit/>
          </a:bodyPr>
          <a:lstStyle/>
          <a:p>
            <a:r>
              <a:rPr lang="zh-CN" altLang="en-US" sz="3600">
                <a:solidFill>
                  <a:schemeClr val="accent1"/>
                </a:solidFill>
                <a:latin typeface="+mj-ea"/>
                <a:ea typeface="+mj-ea"/>
              </a:rPr>
              <a:t>目录</a:t>
            </a:r>
          </a:p>
        </p:txBody>
      </p:sp>
    </p:spTree>
    <p:extLst>
      <p:ext uri="{BB962C8B-B14F-4D97-AF65-F5344CB8AC3E}">
        <p14:creationId xmlns:p14="http://schemas.microsoft.com/office/powerpoint/2010/main" val="641220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B67452-EDA0-4DA4-B4CB-5196B98B126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6600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THINK</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163038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BRIEF</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p>
        </p:txBody>
      </p:sp>
    </p:spTree>
    <p:extLst>
      <p:ext uri="{BB962C8B-B14F-4D97-AF65-F5344CB8AC3E}">
        <p14:creationId xmlns:p14="http://schemas.microsoft.com/office/powerpoint/2010/main" val="1104487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小结页2">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TARGET</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p>
        </p:txBody>
      </p:sp>
    </p:spTree>
    <p:extLst>
      <p:ext uri="{BB962C8B-B14F-4D97-AF65-F5344CB8AC3E}">
        <p14:creationId xmlns:p14="http://schemas.microsoft.com/office/powerpoint/2010/main" val="956513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疑问">
    <p:spTree>
      <p:nvGrpSpPr>
        <p:cNvPr id="1" name=""/>
        <p:cNvGrpSpPr/>
        <p:nvPr/>
      </p:nvGrpSpPr>
      <p:grpSpPr>
        <a:xfrm>
          <a:off x="0" y="0"/>
          <a:ext cx="0" cy="0"/>
          <a:chOff x="0" y="0"/>
          <a:chExt cx="0" cy="0"/>
        </a:xfrm>
      </p:grpSpPr>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13738" y="1359881"/>
            <a:ext cx="7170081" cy="3962399"/>
          </a:xfrm>
          <a:prstGeom prst="rect">
            <a:avLst/>
          </a:prstGeom>
        </p:spPr>
        <p:txBody>
          <a:bodyPr anchor="ctr"/>
          <a:lstStyle>
            <a:lvl1pPr marL="0" indent="0">
              <a:lnSpc>
                <a:spcPct val="150000"/>
              </a:lnSpc>
              <a:buNone/>
              <a:defRPr sz="1600"/>
            </a:lvl1pPr>
          </a:lstStyle>
          <a:p>
            <a:pPr lvl="0"/>
            <a:r>
              <a:rPr lang="zh-CN" altLang="en-US"/>
              <a:t>点击输入小结内容</a:t>
            </a:r>
          </a:p>
        </p:txBody>
      </p:sp>
      <p:sp>
        <p:nvSpPr>
          <p:cNvPr id="2" name="文本框 1">
            <a:extLst>
              <a:ext uri="{FF2B5EF4-FFF2-40B4-BE49-F238E27FC236}">
                <a16:creationId xmlns:a16="http://schemas.microsoft.com/office/drawing/2014/main" id="{90828623-64C3-3CF5-C1AD-7CC5E8CC7C5A}"/>
              </a:ext>
            </a:extLst>
          </p:cNvPr>
          <p:cNvSpPr txBox="1"/>
          <p:nvPr userDrawn="1"/>
        </p:nvSpPr>
        <p:spPr>
          <a:xfrm>
            <a:off x="757363" y="2905780"/>
            <a:ext cx="2167599" cy="523220"/>
          </a:xfrm>
          <a:prstGeom prst="rect">
            <a:avLst/>
          </a:prstGeom>
          <a:noFill/>
        </p:spPr>
        <p:txBody>
          <a:bodyPr wrap="square">
            <a:spAutoFit/>
          </a:bodyPr>
          <a:lstStyle/>
          <a:p>
            <a:pPr algn="ctr"/>
            <a:r>
              <a:rPr lang="en-US" altLang="zh-CN" sz="2800" b="1" i="0">
                <a:gradFill>
                  <a:gsLst>
                    <a:gs pos="100000">
                      <a:schemeClr val="bg1">
                        <a:alpha val="30000"/>
                      </a:schemeClr>
                    </a:gs>
                    <a:gs pos="0">
                      <a:schemeClr val="bg1">
                        <a:alpha val="0"/>
                      </a:schemeClr>
                    </a:gs>
                  </a:gsLst>
                  <a:lin ang="16200000" scaled="1"/>
                </a:gradFill>
                <a:effectLst/>
                <a:latin typeface="Calisto MT" panose="02040603050505030304" pitchFamily="18" charset="0"/>
              </a:rPr>
              <a:t>QUESTION</a:t>
            </a:r>
          </a:p>
        </p:txBody>
      </p:sp>
      <p:sp>
        <p:nvSpPr>
          <p:cNvPr id="4" name="íşľíďe">
            <a:extLst>
              <a:ext uri="{FF2B5EF4-FFF2-40B4-BE49-F238E27FC236}">
                <a16:creationId xmlns:a16="http://schemas.microsoft.com/office/drawing/2014/main" id="{0D071958-1775-F474-3CD5-C9E1DEDF630A}"/>
              </a:ext>
            </a:extLst>
          </p:cNvPr>
          <p:cNvSpPr txBox="1"/>
          <p:nvPr userDrawn="1"/>
        </p:nvSpPr>
        <p:spPr>
          <a:xfrm flipH="1">
            <a:off x="1240678" y="3075057"/>
            <a:ext cx="1210588" cy="707886"/>
          </a:xfrm>
          <a:prstGeom prst="rect">
            <a:avLst/>
          </a:prstGeom>
          <a:noFill/>
        </p:spPr>
        <p:txBody>
          <a:bodyPr wrap="none" rtlCol="0">
            <a:spAutoFit/>
          </a:bodyPr>
          <a:lstStyle/>
          <a:p>
            <a:r>
              <a:rPr lang="zh-CN" altLang="en-US" sz="4000" b="1">
                <a:solidFill>
                  <a:schemeClr val="bg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疑问</a:t>
            </a:r>
          </a:p>
        </p:txBody>
      </p:sp>
    </p:spTree>
    <p:extLst>
      <p:ext uri="{BB962C8B-B14F-4D97-AF65-F5344CB8AC3E}">
        <p14:creationId xmlns:p14="http://schemas.microsoft.com/office/powerpoint/2010/main" val="3819802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THINK</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思考</a:t>
            </a: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208342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5"/>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BRIEF</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小结</a:t>
            </a: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370671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思考页2">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6"/>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TARGET</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目标</a:t>
            </a: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28057232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疑问">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FE1FF55-183C-B00F-0654-486C51EE46F8}"/>
              </a:ext>
            </a:extLst>
          </p:cNvPr>
          <p:cNvSpPr txBox="1"/>
          <p:nvPr userDrawn="1"/>
        </p:nvSpPr>
        <p:spPr>
          <a:xfrm>
            <a:off x="788318" y="2901906"/>
            <a:ext cx="2167599" cy="523220"/>
          </a:xfrm>
          <a:prstGeom prst="rect">
            <a:avLst/>
          </a:prstGeom>
          <a:noFill/>
        </p:spPr>
        <p:txBody>
          <a:bodyPr wrap="square">
            <a:spAutoFit/>
          </a:bodyPr>
          <a:lstStyle/>
          <a:p>
            <a:pPr algn="ctr"/>
            <a:r>
              <a:rPr lang="en-US" altLang="zh-CN" sz="2800" b="1" i="0">
                <a:gradFill>
                  <a:gsLst>
                    <a:gs pos="100000">
                      <a:schemeClr val="tx1">
                        <a:lumMod val="20000"/>
                        <a:lumOff val="80000"/>
                      </a:schemeClr>
                    </a:gs>
                    <a:gs pos="0">
                      <a:schemeClr val="tx1">
                        <a:lumMod val="20000"/>
                        <a:lumOff val="80000"/>
                        <a:alpha val="0"/>
                      </a:schemeClr>
                    </a:gs>
                  </a:gsLst>
                  <a:lin ang="16200000" scaled="1"/>
                </a:gradFill>
                <a:effectLst/>
                <a:latin typeface="Calisto MT" panose="02040603050505030304" pitchFamily="18" charset="0"/>
              </a:rPr>
              <a:t>QUESTION</a:t>
            </a:r>
          </a:p>
        </p:txBody>
      </p:sp>
      <p:sp>
        <p:nvSpPr>
          <p:cNvPr id="5" name="íşľíďe">
            <a:extLst>
              <a:ext uri="{FF2B5EF4-FFF2-40B4-BE49-F238E27FC236}">
                <a16:creationId xmlns:a16="http://schemas.microsoft.com/office/drawing/2014/main" id="{15262CD2-DC49-591E-1FDE-EF5326FA20FD}"/>
              </a:ext>
            </a:extLst>
          </p:cNvPr>
          <p:cNvSpPr txBox="1"/>
          <p:nvPr userDrawn="1"/>
        </p:nvSpPr>
        <p:spPr>
          <a:xfrm flipH="1">
            <a:off x="1266821" y="3071181"/>
            <a:ext cx="1210588" cy="707886"/>
          </a:xfrm>
          <a:prstGeom prst="rect">
            <a:avLst/>
          </a:prstGeom>
          <a:noFill/>
        </p:spPr>
        <p:txBody>
          <a:bodyPr wrap="none" rtlCol="0">
            <a:spAutoFit/>
          </a:bodyPr>
          <a:lstStyle/>
          <a:p>
            <a:pPr algn="ctr"/>
            <a:r>
              <a:rPr lang="zh-CN" altLang="en-US" sz="4000" b="1">
                <a:solidFill>
                  <a:schemeClr val="accent1"/>
                </a:solidFill>
                <a:latin typeface="阿里巴巴普惠体 Heavy" panose="00020600040101010101" pitchFamily="18" charset="-122"/>
                <a:ea typeface="阿里巴巴普惠体 Heavy" panose="00020600040101010101" pitchFamily="18" charset="-122"/>
                <a:cs typeface="阿里巴巴普惠体 Heavy" panose="00020600040101010101" pitchFamily="18" charset="-122"/>
              </a:rPr>
              <a:t>疑问</a:t>
            </a:r>
          </a:p>
        </p:txBody>
      </p:sp>
      <p:sp>
        <p:nvSpPr>
          <p:cNvPr id="7" name="文本占位符 13">
            <a:extLst>
              <a:ext uri="{FF2B5EF4-FFF2-40B4-BE49-F238E27FC236}">
                <a16:creationId xmlns:a16="http://schemas.microsoft.com/office/drawing/2014/main" id="{B8ADD725-DDC3-9843-C6D4-70BC53E95D5F}"/>
              </a:ext>
            </a:extLst>
          </p:cNvPr>
          <p:cNvSpPr>
            <a:spLocks noGrp="1"/>
          </p:cNvSpPr>
          <p:nvPr>
            <p:ph type="body" sz="quarter" idx="10" hasCustomPrompt="1"/>
          </p:nvPr>
        </p:nvSpPr>
        <p:spPr>
          <a:xfrm>
            <a:off x="4052236" y="1735813"/>
            <a:ext cx="6967456" cy="3378631"/>
          </a:xfrm>
          <a:prstGeom prst="rect">
            <a:avLst/>
          </a:prstGeom>
        </p:spPr>
        <p:txBody>
          <a:bodyPr anchor="ctr"/>
          <a:lstStyle>
            <a:lvl1pPr marL="0" indent="0">
              <a:lnSpc>
                <a:spcPct val="200000"/>
              </a:lnSpc>
              <a:buNone/>
              <a:defRPr sz="2400"/>
            </a:lvl1pPr>
          </a:lstStyle>
          <a:p>
            <a:pPr lvl="0"/>
            <a:r>
              <a:rPr lang="zh-CN" altLang="en-US"/>
              <a:t>点击输入问题标题，问题描述</a:t>
            </a:r>
          </a:p>
        </p:txBody>
      </p:sp>
    </p:spTree>
    <p:extLst>
      <p:ext uri="{BB962C8B-B14F-4D97-AF65-F5344CB8AC3E}">
        <p14:creationId xmlns:p14="http://schemas.microsoft.com/office/powerpoint/2010/main" val="3339076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19" name="椭圆 18">
            <a:extLst>
              <a:ext uri="{FF2B5EF4-FFF2-40B4-BE49-F238E27FC236}">
                <a16:creationId xmlns:a16="http://schemas.microsoft.com/office/drawing/2014/main" id="{C3296A99-F5C4-3E6A-FF6E-4852C12DEE94}"/>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
        <p:nvSpPr>
          <p:cNvPr id="4" name="文本占位符 3">
            <a:extLst>
              <a:ext uri="{FF2B5EF4-FFF2-40B4-BE49-F238E27FC236}">
                <a16:creationId xmlns:a16="http://schemas.microsoft.com/office/drawing/2014/main" id="{3EC6ED1A-7B72-CBE7-8DC0-8CA41549B762}"/>
              </a:ext>
            </a:extLst>
          </p:cNvPr>
          <p:cNvSpPr>
            <a:spLocks noGrp="1"/>
          </p:cNvSpPr>
          <p:nvPr>
            <p:ph type="body" sz="quarter" idx="13" hasCustomPrompt="1"/>
          </p:nvPr>
        </p:nvSpPr>
        <p:spPr>
          <a:xfrm>
            <a:off x="6114165" y="2469083"/>
            <a:ext cx="3397251" cy="901700"/>
          </a:xfrm>
          <a:prstGeom prst="rect">
            <a:avLst/>
          </a:prstGeom>
        </p:spPr>
        <p:txBody>
          <a:bodyPr anchor="ctr"/>
          <a:lstStyle>
            <a:lvl1pPr marL="0" indent="0">
              <a:lnSpc>
                <a:spcPct val="100000"/>
              </a:lnSpc>
              <a:buNone/>
              <a:defRPr sz="3600">
                <a:latin typeface="+mj-ea"/>
                <a:ea typeface="+mj-ea"/>
              </a:defRPr>
            </a:lvl1pPr>
          </a:lstStyle>
          <a:p>
            <a:pPr lvl="0"/>
            <a:r>
              <a:rPr lang="zh-CN" altLang="en-US"/>
              <a:t>章节标题</a:t>
            </a:r>
          </a:p>
        </p:txBody>
      </p:sp>
      <p:sp>
        <p:nvSpPr>
          <p:cNvPr id="7" name="文本占位符 6">
            <a:extLst>
              <a:ext uri="{FF2B5EF4-FFF2-40B4-BE49-F238E27FC236}">
                <a16:creationId xmlns:a16="http://schemas.microsoft.com/office/drawing/2014/main" id="{AF3EC600-D80B-73CA-E06E-8768FDEAA47B}"/>
              </a:ext>
            </a:extLst>
          </p:cNvPr>
          <p:cNvSpPr>
            <a:spLocks noGrp="1"/>
          </p:cNvSpPr>
          <p:nvPr>
            <p:ph type="body" sz="quarter" idx="14" hasCustomPrompt="1"/>
          </p:nvPr>
        </p:nvSpPr>
        <p:spPr>
          <a:xfrm>
            <a:off x="4582325" y="2679427"/>
            <a:ext cx="884931" cy="481012"/>
          </a:xfrm>
          <a:prstGeom prst="rect">
            <a:avLst/>
          </a:prstGeom>
        </p:spPr>
        <p:txBody>
          <a:bodyPr anchor="ctr"/>
          <a:lstStyle>
            <a:lvl1pPr marL="0" indent="0" algn="ctr">
              <a:lnSpc>
                <a:spcPct val="100000"/>
              </a:lnSpc>
              <a:buNone/>
              <a:defRPr sz="3600">
                <a:solidFill>
                  <a:schemeClr val="bg1"/>
                </a:solidFill>
                <a:latin typeface="+mj-ea"/>
                <a:ea typeface="+mj-ea"/>
              </a:defRPr>
            </a:lvl1pPr>
          </a:lstStyle>
          <a:p>
            <a:pPr lvl="0"/>
            <a:r>
              <a:rPr lang="en-US" altLang="zh-CN"/>
              <a:t>1</a:t>
            </a:r>
            <a:endParaRPr lang="zh-CN" altLang="en-US"/>
          </a:p>
        </p:txBody>
      </p:sp>
    </p:spTree>
    <p:extLst>
      <p:ext uri="{BB962C8B-B14F-4D97-AF65-F5344CB8AC3E}">
        <p14:creationId xmlns:p14="http://schemas.microsoft.com/office/powerpoint/2010/main" val="2822506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带目录章节">
    <p:spTree>
      <p:nvGrpSpPr>
        <p:cNvPr id="1" name=""/>
        <p:cNvGrpSpPr/>
        <p:nvPr/>
      </p:nvGrpSpPr>
      <p:grpSpPr>
        <a:xfrm>
          <a:off x="0" y="0"/>
          <a:ext cx="0" cy="0"/>
          <a:chOff x="0" y="0"/>
          <a:chExt cx="0" cy="0"/>
        </a:xfrm>
      </p:grpSpPr>
      <p:sp>
        <p:nvSpPr>
          <p:cNvPr id="5" name="文本占位符 3">
            <a:extLst>
              <a:ext uri="{FF2B5EF4-FFF2-40B4-BE49-F238E27FC236}">
                <a16:creationId xmlns:a16="http://schemas.microsoft.com/office/drawing/2014/main" id="{3AF24492-4E99-231B-3CC0-5126876878AA}"/>
              </a:ext>
            </a:extLst>
          </p:cNvPr>
          <p:cNvSpPr>
            <a:spLocks noGrp="1"/>
          </p:cNvSpPr>
          <p:nvPr>
            <p:ph type="body" sz="quarter" idx="11" hasCustomPrompt="1"/>
          </p:nvPr>
        </p:nvSpPr>
        <p:spPr>
          <a:xfrm>
            <a:off x="6115249" y="2203928"/>
            <a:ext cx="3484715" cy="668339"/>
          </a:xfrm>
          <a:prstGeom prst="rect">
            <a:avLst/>
          </a:prstGeom>
          <a:ln>
            <a:noFill/>
          </a:ln>
        </p:spPr>
        <p:txBody>
          <a:bodyPr anchor="ctr"/>
          <a:lstStyle>
            <a:lvl1pPr marL="0" indent="0" algn="l">
              <a:lnSpc>
                <a:spcPct val="100000"/>
              </a:lnSpc>
              <a:buNone/>
              <a:defRPr sz="3600">
                <a:solidFill>
                  <a:schemeClr val="tx1"/>
                </a:solidFill>
                <a:latin typeface="+mj-ea"/>
                <a:ea typeface="+mj-ea"/>
              </a:defRPr>
            </a:lvl1pPr>
          </a:lstStyle>
          <a:p>
            <a:pPr lvl="0"/>
            <a:r>
              <a:rPr lang="zh-CN" altLang="en-US"/>
              <a:t>章节标题</a:t>
            </a:r>
          </a:p>
        </p:txBody>
      </p:sp>
      <p:sp>
        <p:nvSpPr>
          <p:cNvPr id="13" name="文本占位符 12">
            <a:extLst>
              <a:ext uri="{FF2B5EF4-FFF2-40B4-BE49-F238E27FC236}">
                <a16:creationId xmlns:a16="http://schemas.microsoft.com/office/drawing/2014/main" id="{F8D91FFE-8D14-92DF-853D-BD4509B50922}"/>
              </a:ext>
            </a:extLst>
          </p:cNvPr>
          <p:cNvSpPr>
            <a:spLocks noGrp="1"/>
          </p:cNvSpPr>
          <p:nvPr>
            <p:ph type="body" sz="quarter" idx="12" hasCustomPrompt="1"/>
          </p:nvPr>
        </p:nvSpPr>
        <p:spPr>
          <a:xfrm>
            <a:off x="4585053" y="2526863"/>
            <a:ext cx="879475" cy="786140"/>
          </a:xfrm>
          <a:prstGeom prst="rect">
            <a:avLst/>
          </a:prstGeom>
        </p:spPr>
        <p:txBody>
          <a:bodyPr anchor="ctr"/>
          <a:lstStyle>
            <a:lvl1pPr>
              <a:defRPr/>
            </a:lvl1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a:ln>
                  <a:noFill/>
                </a:ln>
                <a:solidFill>
                  <a:srgbClr val="FFFFFF"/>
                </a:solidFill>
                <a:effectLst/>
                <a:uLnTx/>
                <a:uFillTx/>
                <a:latin typeface="阿里巴巴普惠体 Heavy"/>
                <a:ea typeface="阿里巴巴普惠体 Heavy"/>
                <a:cs typeface="+mn-cs"/>
              </a:rPr>
              <a:t>1</a:t>
            </a:r>
            <a:endParaRPr kumimoji="0" lang="zh-CN" altLang="en-US" sz="3600" b="0" i="0" u="none" strike="noStrike" kern="1200" cap="none" spc="0" normalizeH="0" baseline="0" noProof="0">
              <a:ln>
                <a:noFill/>
              </a:ln>
              <a:solidFill>
                <a:srgbClr val="FFFFFF"/>
              </a:solidFill>
              <a:effectLst/>
              <a:uLnTx/>
              <a:uFillTx/>
              <a:latin typeface="阿里巴巴普惠体 Heavy"/>
              <a:ea typeface="阿里巴巴普惠体 Heavy"/>
              <a:cs typeface="+mn-cs"/>
            </a:endParaRPr>
          </a:p>
        </p:txBody>
      </p:sp>
      <p:sp>
        <p:nvSpPr>
          <p:cNvPr id="2" name="文本占位符 25">
            <a:extLst>
              <a:ext uri="{FF2B5EF4-FFF2-40B4-BE49-F238E27FC236}">
                <a16:creationId xmlns:a16="http://schemas.microsoft.com/office/drawing/2014/main" id="{16A7C205-45D1-F79D-939F-C8FE0D7B4EFC}"/>
              </a:ext>
            </a:extLst>
          </p:cNvPr>
          <p:cNvSpPr>
            <a:spLocks noGrp="1"/>
          </p:cNvSpPr>
          <p:nvPr>
            <p:ph type="body" sz="quarter" idx="10" hasCustomPrompt="1"/>
          </p:nvPr>
        </p:nvSpPr>
        <p:spPr>
          <a:xfrm>
            <a:off x="6351440" y="2924830"/>
            <a:ext cx="3692525" cy="2206679"/>
          </a:xfrm>
          <a:prstGeom prst="rect">
            <a:avLst/>
          </a:prstGeom>
        </p:spPr>
        <p:txBody>
          <a:bodyPr anchor="t"/>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3" name="椭圆 2">
            <a:extLst>
              <a:ext uri="{FF2B5EF4-FFF2-40B4-BE49-F238E27FC236}">
                <a16:creationId xmlns:a16="http://schemas.microsoft.com/office/drawing/2014/main" id="{A26BF0C3-E78F-A831-4B61-1EB569AD1BF9}"/>
              </a:ext>
            </a:extLst>
          </p:cNvPr>
          <p:cNvSpPr/>
          <p:nvPr userDrawn="1"/>
        </p:nvSpPr>
        <p:spPr>
          <a:xfrm>
            <a:off x="5164772" y="3294163"/>
            <a:ext cx="409736" cy="409736"/>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7" name="iS1íḓê">
            <a:extLst>
              <a:ext uri="{FF2B5EF4-FFF2-40B4-BE49-F238E27FC236}">
                <a16:creationId xmlns:a16="http://schemas.microsoft.com/office/drawing/2014/main" id="{2B661CB4-3CBD-5C2B-5102-A013FB7A719E}"/>
              </a:ext>
            </a:extLst>
          </p:cNvPr>
          <p:cNvSpPr/>
          <p:nvPr/>
        </p:nvSpPr>
        <p:spPr>
          <a:xfrm>
            <a:off x="4465023" y="2360166"/>
            <a:ext cx="1119535" cy="111953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latin typeface="+mj-ea"/>
              <a:ea typeface="+mj-ea"/>
            </a:endParaRPr>
          </a:p>
        </p:txBody>
      </p:sp>
    </p:spTree>
    <p:extLst>
      <p:ext uri="{BB962C8B-B14F-4D97-AF65-F5344CB8AC3E}">
        <p14:creationId xmlns:p14="http://schemas.microsoft.com/office/powerpoint/2010/main" val="41384985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9" name="文本框 28">
            <a:extLst>
              <a:ext uri="{FF2B5EF4-FFF2-40B4-BE49-F238E27FC236}">
                <a16:creationId xmlns:a16="http://schemas.microsoft.com/office/drawing/2014/main" id="{06715BF8-0A12-5796-1551-488CA6BA7E8B}"/>
              </a:ext>
            </a:extLst>
          </p:cNvPr>
          <p:cNvSpPr txBox="1"/>
          <p:nvPr userDrawn="1"/>
        </p:nvSpPr>
        <p:spPr>
          <a:xfrm>
            <a:off x="4058867" y="2285294"/>
            <a:ext cx="2167599" cy="523220"/>
          </a:xfrm>
          <a:prstGeom prst="rect">
            <a:avLst/>
          </a:prstGeom>
          <a:noFill/>
        </p:spPr>
        <p:txBody>
          <a:bodyPr wrap="square">
            <a:spAutoFit/>
          </a:bodyPr>
          <a:lstStyle/>
          <a:p>
            <a:pPr algn="l"/>
            <a:r>
              <a:rPr lang="en-US" altLang="zh-CN" sz="2800" b="1" i="0">
                <a:gradFill>
                  <a:gsLst>
                    <a:gs pos="100000">
                      <a:schemeClr val="accent1">
                        <a:alpha val="15000"/>
                      </a:schemeClr>
                    </a:gs>
                    <a:gs pos="0">
                      <a:schemeClr val="accent1">
                        <a:alpha val="0"/>
                      </a:schemeClr>
                    </a:gs>
                  </a:gsLst>
                  <a:lin ang="16200000" scaled="1"/>
                </a:gradFill>
                <a:effectLst/>
                <a:latin typeface="Calisto MT" panose="02040603050505030304" pitchFamily="18" charset="0"/>
              </a:rPr>
              <a:t>CONTENT</a:t>
            </a:r>
          </a:p>
        </p:txBody>
      </p:sp>
      <p:sp>
        <p:nvSpPr>
          <p:cNvPr id="26" name="文本占位符 25">
            <a:extLst>
              <a:ext uri="{FF2B5EF4-FFF2-40B4-BE49-F238E27FC236}">
                <a16:creationId xmlns:a16="http://schemas.microsoft.com/office/drawing/2014/main" id="{6B50EE85-71F0-6A4A-F2C6-2ACBA4D8468C}"/>
              </a:ext>
            </a:extLst>
          </p:cNvPr>
          <p:cNvSpPr>
            <a:spLocks noGrp="1"/>
          </p:cNvSpPr>
          <p:nvPr>
            <p:ph type="body" sz="quarter" idx="10" hasCustomPrompt="1"/>
          </p:nvPr>
        </p:nvSpPr>
        <p:spPr>
          <a:xfrm>
            <a:off x="6410600" y="1662413"/>
            <a:ext cx="3692525" cy="2631151"/>
          </a:xfrm>
          <a:prstGeom prst="rect">
            <a:avLst/>
          </a:prstGeom>
        </p:spPr>
        <p:txBody>
          <a:bodyPr anchor="ctr"/>
          <a:lstStyle>
            <a:lvl1pPr marL="342882" indent="-342882" algn="l">
              <a:lnSpc>
                <a:spcPct val="150000"/>
              </a:lnSpc>
              <a:buFont typeface="Wingdings" panose="05000000000000000000" pitchFamily="2" charset="2"/>
              <a:buChar char="u"/>
              <a:defRPr sz="1800">
                <a:solidFill>
                  <a:schemeClr val="tx1"/>
                </a:solidFill>
                <a:latin typeface="+mn-ea"/>
                <a:ea typeface="+mn-ea"/>
                <a:cs typeface="阿里巴巴普惠体 Medium" panose="00020600040101010101" pitchFamily="18" charset="-122"/>
              </a:defRPr>
            </a:lvl1pPr>
          </a:lstStyle>
          <a:p>
            <a:pPr lvl="0"/>
            <a:r>
              <a:rPr lang="zh-CN" altLang="en-US"/>
              <a:t>目录样式</a:t>
            </a:r>
            <a:endParaRPr lang="en-US" altLang="zh-CN"/>
          </a:p>
          <a:p>
            <a:pPr lvl="0"/>
            <a:r>
              <a:rPr lang="zh-CN" altLang="en-US"/>
              <a:t>目录样式</a:t>
            </a:r>
            <a:endParaRPr lang="en-US" altLang="zh-CN"/>
          </a:p>
          <a:p>
            <a:pPr lvl="0"/>
            <a:r>
              <a:rPr lang="zh-CN" altLang="en-US"/>
              <a:t>目录样式</a:t>
            </a:r>
            <a:endParaRPr lang="en-US" altLang="zh-CN"/>
          </a:p>
        </p:txBody>
      </p:sp>
      <p:sp>
        <p:nvSpPr>
          <p:cNvPr id="27" name="íşľíďe">
            <a:extLst>
              <a:ext uri="{FF2B5EF4-FFF2-40B4-BE49-F238E27FC236}">
                <a16:creationId xmlns:a16="http://schemas.microsoft.com/office/drawing/2014/main" id="{32B4F824-6998-DCF1-0043-E682C565BE4E}"/>
              </a:ext>
            </a:extLst>
          </p:cNvPr>
          <p:cNvSpPr txBox="1"/>
          <p:nvPr userDrawn="1"/>
        </p:nvSpPr>
        <p:spPr>
          <a:xfrm flipH="1">
            <a:off x="4497713" y="2654823"/>
            <a:ext cx="1107996" cy="646331"/>
          </a:xfrm>
          <a:prstGeom prst="rect">
            <a:avLst/>
          </a:prstGeom>
          <a:noFill/>
        </p:spPr>
        <p:txBody>
          <a:bodyPr wrap="none" rtlCol="0">
            <a:spAutoFit/>
          </a:bodyPr>
          <a:lstStyle/>
          <a:p>
            <a:r>
              <a:rPr lang="zh-CN" altLang="en-US" sz="3600">
                <a:solidFill>
                  <a:schemeClr val="accent1"/>
                </a:solidFill>
                <a:latin typeface="+mj-ea"/>
                <a:ea typeface="+mj-ea"/>
              </a:rPr>
              <a:t>目录</a:t>
            </a:r>
          </a:p>
        </p:txBody>
      </p:sp>
    </p:spTree>
    <p:extLst>
      <p:ext uri="{BB962C8B-B14F-4D97-AF65-F5344CB8AC3E}">
        <p14:creationId xmlns:p14="http://schemas.microsoft.com/office/powerpoint/2010/main" val="14036840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B67452-EDA0-4DA4-B4CB-5196B98B126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87802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theme" Target="../theme/theme3.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1.png"/><Relationship Id="rId5" Type="http://schemas.openxmlformats.org/officeDocument/2006/relationships/theme" Target="../theme/theme4.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1.png"/><Relationship Id="rId5" Type="http://schemas.openxmlformats.org/officeDocument/2006/relationships/theme" Target="../theme/theme5.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image" Target="../media/image4.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5.png"/><Relationship Id="rId5" Type="http://schemas.openxmlformats.org/officeDocument/2006/relationships/theme" Target="../theme/theme6.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圆角矩形 3">
            <a:extLst>
              <a:ext uri="{FF2B5EF4-FFF2-40B4-BE49-F238E27FC236}">
                <a16:creationId xmlns:a16="http://schemas.microsoft.com/office/drawing/2014/main" id="{740FDA96-6FD2-7750-63B8-EAA640398088}"/>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4" name="图片 1">
            <a:extLst>
              <a:ext uri="{FF2B5EF4-FFF2-40B4-BE49-F238E27FC236}">
                <a16:creationId xmlns:a16="http://schemas.microsoft.com/office/drawing/2014/main" id="{143039DA-C43A-70C6-ACAA-D395E5C73FB0}"/>
              </a:ext>
            </a:extLst>
          </p:cNvPr>
          <p:cNvPicPr>
            <a:picLocks noChangeAspect="1"/>
          </p:cNvPicPr>
          <p:nvPr userDrawn="1"/>
        </p:nvPicPr>
        <p:blipFill rotWithShape="1">
          <a:blip r:embed="rId11"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9" r:id="rId3"/>
    <p:sldLayoutId id="2147483666" r:id="rId4"/>
    <p:sldLayoutId id="2147483677" r:id="rId5"/>
    <p:sldLayoutId id="2147483678" r:id="rId6"/>
    <p:sldLayoutId id="2147483685" r:id="rId7"/>
    <p:sldLayoutId id="2147483688" r:id="rId8"/>
    <p:sldLayoutId id="2147483689" r:id="rId9"/>
  </p:sldLayoutIdLst>
  <p:hf hdr="0" ftr="0" dt="0"/>
  <p:txStyles>
    <p:titleStyle>
      <a:lvl1pPr algn="l" defTabSz="914354"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950266"/>
      </p:ext>
    </p:extLst>
  </p:cSld>
  <p:clrMap bg1="lt1" tx1="dk1" bg2="lt2" tx2="dk2" accent1="accent1" accent2="accent2" accent3="accent3" accent4="accent4" accent5="accent5" accent6="accent6" hlink="hlink" folHlink="folHlink"/>
  <p:sldLayoutIdLst>
    <p:sldLayoutId id="2147483649" r:id="rId1"/>
    <p:sldLayoutId id="2147483669" r:id="rId2"/>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4" name="六边形 63">
            <a:extLst>
              <a:ext uri="{FF2B5EF4-FFF2-40B4-BE49-F238E27FC236}">
                <a16:creationId xmlns:a16="http://schemas.microsoft.com/office/drawing/2014/main" id="{64701D48-3612-F015-7A0D-8329972945A7}"/>
              </a:ext>
            </a:extLst>
          </p:cNvPr>
          <p:cNvSpPr/>
          <p:nvPr userDrawn="1"/>
        </p:nvSpPr>
        <p:spPr>
          <a:xfrm>
            <a:off x="111531" y="3970985"/>
            <a:ext cx="414893" cy="357667"/>
          </a:xfrm>
          <a:prstGeom prst="hexagon">
            <a:avLst/>
          </a:prstGeom>
          <a:noFill/>
          <a:ln w="12700">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椭圆 1">
            <a:extLst>
              <a:ext uri="{FF2B5EF4-FFF2-40B4-BE49-F238E27FC236}">
                <a16:creationId xmlns:a16="http://schemas.microsoft.com/office/drawing/2014/main" id="{34FB0A6B-66AE-D2A8-FCAE-415D3251A19B}"/>
              </a:ext>
            </a:extLst>
          </p:cNvPr>
          <p:cNvSpPr/>
          <p:nvPr userDrawn="1"/>
        </p:nvSpPr>
        <p:spPr>
          <a:xfrm>
            <a:off x="367091"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椭圆 2">
            <a:extLst>
              <a:ext uri="{FF2B5EF4-FFF2-40B4-BE49-F238E27FC236}">
                <a16:creationId xmlns:a16="http://schemas.microsoft.com/office/drawing/2014/main" id="{38539A05-556B-81A4-0795-3B191CB53943}"/>
              </a:ext>
            </a:extLst>
          </p:cNvPr>
          <p:cNvSpPr/>
          <p:nvPr userDrawn="1"/>
        </p:nvSpPr>
        <p:spPr>
          <a:xfrm>
            <a:off x="2097603" y="1569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椭圆 4">
            <a:extLst>
              <a:ext uri="{FF2B5EF4-FFF2-40B4-BE49-F238E27FC236}">
                <a16:creationId xmlns:a16="http://schemas.microsoft.com/office/drawing/2014/main" id="{10CECE50-264B-8294-A89A-D0F8A1907A78}"/>
              </a:ext>
            </a:extLst>
          </p:cNvPr>
          <p:cNvSpPr/>
          <p:nvPr userDrawn="1"/>
        </p:nvSpPr>
        <p:spPr>
          <a:xfrm>
            <a:off x="3699535" y="161763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70" name="图片 69">
            <a:extLst>
              <a:ext uri="{FF2B5EF4-FFF2-40B4-BE49-F238E27FC236}">
                <a16:creationId xmlns:a16="http://schemas.microsoft.com/office/drawing/2014/main" id="{7E174D6B-A975-223E-7D47-56F22CD52EDC}"/>
              </a:ext>
            </a:extLst>
          </p:cNvPr>
          <p:cNvPicPr>
            <a:picLocks noChangeAspect="1"/>
          </p:cNvPicPr>
          <p:nvPr userDrawn="1"/>
        </p:nvPicPr>
        <p:blipFill>
          <a:blip r:embed="rId6">
            <a:duotone>
              <a:prstClr val="black"/>
              <a:schemeClr val="accent1">
                <a:tint val="45000"/>
                <a:satMod val="400000"/>
              </a:schemeClr>
            </a:duotone>
          </a:blip>
          <a:stretch>
            <a:fillRect/>
          </a:stretch>
        </p:blipFill>
        <p:spPr>
          <a:xfrm rot="16200000">
            <a:off x="9714887" y="3797885"/>
            <a:ext cx="3017783" cy="2517867"/>
          </a:xfrm>
          <a:prstGeom prst="rect">
            <a:avLst/>
          </a:prstGeom>
        </p:spPr>
      </p:pic>
      <p:sp>
        <p:nvSpPr>
          <p:cNvPr id="71" name="矩形 70">
            <a:extLst>
              <a:ext uri="{FF2B5EF4-FFF2-40B4-BE49-F238E27FC236}">
                <a16:creationId xmlns:a16="http://schemas.microsoft.com/office/drawing/2014/main" id="{105A365F-E05A-6A26-7E77-E6094786D794}"/>
              </a:ext>
            </a:extLst>
          </p:cNvPr>
          <p:cNvSpPr/>
          <p:nvPr userDrawn="1"/>
        </p:nvSpPr>
        <p:spPr>
          <a:xfrm>
            <a:off x="9005828" y="3429001"/>
            <a:ext cx="3359651" cy="3563035"/>
          </a:xfrm>
          <a:prstGeom prst="rect">
            <a:avLst/>
          </a:prstGeom>
          <a:gradFill flip="none" rotWithShape="1">
            <a:gsLst>
              <a:gs pos="57000">
                <a:schemeClr val="bg1">
                  <a:alpha val="77000"/>
                </a:schemeClr>
              </a:gs>
              <a:gs pos="100000">
                <a:schemeClr val="bg1">
                  <a:alpha val="2000"/>
                </a:scheme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4" name="图片 3">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1741" r="31458"/>
          <a:stretch/>
        </p:blipFill>
        <p:spPr>
          <a:xfrm>
            <a:off x="0" y="226027"/>
            <a:ext cx="4021016" cy="5727260"/>
          </a:xfrm>
          <a:prstGeom prst="rect">
            <a:avLst/>
          </a:prstGeom>
        </p:spPr>
      </p:pic>
      <p:sp>
        <p:nvSpPr>
          <p:cNvPr id="6" name="圆角矩形 3">
            <a:extLst>
              <a:ext uri="{FF2B5EF4-FFF2-40B4-BE49-F238E27FC236}">
                <a16:creationId xmlns:a16="http://schemas.microsoft.com/office/drawing/2014/main" id="{136D8422-C379-C421-6241-7C69A19627F2}"/>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7" name="图片 1">
            <a:extLst>
              <a:ext uri="{FF2B5EF4-FFF2-40B4-BE49-F238E27FC236}">
                <a16:creationId xmlns:a16="http://schemas.microsoft.com/office/drawing/2014/main" id="{6EA93CF2-F44A-B23B-D8B1-693BEA076AA2}"/>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8307751"/>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51" r:id="rId3"/>
    <p:sldLayoutId id="2147483687"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538EF61-0CF6-2735-4654-C2F60C1B5FB3}"/>
              </a:ext>
            </a:extLst>
          </p:cNvPr>
          <p:cNvSpPr/>
          <p:nvPr userDrawn="1"/>
        </p:nvSpPr>
        <p:spPr>
          <a:xfrm>
            <a:off x="-2775486" y="-1213758"/>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4" name="椭圆 3">
            <a:extLst>
              <a:ext uri="{FF2B5EF4-FFF2-40B4-BE49-F238E27FC236}">
                <a16:creationId xmlns:a16="http://schemas.microsoft.com/office/drawing/2014/main" id="{9598458E-0E6D-4FB0-21B2-2EA0673032D8}"/>
              </a:ext>
            </a:extLst>
          </p:cNvPr>
          <p:cNvSpPr/>
          <p:nvPr userDrawn="1"/>
        </p:nvSpPr>
        <p:spPr>
          <a:xfrm>
            <a:off x="-1044974" y="516755"/>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6" name="椭圆 5">
            <a:extLst>
              <a:ext uri="{FF2B5EF4-FFF2-40B4-BE49-F238E27FC236}">
                <a16:creationId xmlns:a16="http://schemas.microsoft.com/office/drawing/2014/main" id="{C22B59B6-AE89-188C-D588-A8407EC0DAF4}"/>
              </a:ext>
            </a:extLst>
          </p:cNvPr>
          <p:cNvSpPr/>
          <p:nvPr userDrawn="1"/>
        </p:nvSpPr>
        <p:spPr>
          <a:xfrm>
            <a:off x="556959" y="2118687"/>
            <a:ext cx="2620620" cy="2620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圆角矩形 3">
            <a:extLst>
              <a:ext uri="{FF2B5EF4-FFF2-40B4-BE49-F238E27FC236}">
                <a16:creationId xmlns:a16="http://schemas.microsoft.com/office/drawing/2014/main" id="{081F9418-1A7F-B69A-5C2E-ADAF19FFE15A}"/>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C103A873-6F4C-634A-ED55-A9A5AE2DE8E0}"/>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74136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A538EF61-0CF6-2735-4654-C2F60C1B5FB3}"/>
              </a:ext>
            </a:extLst>
          </p:cNvPr>
          <p:cNvSpPr/>
          <p:nvPr userDrawn="1"/>
        </p:nvSpPr>
        <p:spPr>
          <a:xfrm>
            <a:off x="-1869813" y="-309085"/>
            <a:ext cx="7473881" cy="7473881"/>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 name="椭圆 10">
            <a:extLst>
              <a:ext uri="{FF2B5EF4-FFF2-40B4-BE49-F238E27FC236}">
                <a16:creationId xmlns:a16="http://schemas.microsoft.com/office/drawing/2014/main" id="{40922FA6-892F-6E62-25A7-4EFD4311B4B7}"/>
              </a:ext>
            </a:extLst>
          </p:cNvPr>
          <p:cNvSpPr/>
          <p:nvPr userDrawn="1"/>
        </p:nvSpPr>
        <p:spPr>
          <a:xfrm>
            <a:off x="573738" y="4742369"/>
            <a:ext cx="588089" cy="588089"/>
          </a:xfrm>
          <a:prstGeom prst="ellipse">
            <a:avLst/>
          </a:prstGeom>
          <a:noFill/>
          <a:ln w="1270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2" name="椭圆 11">
            <a:extLst>
              <a:ext uri="{FF2B5EF4-FFF2-40B4-BE49-F238E27FC236}">
                <a16:creationId xmlns:a16="http://schemas.microsoft.com/office/drawing/2014/main" id="{589EB921-EFFD-8A13-0578-9909E3F67A28}"/>
              </a:ext>
            </a:extLst>
          </p:cNvPr>
          <p:cNvSpPr/>
          <p:nvPr userDrawn="1"/>
        </p:nvSpPr>
        <p:spPr>
          <a:xfrm>
            <a:off x="2449603" y="4027163"/>
            <a:ext cx="926888" cy="926888"/>
          </a:xfrm>
          <a:prstGeom prst="ellipse">
            <a:avLst/>
          </a:prstGeom>
          <a:solidFill>
            <a:schemeClr val="accent5">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3" name="椭圆 12">
            <a:extLst>
              <a:ext uri="{FF2B5EF4-FFF2-40B4-BE49-F238E27FC236}">
                <a16:creationId xmlns:a16="http://schemas.microsoft.com/office/drawing/2014/main" id="{0DBB1E70-A6B4-325D-7E84-2D8D403E507E}"/>
              </a:ext>
            </a:extLst>
          </p:cNvPr>
          <p:cNvSpPr/>
          <p:nvPr userDrawn="1"/>
        </p:nvSpPr>
        <p:spPr>
          <a:xfrm>
            <a:off x="2274547" y="2102047"/>
            <a:ext cx="1590676" cy="1590676"/>
          </a:xfrm>
          <a:prstGeom prst="ellipse">
            <a:avLst/>
          </a:prstGeom>
          <a:noFill/>
          <a:ln w="12700">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4" name="椭圆 13">
            <a:extLst>
              <a:ext uri="{FF2B5EF4-FFF2-40B4-BE49-F238E27FC236}">
                <a16:creationId xmlns:a16="http://schemas.microsoft.com/office/drawing/2014/main" id="{938C16E6-FCD9-2FF6-E0D9-862FBA97E38E}"/>
              </a:ext>
            </a:extLst>
          </p:cNvPr>
          <p:cNvSpPr/>
          <p:nvPr userDrawn="1"/>
        </p:nvSpPr>
        <p:spPr>
          <a:xfrm>
            <a:off x="320389" y="1512574"/>
            <a:ext cx="804339" cy="804339"/>
          </a:xfrm>
          <a:prstGeom prst="ellipse">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5" name="椭圆 14">
            <a:extLst>
              <a:ext uri="{FF2B5EF4-FFF2-40B4-BE49-F238E27FC236}">
                <a16:creationId xmlns:a16="http://schemas.microsoft.com/office/drawing/2014/main" id="{90B5C771-860C-6FE3-9141-296A747F7EC0}"/>
              </a:ext>
            </a:extLst>
          </p:cNvPr>
          <p:cNvSpPr/>
          <p:nvPr userDrawn="1"/>
        </p:nvSpPr>
        <p:spPr>
          <a:xfrm>
            <a:off x="2745116" y="1787723"/>
            <a:ext cx="314325" cy="3143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6" name="椭圆 15">
            <a:extLst>
              <a:ext uri="{FF2B5EF4-FFF2-40B4-BE49-F238E27FC236}">
                <a16:creationId xmlns:a16="http://schemas.microsoft.com/office/drawing/2014/main" id="{CC734A62-48DA-F6ED-AF10-0C9224E0A0EE}"/>
              </a:ext>
            </a:extLst>
          </p:cNvPr>
          <p:cNvSpPr/>
          <p:nvPr userDrawn="1"/>
        </p:nvSpPr>
        <p:spPr>
          <a:xfrm>
            <a:off x="594795" y="2155522"/>
            <a:ext cx="2544671" cy="2544671"/>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圆: 空心 2">
            <a:extLst>
              <a:ext uri="{FF2B5EF4-FFF2-40B4-BE49-F238E27FC236}">
                <a16:creationId xmlns:a16="http://schemas.microsoft.com/office/drawing/2014/main" id="{D9836D2B-C9DD-3FC5-793A-4907096EF00C}"/>
              </a:ext>
            </a:extLst>
          </p:cNvPr>
          <p:cNvSpPr/>
          <p:nvPr userDrawn="1"/>
        </p:nvSpPr>
        <p:spPr>
          <a:xfrm>
            <a:off x="445476" y="2002999"/>
            <a:ext cx="2852005" cy="2852005"/>
          </a:xfrm>
          <a:prstGeom prst="donut">
            <a:avLst>
              <a:gd name="adj" fmla="val 649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solidFill>
            </a:endParaRPr>
          </a:p>
        </p:txBody>
      </p:sp>
      <p:sp>
        <p:nvSpPr>
          <p:cNvPr id="4" name="圆角矩形 3">
            <a:extLst>
              <a:ext uri="{FF2B5EF4-FFF2-40B4-BE49-F238E27FC236}">
                <a16:creationId xmlns:a16="http://schemas.microsoft.com/office/drawing/2014/main" id="{BF5FBB6F-9C50-0F7F-7D51-97F85DAEBE87}"/>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5" name="图片 1">
            <a:extLst>
              <a:ext uri="{FF2B5EF4-FFF2-40B4-BE49-F238E27FC236}">
                <a16:creationId xmlns:a16="http://schemas.microsoft.com/office/drawing/2014/main" id="{6B533326-C4DE-738C-3200-F5883CE050BE}"/>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9827110"/>
      </p:ext>
    </p:extLst>
  </p:cSld>
  <p:clrMap bg1="lt1" tx1="dk1" bg2="lt2" tx2="dk2" accent1="accent1" accent2="accent2" accent3="accent3" accent4="accent4" accent5="accent5" accent6="accent6" hlink="hlink" folHlink="folHlink"/>
  <p:sldLayoutIdLst>
    <p:sldLayoutId id="2147483680" r:id="rId1"/>
    <p:sldLayoutId id="2147483683" r:id="rId2"/>
    <p:sldLayoutId id="2147483684" r:id="rId3"/>
    <p:sldLayoutId id="2147483686"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4" name="六边形 63">
            <a:extLst>
              <a:ext uri="{FF2B5EF4-FFF2-40B4-BE49-F238E27FC236}">
                <a16:creationId xmlns:a16="http://schemas.microsoft.com/office/drawing/2014/main" id="{64701D48-3612-F015-7A0D-8329972945A7}"/>
              </a:ext>
            </a:extLst>
          </p:cNvPr>
          <p:cNvSpPr/>
          <p:nvPr userDrawn="1"/>
        </p:nvSpPr>
        <p:spPr>
          <a:xfrm>
            <a:off x="111531" y="3970985"/>
            <a:ext cx="414893" cy="357667"/>
          </a:xfrm>
          <a:prstGeom prst="hexagon">
            <a:avLst/>
          </a:prstGeom>
          <a:noFill/>
          <a:ln w="12700">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2" name="椭圆 1">
            <a:extLst>
              <a:ext uri="{FF2B5EF4-FFF2-40B4-BE49-F238E27FC236}">
                <a16:creationId xmlns:a16="http://schemas.microsoft.com/office/drawing/2014/main" id="{34FB0A6B-66AE-D2A8-FCAE-415D3251A19B}"/>
              </a:ext>
            </a:extLst>
          </p:cNvPr>
          <p:cNvSpPr/>
          <p:nvPr userDrawn="1"/>
        </p:nvSpPr>
        <p:spPr>
          <a:xfrm>
            <a:off x="367091" y="-1714814"/>
            <a:ext cx="9285508" cy="9285508"/>
          </a:xfrm>
          <a:prstGeom prst="ellipse">
            <a:avLst/>
          </a:prstGeom>
          <a:solidFill>
            <a:schemeClr val="accent1">
              <a:lumMod val="40000"/>
              <a:lumOff val="6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 name="椭圆 2">
            <a:extLst>
              <a:ext uri="{FF2B5EF4-FFF2-40B4-BE49-F238E27FC236}">
                <a16:creationId xmlns:a16="http://schemas.microsoft.com/office/drawing/2014/main" id="{38539A05-556B-81A4-0795-3B191CB53943}"/>
              </a:ext>
            </a:extLst>
          </p:cNvPr>
          <p:cNvSpPr/>
          <p:nvPr userDrawn="1"/>
        </p:nvSpPr>
        <p:spPr>
          <a:xfrm>
            <a:off x="2097603" y="15699"/>
            <a:ext cx="5824484" cy="5824484"/>
          </a:xfrm>
          <a:prstGeom prst="ellipse">
            <a:avLst/>
          </a:prstGeom>
          <a:solidFill>
            <a:schemeClr val="accent1">
              <a:lumMod val="40000"/>
              <a:lumOff val="60000"/>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5" name="椭圆 4">
            <a:extLst>
              <a:ext uri="{FF2B5EF4-FFF2-40B4-BE49-F238E27FC236}">
                <a16:creationId xmlns:a16="http://schemas.microsoft.com/office/drawing/2014/main" id="{10CECE50-264B-8294-A89A-D0F8A1907A78}"/>
              </a:ext>
            </a:extLst>
          </p:cNvPr>
          <p:cNvSpPr/>
          <p:nvPr userDrawn="1"/>
        </p:nvSpPr>
        <p:spPr>
          <a:xfrm>
            <a:off x="3699535" y="1617631"/>
            <a:ext cx="2620620" cy="2620620"/>
          </a:xfrm>
          <a:prstGeom prst="ellipse">
            <a:avLst/>
          </a:prstGeom>
          <a:solidFill>
            <a:schemeClr val="accent1">
              <a:lumMod val="40000"/>
              <a:lumOff val="6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70" name="图片 69">
            <a:extLst>
              <a:ext uri="{FF2B5EF4-FFF2-40B4-BE49-F238E27FC236}">
                <a16:creationId xmlns:a16="http://schemas.microsoft.com/office/drawing/2014/main" id="{7E174D6B-A975-223E-7D47-56F22CD52EDC}"/>
              </a:ext>
            </a:extLst>
          </p:cNvPr>
          <p:cNvPicPr>
            <a:picLocks noChangeAspect="1"/>
          </p:cNvPicPr>
          <p:nvPr userDrawn="1"/>
        </p:nvPicPr>
        <p:blipFill>
          <a:blip r:embed="rId6">
            <a:duotone>
              <a:prstClr val="black"/>
              <a:schemeClr val="accent1">
                <a:tint val="45000"/>
                <a:satMod val="400000"/>
              </a:schemeClr>
            </a:duotone>
          </a:blip>
          <a:stretch>
            <a:fillRect/>
          </a:stretch>
        </p:blipFill>
        <p:spPr>
          <a:xfrm rot="16200000">
            <a:off x="9714887" y="3797885"/>
            <a:ext cx="3017783" cy="2517867"/>
          </a:xfrm>
          <a:prstGeom prst="rect">
            <a:avLst/>
          </a:prstGeom>
        </p:spPr>
      </p:pic>
      <p:sp>
        <p:nvSpPr>
          <p:cNvPr id="71" name="矩形 70">
            <a:extLst>
              <a:ext uri="{FF2B5EF4-FFF2-40B4-BE49-F238E27FC236}">
                <a16:creationId xmlns:a16="http://schemas.microsoft.com/office/drawing/2014/main" id="{105A365F-E05A-6A26-7E77-E6094786D794}"/>
              </a:ext>
            </a:extLst>
          </p:cNvPr>
          <p:cNvSpPr/>
          <p:nvPr userDrawn="1"/>
        </p:nvSpPr>
        <p:spPr>
          <a:xfrm>
            <a:off x="9005828" y="3429001"/>
            <a:ext cx="3359651" cy="3563035"/>
          </a:xfrm>
          <a:prstGeom prst="rect">
            <a:avLst/>
          </a:prstGeom>
          <a:gradFill flip="none" rotWithShape="1">
            <a:gsLst>
              <a:gs pos="57000">
                <a:schemeClr val="bg1">
                  <a:alpha val="77000"/>
                </a:schemeClr>
              </a:gs>
              <a:gs pos="100000">
                <a:schemeClr val="bg1">
                  <a:alpha val="2000"/>
                </a:scheme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pic>
        <p:nvPicPr>
          <p:cNvPr id="4" name="图片 3">
            <a:extLst>
              <a:ext uri="{FF2B5EF4-FFF2-40B4-BE49-F238E27FC236}">
                <a16:creationId xmlns:a16="http://schemas.microsoft.com/office/drawing/2014/main" id="{287C0C2E-27D7-4123-B01F-3144FCE1EF2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21741" r="31458"/>
          <a:stretch/>
        </p:blipFill>
        <p:spPr>
          <a:xfrm>
            <a:off x="0" y="226027"/>
            <a:ext cx="4021016" cy="5727260"/>
          </a:xfrm>
          <a:prstGeom prst="rect">
            <a:avLst/>
          </a:prstGeom>
        </p:spPr>
      </p:pic>
      <p:sp>
        <p:nvSpPr>
          <p:cNvPr id="6" name="圆角矩形 3">
            <a:extLst>
              <a:ext uri="{FF2B5EF4-FFF2-40B4-BE49-F238E27FC236}">
                <a16:creationId xmlns:a16="http://schemas.microsoft.com/office/drawing/2014/main" id="{136D8422-C379-C421-6241-7C69A19627F2}"/>
              </a:ext>
            </a:extLst>
          </p:cNvPr>
          <p:cNvSpPr>
            <a:spLocks/>
          </p:cNvSpPr>
          <p:nvPr userDrawn="1"/>
        </p:nvSpPr>
        <p:spPr bwMode="auto">
          <a:xfrm>
            <a:off x="10543800" y="-48239"/>
            <a:ext cx="1281113" cy="543859"/>
          </a:xfrm>
          <a:custGeom>
            <a:avLst/>
            <a:gdLst>
              <a:gd name="T0" fmla="*/ 639596589 w 1180531"/>
              <a:gd name="T1" fmla="*/ 0 h 577560"/>
              <a:gd name="T2" fmla="*/ 639596589 w 1180531"/>
              <a:gd name="T3" fmla="*/ 259724595 h 577560"/>
              <a:gd name="T4" fmla="*/ 577010883 w 1180531"/>
              <a:gd name="T5" fmla="*/ 324659087 h 577560"/>
              <a:gd name="T6" fmla="*/ 62585058 w 1180531"/>
              <a:gd name="T7" fmla="*/ 324659087 h 577560"/>
              <a:gd name="T8" fmla="*/ 0 w 1180531"/>
              <a:gd name="T9" fmla="*/ 259724595 h 577560"/>
              <a:gd name="T10" fmla="*/ 0 w 1180531"/>
              <a:gd name="T11" fmla="*/ 0 h 5775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0531" h="577560">
                <a:moveTo>
                  <a:pt x="1180531" y="0"/>
                </a:moveTo>
                <a:lnTo>
                  <a:pt x="1180531" y="462045"/>
                </a:lnTo>
                <a:cubicBezTo>
                  <a:pt x="1180531" y="525842"/>
                  <a:pt x="1128813" y="577560"/>
                  <a:pt x="1065016" y="577560"/>
                </a:cubicBezTo>
                <a:lnTo>
                  <a:pt x="115515" y="577560"/>
                </a:lnTo>
                <a:cubicBezTo>
                  <a:pt x="51718" y="577560"/>
                  <a:pt x="0" y="525842"/>
                  <a:pt x="0" y="462045"/>
                </a:cubicBezTo>
                <a:lnTo>
                  <a:pt x="0" y="0"/>
                </a:lnTo>
              </a:path>
            </a:pathLst>
          </a:custGeom>
          <a:solidFill>
            <a:schemeClr val="accent1"/>
          </a:solidFill>
          <a:ln>
            <a:noFill/>
          </a:ln>
          <a:effectLst>
            <a:outerShdw blurRad="50800" dist="38100" dir="3600000" algn="tl" rotWithShape="0">
              <a:prstClr val="black">
                <a:alpha val="30000"/>
              </a:prstClr>
            </a:outerShdw>
          </a:effectLst>
        </p:spPr>
        <p:txBody>
          <a:bodyPr/>
          <a:lstStyle/>
          <a:p>
            <a:endParaRPr lang="zh-CN" altLang="en-US" sz="1351"/>
          </a:p>
        </p:txBody>
      </p:sp>
      <p:pic>
        <p:nvPicPr>
          <p:cNvPr id="7" name="图片 1">
            <a:extLst>
              <a:ext uri="{FF2B5EF4-FFF2-40B4-BE49-F238E27FC236}">
                <a16:creationId xmlns:a16="http://schemas.microsoft.com/office/drawing/2014/main" id="{6EA93CF2-F44A-B23B-D8B1-693BEA076AA2}"/>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b="29627"/>
          <a:stretch/>
        </p:blipFill>
        <p:spPr bwMode="auto">
          <a:xfrm>
            <a:off x="10559674" y="21609"/>
            <a:ext cx="1265239" cy="3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149086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Lst>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2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4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customXml" Target="../../customXml/item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customXml" Target="../../customXml/item5.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快速入门</a:t>
            </a:r>
          </a:p>
        </p:txBody>
      </p:sp>
      <p:sp>
        <p:nvSpPr>
          <p:cNvPr id="87" name="内容占位符 1">
            <a:extLst>
              <a:ext uri="{FF2B5EF4-FFF2-40B4-BE49-F238E27FC236}">
                <a16:creationId xmlns:a16="http://schemas.microsoft.com/office/drawing/2014/main" id="{C708B710-CF2F-45B8-AEDB-912C4ED0AFF3}"/>
              </a:ext>
            </a:extLst>
          </p:cNvPr>
          <p:cNvSpPr txBox="1">
            <a:spLocks/>
          </p:cNvSpPr>
          <p:nvPr/>
        </p:nvSpPr>
        <p:spPr>
          <a:xfrm>
            <a:off x="443030" y="1032881"/>
            <a:ext cx="5976823" cy="393917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a:lnSpc>
                <a:spcPct val="150000"/>
              </a:lnSpc>
              <a:buFont typeface="+mj-lt"/>
              <a:buAutoNum type="arabicPeriod"/>
              <a:defRPr/>
            </a:pPr>
            <a:r>
              <a:rPr lang="zh-CN" altLang="en-US">
                <a:solidFill>
                  <a:srgbClr val="2F2F2F"/>
                </a:solidFill>
              </a:rPr>
              <a:t>存储</a:t>
            </a:r>
            <a:r>
              <a:rPr lang="en-US" altLang="zh-CN">
                <a:solidFill>
                  <a:srgbClr val="2F2F2F"/>
                </a:solidFill>
              </a:rPr>
              <a:t>(</a:t>
            </a:r>
            <a:r>
              <a:rPr lang="zh-CN" altLang="en-US">
                <a:solidFill>
                  <a:srgbClr val="2F2F2F"/>
                </a:solidFill>
              </a:rPr>
              <a:t>构建向量数据库操作对象</a:t>
            </a:r>
            <a:r>
              <a:rPr lang="en-US" altLang="zh-CN">
                <a:solidFill>
                  <a:srgbClr val="2F2F2F"/>
                </a:solidFill>
              </a:rPr>
              <a:t>)</a:t>
            </a:r>
          </a:p>
          <a:p>
            <a:pPr lvl="1">
              <a:lnSpc>
                <a:spcPct val="150000"/>
              </a:lnSpc>
              <a:defRPr/>
            </a:pPr>
            <a:r>
              <a:rPr lang="zh-CN" altLang="en-US">
                <a:solidFill>
                  <a:srgbClr val="2F2F2F"/>
                </a:solidFill>
              </a:rPr>
              <a:t>引入依赖</a:t>
            </a:r>
            <a:endParaRPr lang="en-US" altLang="zh-CN">
              <a:solidFill>
                <a:srgbClr val="2F2F2F"/>
              </a:solidFill>
            </a:endParaRPr>
          </a:p>
          <a:p>
            <a:pPr lvl="1">
              <a:lnSpc>
                <a:spcPct val="150000"/>
              </a:lnSpc>
              <a:defRPr/>
            </a:pPr>
            <a:r>
              <a:rPr lang="zh-CN" altLang="en-US">
                <a:solidFill>
                  <a:srgbClr val="2F2F2F"/>
                </a:solidFill>
              </a:rPr>
              <a:t>加载知识数据文档</a:t>
            </a:r>
            <a:endParaRPr lang="en-US" altLang="zh-CN">
              <a:solidFill>
                <a:srgbClr val="2F2F2F"/>
              </a:solidFill>
            </a:endParaRPr>
          </a:p>
          <a:p>
            <a:pPr lvl="1">
              <a:lnSpc>
                <a:spcPct val="150000"/>
              </a:lnSpc>
              <a:defRPr/>
            </a:pPr>
            <a:r>
              <a:rPr lang="zh-CN" altLang="en-US">
                <a:solidFill>
                  <a:srgbClr val="2F2F2F"/>
                </a:solidFill>
              </a:rPr>
              <a:t>构建向量数据库操作对象</a:t>
            </a:r>
            <a:endParaRPr lang="en-US" altLang="zh-CN">
              <a:solidFill>
                <a:srgbClr val="2F2F2F"/>
              </a:solidFill>
            </a:endParaRPr>
          </a:p>
          <a:p>
            <a:pPr lvl="1">
              <a:lnSpc>
                <a:spcPct val="150000"/>
              </a:lnSpc>
              <a:defRPr/>
            </a:pPr>
            <a:r>
              <a:rPr lang="zh-CN" altLang="en-US">
                <a:solidFill>
                  <a:srgbClr val="2F2F2F"/>
                </a:solidFill>
              </a:rPr>
              <a:t>把文档切割、向量化并存储到向量数据库中</a:t>
            </a:r>
            <a:endParaRPr lang="en-US" altLang="zh-CN">
              <a:solidFill>
                <a:srgbClr val="2F2F2F"/>
              </a:solidFill>
            </a:endParaRPr>
          </a:p>
          <a:p>
            <a:pPr marL="342882" indent="-342882">
              <a:lnSpc>
                <a:spcPct val="150000"/>
              </a:lnSpc>
              <a:buFont typeface="+mj-lt"/>
              <a:buAutoNum type="arabicPeriod"/>
              <a:defRPr/>
            </a:pPr>
            <a:r>
              <a:rPr lang="zh-CN" altLang="en-US">
                <a:solidFill>
                  <a:srgbClr val="2F2F2F"/>
                </a:solidFill>
              </a:rPr>
              <a:t>检索</a:t>
            </a:r>
            <a:r>
              <a:rPr lang="en-US" altLang="zh-CN">
                <a:solidFill>
                  <a:srgbClr val="2F2F2F"/>
                </a:solidFill>
              </a:rPr>
              <a:t>(</a:t>
            </a:r>
            <a:r>
              <a:rPr lang="zh-CN" altLang="en-US">
                <a:solidFill>
                  <a:srgbClr val="2F2F2F"/>
                </a:solidFill>
              </a:rPr>
              <a:t>构建向量数据库检索对象</a:t>
            </a:r>
            <a:r>
              <a:rPr lang="en-US" altLang="zh-CN">
                <a:solidFill>
                  <a:srgbClr val="2F2F2F"/>
                </a:solidFill>
              </a:rPr>
              <a:t>)</a:t>
            </a:r>
          </a:p>
          <a:p>
            <a:pPr lvl="1">
              <a:lnSpc>
                <a:spcPct val="150000"/>
              </a:lnSpc>
              <a:defRPr/>
            </a:pPr>
            <a:r>
              <a:rPr lang="zh-CN" altLang="en-US">
                <a:solidFill>
                  <a:srgbClr val="2F2F2F"/>
                </a:solidFill>
              </a:rPr>
              <a:t>构建向量数据库检索对象</a:t>
            </a:r>
            <a:endParaRPr lang="en-US" altLang="zh-CN">
              <a:solidFill>
                <a:srgbClr val="2F2F2F"/>
              </a:solidFill>
            </a:endParaRPr>
          </a:p>
          <a:p>
            <a:pPr lvl="1">
              <a:lnSpc>
                <a:spcPct val="150000"/>
              </a:lnSpc>
              <a:defRPr/>
            </a:pPr>
            <a:r>
              <a:rPr lang="zh-CN" altLang="en-US">
                <a:solidFill>
                  <a:srgbClr val="2F2F2F"/>
                </a:solidFill>
              </a:rPr>
              <a:t>配置向量数据库检索对象</a:t>
            </a:r>
            <a:endParaRPr lang="en-US" altLang="zh-CN">
              <a:solidFill>
                <a:srgbClr val="2F2F2F"/>
              </a:solidFill>
            </a:endParaRPr>
          </a:p>
        </p:txBody>
      </p:sp>
      <p:grpSp>
        <p:nvGrpSpPr>
          <p:cNvPr id="15" name="组合 14">
            <a:extLst>
              <a:ext uri="{FF2B5EF4-FFF2-40B4-BE49-F238E27FC236}">
                <a16:creationId xmlns:a16="http://schemas.microsoft.com/office/drawing/2014/main" id="{0311AF66-BA40-4AE3-B67F-1F2698ADF9B8}"/>
              </a:ext>
            </a:extLst>
          </p:cNvPr>
          <p:cNvGrpSpPr/>
          <p:nvPr/>
        </p:nvGrpSpPr>
        <p:grpSpPr>
          <a:xfrm>
            <a:off x="5468851" y="790937"/>
            <a:ext cx="6492407" cy="1706137"/>
            <a:chOff x="5468849" y="790934"/>
            <a:chExt cx="6492407" cy="1706136"/>
          </a:xfrm>
        </p:grpSpPr>
        <p:sp>
          <p:nvSpPr>
            <p:cNvPr id="91" name="矩形: 圆角 90">
              <a:extLst>
                <a:ext uri="{FF2B5EF4-FFF2-40B4-BE49-F238E27FC236}">
                  <a16:creationId xmlns:a16="http://schemas.microsoft.com/office/drawing/2014/main" id="{A008243E-201A-40EE-9DA8-C8888FBE45D8}"/>
                </a:ext>
              </a:extLst>
            </p:cNvPr>
            <p:cNvSpPr/>
            <p:nvPr/>
          </p:nvSpPr>
          <p:spPr>
            <a:xfrm>
              <a:off x="5468849" y="790934"/>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2" name="任意多边形: 形状 91">
              <a:extLst>
                <a:ext uri="{FF2B5EF4-FFF2-40B4-BE49-F238E27FC236}">
                  <a16:creationId xmlns:a16="http://schemas.microsoft.com/office/drawing/2014/main" id="{506A3417-8EEC-44C3-9B1B-AD221E8C1C9A}"/>
                </a:ext>
              </a:extLst>
            </p:cNvPr>
            <p:cNvSpPr/>
            <p:nvPr/>
          </p:nvSpPr>
          <p:spPr>
            <a:xfrm>
              <a:off x="5468849" y="812672"/>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93" name="组合 92">
              <a:extLst>
                <a:ext uri="{FF2B5EF4-FFF2-40B4-BE49-F238E27FC236}">
                  <a16:creationId xmlns:a16="http://schemas.microsoft.com/office/drawing/2014/main" id="{BDF2A249-7176-4A42-A97C-FC1DD060FD9A}"/>
                </a:ext>
              </a:extLst>
            </p:cNvPr>
            <p:cNvGrpSpPr/>
            <p:nvPr/>
          </p:nvGrpSpPr>
          <p:grpSpPr>
            <a:xfrm>
              <a:off x="5634601" y="898142"/>
              <a:ext cx="771634" cy="133081"/>
              <a:chOff x="2016841" y="2587412"/>
              <a:chExt cx="730275" cy="133081"/>
            </a:xfrm>
          </p:grpSpPr>
          <p:sp>
            <p:nvSpPr>
              <p:cNvPr id="97" name="椭圆 96">
                <a:extLst>
                  <a:ext uri="{FF2B5EF4-FFF2-40B4-BE49-F238E27FC236}">
                    <a16:creationId xmlns:a16="http://schemas.microsoft.com/office/drawing/2014/main" id="{F0218AD3-06BC-46E8-AFA2-E7D8451C7F5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8" name="椭圆 97">
                <a:extLst>
                  <a:ext uri="{FF2B5EF4-FFF2-40B4-BE49-F238E27FC236}">
                    <a16:creationId xmlns:a16="http://schemas.microsoft.com/office/drawing/2014/main" id="{970FF5DC-DDF9-4BC7-9505-42237D0F34FF}"/>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99" name="椭圆 98">
                <a:extLst>
                  <a:ext uri="{FF2B5EF4-FFF2-40B4-BE49-F238E27FC236}">
                    <a16:creationId xmlns:a16="http://schemas.microsoft.com/office/drawing/2014/main" id="{F60FA58F-63DD-4E73-BD49-FA5A6655430E}"/>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 name="Rectangle 1">
              <a:extLst>
                <a:ext uri="{FF2B5EF4-FFF2-40B4-BE49-F238E27FC236}">
                  <a16:creationId xmlns:a16="http://schemas.microsoft.com/office/drawing/2014/main" id="{6B1CC0B9-4CE2-40F1-ABD6-3B1A84340FB4}"/>
                </a:ext>
              </a:extLst>
            </p:cNvPr>
            <p:cNvSpPr>
              <a:spLocks noChangeArrowheads="1"/>
            </p:cNvSpPr>
            <p:nvPr/>
          </p:nvSpPr>
          <p:spPr bwMode="auto">
            <a:xfrm>
              <a:off x="5634601" y="1131439"/>
              <a:ext cx="3819526" cy="136562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&gt;dev.langchain4j&lt;/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&gt;langchain4j-easy-rag&lt;/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&gt;1.0.1-beta6&lt;/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endParaRPr lang="zh-CN" altLang="zh-CN" sz="2400">
                <a:latin typeface="Arial" panose="020B0604020202020204" pitchFamily="34" charset="0"/>
              </a:endParaRPr>
            </a:p>
          </p:txBody>
        </p:sp>
      </p:grpSp>
      <p:sp>
        <p:nvSpPr>
          <p:cNvPr id="6" name="Rectangle 2">
            <a:extLst>
              <a:ext uri="{FF2B5EF4-FFF2-40B4-BE49-F238E27FC236}">
                <a16:creationId xmlns:a16="http://schemas.microsoft.com/office/drawing/2014/main" id="{1B5095D3-0002-480E-8BB5-9888B93453CB}"/>
              </a:ext>
            </a:extLst>
          </p:cNvPr>
          <p:cNvSpPr>
            <a:spLocks noChangeArrowheads="1"/>
          </p:cNvSpPr>
          <p:nvPr/>
        </p:nvSpPr>
        <p:spPr bwMode="auto">
          <a:xfrm>
            <a:off x="5468851" y="2590236"/>
            <a:ext cx="6492407" cy="27699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a:solidFill>
                  <a:srgbClr val="000000"/>
                </a:solidFill>
                <a:latin typeface="Arial Unicode MS"/>
                <a:ea typeface="JetBrains Mono"/>
              </a:rPr>
              <a:t>List</a:t>
            </a:r>
            <a:r>
              <a:rPr lang="zh-CN" altLang="zh-CN" sz="1200">
                <a:solidFill>
                  <a:srgbClr val="080808"/>
                </a:solidFill>
                <a:latin typeface="Arial Unicode MS"/>
                <a:ea typeface="JetBrains Mono"/>
              </a:rPr>
              <a:t>&lt;</a:t>
            </a:r>
            <a:r>
              <a:rPr lang="zh-CN" altLang="zh-CN" sz="1200">
                <a:solidFill>
                  <a:srgbClr val="000000"/>
                </a:solidFill>
                <a:latin typeface="Arial Unicode MS"/>
                <a:ea typeface="JetBrains Mono"/>
              </a:rPr>
              <a:t>Document</a:t>
            </a:r>
            <a:r>
              <a:rPr lang="zh-CN" altLang="zh-CN" sz="1200">
                <a:solidFill>
                  <a:srgbClr val="080808"/>
                </a:solidFill>
                <a:latin typeface="Arial Unicode MS"/>
                <a:ea typeface="JetBrains Mono"/>
              </a:rPr>
              <a:t>&gt; </a:t>
            </a:r>
            <a:r>
              <a:rPr lang="zh-CN" altLang="zh-CN" sz="1200">
                <a:solidFill>
                  <a:srgbClr val="000000"/>
                </a:solidFill>
                <a:latin typeface="Arial Unicode MS"/>
                <a:ea typeface="JetBrains Mono"/>
              </a:rPr>
              <a:t>documents </a:t>
            </a:r>
            <a:r>
              <a:rPr lang="zh-CN" altLang="zh-CN" sz="1200">
                <a:solidFill>
                  <a:srgbClr val="080808"/>
                </a:solidFill>
                <a:latin typeface="Arial Unicode MS"/>
                <a:ea typeface="JetBrains Mono"/>
              </a:rPr>
              <a:t>= </a:t>
            </a:r>
            <a:r>
              <a:rPr lang="zh-CN" altLang="zh-CN" sz="1200">
                <a:solidFill>
                  <a:srgbClr val="000000"/>
                </a:solidFill>
                <a:latin typeface="Arial Unicode MS"/>
                <a:ea typeface="JetBrains Mono"/>
              </a:rPr>
              <a:t>ClassPathDocumentLoader</a:t>
            </a:r>
            <a:r>
              <a:rPr lang="zh-CN" altLang="zh-CN" sz="1200">
                <a:solidFill>
                  <a:srgbClr val="080808"/>
                </a:solidFill>
                <a:latin typeface="Arial Unicode MS"/>
                <a:ea typeface="JetBrains Mono"/>
              </a:rPr>
              <a:t>.</a:t>
            </a:r>
            <a:r>
              <a:rPr lang="zh-CN" altLang="zh-CN" sz="1200" i="1">
                <a:solidFill>
                  <a:srgbClr val="080808"/>
                </a:solidFill>
                <a:latin typeface="Arial Unicode MS"/>
                <a:ea typeface="JetBrains Mono"/>
              </a:rPr>
              <a:t>loadDocuments</a:t>
            </a:r>
            <a:r>
              <a:rPr lang="zh-CN" altLang="zh-CN" sz="1200">
                <a:solidFill>
                  <a:srgbClr val="080808"/>
                </a:solidFill>
                <a:latin typeface="Arial Unicode MS"/>
                <a:ea typeface="JetBrains Mono"/>
              </a:rPr>
              <a:t>(</a:t>
            </a:r>
            <a:r>
              <a:rPr lang="zh-CN" altLang="zh-CN" sz="1200">
                <a:solidFill>
                  <a:srgbClr val="067D17"/>
                </a:solidFill>
                <a:latin typeface="Arial Unicode MS"/>
                <a:ea typeface="JetBrains Mono"/>
              </a:rPr>
              <a:t>“</a:t>
            </a:r>
            <a:r>
              <a:rPr lang="zh-CN" altLang="en-US" sz="1200">
                <a:solidFill>
                  <a:srgbClr val="067D17"/>
                </a:solidFill>
                <a:latin typeface="Arial Unicode MS"/>
                <a:ea typeface="JetBrains Mono"/>
              </a:rPr>
              <a:t>文档路径</a:t>
            </a:r>
            <a:r>
              <a:rPr lang="zh-CN" altLang="zh-CN" sz="1200">
                <a:solidFill>
                  <a:srgbClr val="067D17"/>
                </a:solidFill>
                <a:latin typeface="Arial Unicode MS"/>
                <a:ea typeface="JetBrains Mono"/>
              </a:rPr>
              <a:t>"</a:t>
            </a:r>
            <a:r>
              <a:rPr lang="zh-CN" altLang="zh-CN" sz="1200">
                <a:solidFill>
                  <a:srgbClr val="080808"/>
                </a:solidFill>
                <a:latin typeface="Arial Unicode MS"/>
                <a:ea typeface="JetBrains Mono"/>
              </a:rPr>
              <a:t>);</a:t>
            </a:r>
            <a:endParaRPr lang="zh-CN" altLang="zh-CN" sz="1200">
              <a:latin typeface="Arial" panose="020B0604020202020204" pitchFamily="34" charset="0"/>
            </a:endParaRPr>
          </a:p>
        </p:txBody>
      </p:sp>
      <p:sp>
        <p:nvSpPr>
          <p:cNvPr id="8" name="Rectangle 4">
            <a:extLst>
              <a:ext uri="{FF2B5EF4-FFF2-40B4-BE49-F238E27FC236}">
                <a16:creationId xmlns:a16="http://schemas.microsoft.com/office/drawing/2014/main" id="{C1B1B891-617F-463F-BC3A-C0F5984DAF54}"/>
              </a:ext>
            </a:extLst>
          </p:cNvPr>
          <p:cNvSpPr>
            <a:spLocks noChangeArrowheads="1"/>
          </p:cNvSpPr>
          <p:nvPr/>
        </p:nvSpPr>
        <p:spPr bwMode="auto">
          <a:xfrm>
            <a:off x="5468851" y="2948940"/>
            <a:ext cx="6492407" cy="27699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200">
                <a:solidFill>
                  <a:srgbClr val="000000"/>
                </a:solidFill>
                <a:latin typeface="Arial Unicode MS"/>
                <a:ea typeface="JetBrains Mono"/>
              </a:rPr>
              <a:t>InMemoryEmbeddingStore</a:t>
            </a:r>
            <a:r>
              <a:rPr lang="zh-CN" altLang="zh-CN" sz="1200">
                <a:solidFill>
                  <a:srgbClr val="080808"/>
                </a:solidFill>
                <a:latin typeface="Arial Unicode MS"/>
                <a:ea typeface="JetBrains Mono"/>
              </a:rPr>
              <a:t>&lt;</a:t>
            </a:r>
            <a:r>
              <a:rPr lang="zh-CN" altLang="zh-CN" sz="1200">
                <a:solidFill>
                  <a:srgbClr val="000000"/>
                </a:solidFill>
                <a:latin typeface="Arial Unicode MS"/>
                <a:ea typeface="JetBrains Mono"/>
              </a:rPr>
              <a:t>TextSegment</a:t>
            </a:r>
            <a:r>
              <a:rPr lang="zh-CN" altLang="zh-CN" sz="1200">
                <a:solidFill>
                  <a:srgbClr val="080808"/>
                </a:solidFill>
                <a:latin typeface="Arial Unicode MS"/>
                <a:ea typeface="JetBrains Mono"/>
              </a:rPr>
              <a:t>&gt; </a:t>
            </a:r>
            <a:r>
              <a:rPr lang="zh-CN" altLang="zh-CN" sz="1200">
                <a:solidFill>
                  <a:srgbClr val="000000"/>
                </a:solidFill>
                <a:latin typeface="Arial Unicode MS"/>
                <a:ea typeface="JetBrains Mono"/>
              </a:rPr>
              <a:t>store </a:t>
            </a:r>
            <a:r>
              <a:rPr lang="zh-CN" altLang="zh-CN" sz="1200">
                <a:solidFill>
                  <a:srgbClr val="080808"/>
                </a:solidFill>
                <a:latin typeface="Arial Unicode MS"/>
                <a:ea typeface="JetBrains Mono"/>
              </a:rPr>
              <a:t>= </a:t>
            </a:r>
            <a:r>
              <a:rPr lang="zh-CN" altLang="zh-CN" sz="1200">
                <a:solidFill>
                  <a:srgbClr val="0033B3"/>
                </a:solidFill>
                <a:latin typeface="Arial Unicode MS"/>
                <a:ea typeface="JetBrains Mono"/>
              </a:rPr>
              <a:t>new </a:t>
            </a:r>
            <a:r>
              <a:rPr lang="zh-CN" altLang="zh-CN" sz="1200">
                <a:solidFill>
                  <a:srgbClr val="080808"/>
                </a:solidFill>
                <a:latin typeface="Arial Unicode MS"/>
                <a:ea typeface="JetBrains Mono"/>
              </a:rPr>
              <a:t>InMemoryEmbeddingStore&lt;&gt;();</a:t>
            </a:r>
            <a:endParaRPr lang="zh-CN" altLang="zh-CN" sz="1200">
              <a:latin typeface="Arial" panose="020B0604020202020204" pitchFamily="34" charset="0"/>
            </a:endParaRPr>
          </a:p>
        </p:txBody>
      </p:sp>
      <p:sp>
        <p:nvSpPr>
          <p:cNvPr id="9" name="Rectangle 5">
            <a:extLst>
              <a:ext uri="{FF2B5EF4-FFF2-40B4-BE49-F238E27FC236}">
                <a16:creationId xmlns:a16="http://schemas.microsoft.com/office/drawing/2014/main" id="{CD0CBB5A-A2B4-4EE3-823B-46233EE1F315}"/>
              </a:ext>
            </a:extLst>
          </p:cNvPr>
          <p:cNvSpPr>
            <a:spLocks noChangeArrowheads="1"/>
          </p:cNvSpPr>
          <p:nvPr/>
        </p:nvSpPr>
        <p:spPr bwMode="auto">
          <a:xfrm>
            <a:off x="5468851" y="3307651"/>
            <a:ext cx="6492407"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EmbeddingStoreIngestor ingestor </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EmbeddingStoreIngestor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br>
              <a:rPr lang="zh-CN" altLang="zh-CN" sz="1300">
                <a:solidFill>
                  <a:srgbClr val="080808"/>
                </a:solidFill>
                <a:latin typeface="Arial Unicode MS"/>
                <a:ea typeface="JetBrains Mono"/>
              </a:rPr>
            </a:br>
            <a:r>
              <a:rPr lang="zh-CN" altLang="zh-CN" sz="1300">
                <a:solidFill>
                  <a:srgbClr val="000000"/>
                </a:solidFill>
                <a:latin typeface="Arial Unicode MS"/>
                <a:ea typeface="JetBrains Mono"/>
              </a:rPr>
              <a:t>ingestor</a:t>
            </a:r>
            <a:r>
              <a:rPr lang="zh-CN" altLang="zh-CN" sz="1300">
                <a:solidFill>
                  <a:srgbClr val="080808"/>
                </a:solidFill>
                <a:latin typeface="Arial Unicode MS"/>
                <a:ea typeface="JetBrains Mono"/>
              </a:rPr>
              <a:t>.ingest(</a:t>
            </a:r>
            <a:r>
              <a:rPr lang="zh-CN" altLang="zh-CN" sz="1300">
                <a:solidFill>
                  <a:srgbClr val="000000"/>
                </a:solidFill>
                <a:latin typeface="Arial Unicode MS"/>
                <a:ea typeface="JetBrains Mono"/>
              </a:rPr>
              <a:t>documents</a:t>
            </a: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sp>
        <p:nvSpPr>
          <p:cNvPr id="11" name="Rectangle 6">
            <a:extLst>
              <a:ext uri="{FF2B5EF4-FFF2-40B4-BE49-F238E27FC236}">
                <a16:creationId xmlns:a16="http://schemas.microsoft.com/office/drawing/2014/main" id="{42730106-C505-4C0A-952C-BE3B9851935B}"/>
              </a:ext>
            </a:extLst>
          </p:cNvPr>
          <p:cNvSpPr>
            <a:spLocks noChangeArrowheads="1"/>
          </p:cNvSpPr>
          <p:nvPr/>
        </p:nvSpPr>
        <p:spPr bwMode="auto">
          <a:xfrm>
            <a:off x="5468851" y="4505960"/>
            <a:ext cx="6492407" cy="1092607"/>
          </a:xfrm>
          <a:prstGeom prst="rect">
            <a:avLst/>
          </a:prstGeom>
          <a:solidFill>
            <a:schemeClr val="tx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a:solidFill>
                  <a:srgbClr val="000000"/>
                </a:solidFill>
                <a:latin typeface="Arial Unicode MS"/>
                <a:ea typeface="JetBrains Mono"/>
              </a:rPr>
              <a:t>EmbeddingStoreContentRetriever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.maxResults(</a:t>
            </a:r>
            <a:r>
              <a:rPr lang="zh-CN" altLang="zh-CN" sz="1300">
                <a:solidFill>
                  <a:srgbClr val="1750EB"/>
                </a:solidFill>
                <a:latin typeface="Arial Unicode MS"/>
                <a:ea typeface="JetBrains Mono"/>
              </a:rPr>
              <a:t>3</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.minScore(</a:t>
            </a:r>
            <a:r>
              <a:rPr lang="zh-CN" altLang="zh-CN" sz="1300">
                <a:solidFill>
                  <a:srgbClr val="1750EB"/>
                </a:solidFill>
                <a:latin typeface="Arial Unicode MS"/>
                <a:ea typeface="JetBrains Mono"/>
              </a:rPr>
              <a:t>0.6</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sp>
        <p:nvSpPr>
          <p:cNvPr id="13" name="Rectangle 7">
            <a:extLst>
              <a:ext uri="{FF2B5EF4-FFF2-40B4-BE49-F238E27FC236}">
                <a16:creationId xmlns:a16="http://schemas.microsoft.com/office/drawing/2014/main" id="{DE018A59-3A5B-4C66-A1DF-DA9AD3E34C0F}"/>
              </a:ext>
            </a:extLst>
          </p:cNvPr>
          <p:cNvSpPr>
            <a:spLocks noChangeArrowheads="1"/>
          </p:cNvSpPr>
          <p:nvPr/>
        </p:nvSpPr>
        <p:spPr bwMode="auto">
          <a:xfrm>
            <a:off x="5468851" y="5715265"/>
            <a:ext cx="6492407" cy="892552"/>
          </a:xfrm>
          <a:prstGeom prst="rect">
            <a:avLst/>
          </a:prstGeom>
          <a:solidFill>
            <a:schemeClr val="tx2">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a:solidFill>
                  <a:srgbClr val="9E880D"/>
                </a:solidFill>
                <a:latin typeface="Arial Unicode MS"/>
                <a:ea typeface="JetBrains Mono"/>
              </a:rPr>
              <a:t>@AiService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wiringMode = </a:t>
            </a:r>
            <a:r>
              <a:rPr lang="zh-CN" altLang="zh-CN" sz="1300">
                <a:solidFill>
                  <a:srgbClr val="000000"/>
                </a:solidFill>
                <a:latin typeface="Arial Unicode MS"/>
                <a:ea typeface="JetBrains Mono"/>
              </a:rPr>
              <a:t>AiServiceWiringMode</a:t>
            </a:r>
            <a:r>
              <a:rPr lang="zh-CN" altLang="zh-CN" sz="1300">
                <a:solidFill>
                  <a:srgbClr val="080808"/>
                </a:solidFill>
                <a:latin typeface="Arial Unicode MS"/>
                <a:ea typeface="JetBrains Mono"/>
              </a:rPr>
              <a:t>.</a:t>
            </a:r>
            <a:r>
              <a:rPr lang="zh-CN" altLang="zh-CN" sz="1300" i="1">
                <a:solidFill>
                  <a:srgbClr val="871094"/>
                </a:solidFill>
                <a:latin typeface="Arial Unicode MS"/>
                <a:ea typeface="JetBrains Mono"/>
              </a:rPr>
              <a:t>EXPLICIT</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contentRetriever = </a:t>
            </a:r>
            <a:r>
              <a:rPr lang="zh-CN" altLang="zh-CN" sz="1300">
                <a:solidFill>
                  <a:srgbClr val="067D17"/>
                </a:solidFill>
                <a:latin typeface="Arial Unicode MS"/>
                <a:ea typeface="JetBrains Mono"/>
              </a:rPr>
              <a:t>"retriever"</a:t>
            </a:r>
            <a:br>
              <a:rPr lang="zh-CN" altLang="zh-CN" sz="1300">
                <a:solidFill>
                  <a:srgbClr val="067D17"/>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spTree>
    <p:extLst>
      <p:ext uri="{BB962C8B-B14F-4D97-AF65-F5344CB8AC3E}">
        <p14:creationId xmlns:p14="http://schemas.microsoft.com/office/powerpoint/2010/main" val="1124010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left)">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7">
                                            <p:txEl>
                                              <p:pRg st="1" end="1"/>
                                            </p:txEl>
                                          </p:spTgt>
                                        </p:tgtEl>
                                        <p:attrNameLst>
                                          <p:attrName>style.visibility</p:attrName>
                                        </p:attrNameLst>
                                      </p:cBhvr>
                                      <p:to>
                                        <p:strVal val="visible"/>
                                      </p:to>
                                    </p:set>
                                    <p:animEffect transition="in" filter="wipe(left)">
                                      <p:cBhvr>
                                        <p:cTn id="12" dur="500"/>
                                        <p:tgtEl>
                                          <p:spTgt spid="87">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animEffect transition="in" filter="wipe(left)">
                                      <p:cBhvr>
                                        <p:cTn id="15" dur="500"/>
                                        <p:tgtEl>
                                          <p:spTgt spid="87">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87">
                                            <p:txEl>
                                              <p:pRg st="3" end="3"/>
                                            </p:txEl>
                                          </p:spTgt>
                                        </p:tgtEl>
                                        <p:attrNameLst>
                                          <p:attrName>style.visibility</p:attrName>
                                        </p:attrNameLst>
                                      </p:cBhvr>
                                      <p:to>
                                        <p:strVal val="visible"/>
                                      </p:to>
                                    </p:set>
                                    <p:animEffect transition="in" filter="wipe(left)">
                                      <p:cBhvr>
                                        <p:cTn id="18" dur="500"/>
                                        <p:tgtEl>
                                          <p:spTgt spid="87">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87">
                                            <p:txEl>
                                              <p:pRg st="4" end="4"/>
                                            </p:txEl>
                                          </p:spTgt>
                                        </p:tgtEl>
                                        <p:attrNameLst>
                                          <p:attrName>style.visibility</p:attrName>
                                        </p:attrNameLst>
                                      </p:cBhvr>
                                      <p:to>
                                        <p:strVal val="visible"/>
                                      </p:to>
                                    </p:set>
                                    <p:animEffect transition="in" filter="wipe(left)">
                                      <p:cBhvr>
                                        <p:cTn id="21" dur="500"/>
                                        <p:tgtEl>
                                          <p:spTgt spid="8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1000"/>
                                        <p:tgtEl>
                                          <p:spTgt spid="9"/>
                                        </p:tgtEl>
                                      </p:cBhvr>
                                    </p:animEffect>
                                    <p:anim calcmode="lin" valueType="num">
                                      <p:cBhvr>
                                        <p:cTn id="48" dur="1000" fill="hold"/>
                                        <p:tgtEl>
                                          <p:spTgt spid="9"/>
                                        </p:tgtEl>
                                        <p:attrNameLst>
                                          <p:attrName>ppt_x</p:attrName>
                                        </p:attrNameLst>
                                      </p:cBhvr>
                                      <p:tavLst>
                                        <p:tav tm="0">
                                          <p:val>
                                            <p:strVal val="#ppt_x"/>
                                          </p:val>
                                        </p:tav>
                                        <p:tav tm="100000">
                                          <p:val>
                                            <p:strVal val="#ppt_x"/>
                                          </p:val>
                                        </p:tav>
                                      </p:tavLst>
                                    </p:anim>
                                    <p:anim calcmode="lin" valueType="num">
                                      <p:cBhvr>
                                        <p:cTn id="4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7">
                                            <p:txEl>
                                              <p:pRg st="6" end="6"/>
                                            </p:txEl>
                                          </p:spTgt>
                                        </p:tgtEl>
                                        <p:attrNameLst>
                                          <p:attrName>style.visibility</p:attrName>
                                        </p:attrNameLst>
                                      </p:cBhvr>
                                      <p:to>
                                        <p:strVal val="visible"/>
                                      </p:to>
                                    </p:set>
                                    <p:animEffect transition="in" filter="wipe(left)">
                                      <p:cBhvr>
                                        <p:cTn id="54" dur="500"/>
                                        <p:tgtEl>
                                          <p:spTgt spid="87">
                                            <p:txEl>
                                              <p:pRg st="6" end="6"/>
                                            </p:txEl>
                                          </p:spTgt>
                                        </p:tgtEl>
                                      </p:cBhvr>
                                    </p:animEffect>
                                  </p:childTnLst>
                                </p:cTn>
                              </p:par>
                              <p:par>
                                <p:cTn id="55" presetID="22" presetClass="entr" presetSubtype="8" fill="hold" nodeType="withEffect">
                                  <p:stCondLst>
                                    <p:cond delay="0"/>
                                  </p:stCondLst>
                                  <p:childTnLst>
                                    <p:set>
                                      <p:cBhvr>
                                        <p:cTn id="56" dur="1" fill="hold">
                                          <p:stCondLst>
                                            <p:cond delay="0"/>
                                          </p:stCondLst>
                                        </p:cTn>
                                        <p:tgtEl>
                                          <p:spTgt spid="87">
                                            <p:txEl>
                                              <p:pRg st="7" end="7"/>
                                            </p:txEl>
                                          </p:spTgt>
                                        </p:tgtEl>
                                        <p:attrNameLst>
                                          <p:attrName>style.visibility</p:attrName>
                                        </p:attrNameLst>
                                      </p:cBhvr>
                                      <p:to>
                                        <p:strVal val="visible"/>
                                      </p:to>
                                    </p:set>
                                    <p:animEffect transition="in" filter="wipe(left)">
                                      <p:cBhvr>
                                        <p:cTn id="57" dur="500"/>
                                        <p:tgtEl>
                                          <p:spTgt spid="87">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1000"/>
                                        <p:tgtEl>
                                          <p:spTgt spid="11"/>
                                        </p:tgtEl>
                                      </p:cBhvr>
                                    </p:animEffect>
                                    <p:anim calcmode="lin" valueType="num">
                                      <p:cBhvr>
                                        <p:cTn id="63" dur="1000" fill="hold"/>
                                        <p:tgtEl>
                                          <p:spTgt spid="11"/>
                                        </p:tgtEl>
                                        <p:attrNameLst>
                                          <p:attrName>ppt_x</p:attrName>
                                        </p:attrNameLst>
                                      </p:cBhvr>
                                      <p:tavLst>
                                        <p:tav tm="0">
                                          <p:val>
                                            <p:strVal val="#ppt_x"/>
                                          </p:val>
                                        </p:tav>
                                        <p:tav tm="100000">
                                          <p:val>
                                            <p:strVal val="#ppt_x"/>
                                          </p:val>
                                        </p:tav>
                                      </p:tavLst>
                                    </p:anim>
                                    <p:anim calcmode="lin" valueType="num">
                                      <p:cBhvr>
                                        <p:cTn id="6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1000"/>
                                        <p:tgtEl>
                                          <p:spTgt spid="13"/>
                                        </p:tgtEl>
                                      </p:cBhvr>
                                    </p:animEffect>
                                    <p:anim calcmode="lin" valueType="num">
                                      <p:cBhvr>
                                        <p:cTn id="70" dur="1000" fill="hold"/>
                                        <p:tgtEl>
                                          <p:spTgt spid="13"/>
                                        </p:tgtEl>
                                        <p:attrNameLst>
                                          <p:attrName>ppt_x</p:attrName>
                                        </p:attrNameLst>
                                      </p:cBhvr>
                                      <p:tavLst>
                                        <p:tav tm="0">
                                          <p:val>
                                            <p:strVal val="#ppt_x"/>
                                          </p:val>
                                        </p:tav>
                                        <p:tav tm="100000">
                                          <p:val>
                                            <p:strVal val="#ppt_x"/>
                                          </p:val>
                                        </p:tav>
                                      </p:tavLst>
                                    </p:anim>
                                    <p:anim calcmode="lin" valueType="num">
                                      <p:cBhvr>
                                        <p:cTn id="7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6" grpId="0" animBg="1"/>
      <p:bldP spid="8" grpId="0" animBg="1"/>
      <p:bldP spid="9" grpId="0" animBg="1"/>
      <p:bldP spid="11"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a:t>LangChain4j</a:t>
            </a:r>
            <a:endParaRPr lang="zh-CN" altLang="en-US"/>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03</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a:t>会话功能</a:t>
            </a:r>
            <a:endParaRPr lang="en-US" altLang="zh-CN"/>
          </a:p>
          <a:p>
            <a:r>
              <a:rPr lang="en-US" altLang="zh-CN"/>
              <a:t>RAG</a:t>
            </a:r>
            <a:r>
              <a:rPr lang="zh-CN" altLang="en-US"/>
              <a:t>知识库</a:t>
            </a:r>
            <a:endParaRPr lang="en-US" altLang="zh-CN"/>
          </a:p>
          <a:p>
            <a:pPr lvl="1"/>
            <a:r>
              <a:rPr lang="zh-CN" altLang="en-US" sz="1400"/>
              <a:t>原理</a:t>
            </a:r>
            <a:endParaRPr lang="en-US" altLang="zh-CN" sz="1400"/>
          </a:p>
          <a:p>
            <a:pPr lvl="1"/>
            <a:r>
              <a:rPr lang="zh-CN" altLang="en-US" sz="1400"/>
              <a:t>快速入门</a:t>
            </a:r>
            <a:endParaRPr lang="en-US" altLang="zh-CN" sz="1400"/>
          </a:p>
          <a:p>
            <a:pPr lvl="1"/>
            <a:r>
              <a:rPr lang="zh-CN" altLang="en-US" sz="1400"/>
              <a:t>核心</a:t>
            </a:r>
            <a:r>
              <a:rPr lang="en-US" altLang="zh-CN" sz="1400"/>
              <a:t>API</a:t>
            </a:r>
          </a:p>
          <a:p>
            <a:r>
              <a:rPr lang="en-US" altLang="zh-CN"/>
              <a:t>Tools</a:t>
            </a:r>
            <a:r>
              <a:rPr lang="zh-CN" altLang="en-US"/>
              <a:t>工具</a:t>
            </a:r>
            <a:endParaRPr lang="en-US" altLang="zh-CN"/>
          </a:p>
        </p:txBody>
      </p:sp>
    </p:spTree>
    <p:custDataLst>
      <p:custData r:id="rId1"/>
    </p:custDataLst>
    <p:extLst>
      <p:ext uri="{BB962C8B-B14F-4D97-AF65-F5344CB8AC3E}">
        <p14:creationId xmlns:p14="http://schemas.microsoft.com/office/powerpoint/2010/main" val="1547198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400"/>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400"/>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t>文档加载器</a:t>
            </a:r>
            <a:endParaRPr lang="en-US" altLang="zh-CN" sz="1000"/>
          </a:p>
          <a:p>
            <a:pPr algn="ctr"/>
            <a:r>
              <a:rPr lang="en-US" altLang="zh-CN" sz="1000"/>
              <a:t>Document Loader</a:t>
            </a:r>
            <a:endParaRPr lang="zh-CN" altLang="en-US" sz="1000"/>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t>文档解析器</a:t>
            </a:r>
            <a:endParaRPr lang="en-US" altLang="zh-CN" sz="1000"/>
          </a:p>
          <a:p>
            <a:pPr algn="ctr"/>
            <a:r>
              <a:rPr lang="en-US" altLang="zh-CN" sz="1000"/>
              <a:t>Document Parser</a:t>
            </a:r>
            <a:endParaRPr lang="zh-CN" altLang="en-US" sz="1000"/>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000"/>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000"/>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文档</a:t>
            </a:r>
            <a:endParaRPr lang="en-US" altLang="zh-CN" sz="1000"/>
          </a:p>
          <a:p>
            <a:pPr algn="ctr"/>
            <a:r>
              <a:rPr lang="en-US" altLang="zh-CN" sz="1000"/>
              <a:t>Document</a:t>
            </a:r>
            <a:endParaRPr lang="zh-CN" altLang="en-US" sz="1000"/>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t>文档分割器</a:t>
            </a:r>
            <a:endParaRPr lang="en-US" altLang="zh-CN" sz="1000"/>
          </a:p>
          <a:p>
            <a:pPr algn="ctr"/>
            <a:r>
              <a:rPr lang="en-US" altLang="zh-CN" sz="1000"/>
              <a:t>Document Splitter</a:t>
            </a:r>
            <a:endParaRPr lang="zh-CN" altLang="en-US" sz="1000"/>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文本片段</a:t>
            </a:r>
            <a:endParaRPr lang="en-US" altLang="zh-CN" sz="1000"/>
          </a:p>
          <a:p>
            <a:pPr algn="ctr"/>
            <a:r>
              <a:rPr lang="en-US" altLang="zh-CN" sz="1000" err="1"/>
              <a:t>TextSegment</a:t>
            </a:r>
            <a:endParaRPr lang="zh-CN" altLang="en-US" sz="1000"/>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t>向量模型</a:t>
            </a:r>
            <a:endParaRPr lang="en-US" altLang="zh-CN" sz="1000"/>
          </a:p>
          <a:p>
            <a:pPr algn="ctr"/>
            <a:r>
              <a:rPr lang="en-US" altLang="zh-CN" sz="1000" err="1"/>
              <a:t>EmbeddingModel</a:t>
            </a:r>
            <a:endParaRPr lang="zh-CN" altLang="en-US" sz="1000"/>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a:t>
            </a:r>
            <a:endParaRPr lang="en-US" altLang="zh-CN" sz="1000"/>
          </a:p>
          <a:p>
            <a:pPr algn="ctr"/>
            <a:r>
              <a:rPr lang="en-US" altLang="zh-CN" sz="1000"/>
              <a:t>Embedding</a:t>
            </a:r>
            <a:endParaRPr lang="zh-CN" altLang="en-US" sz="1000"/>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000"/>
              <a:t>向量数据库操作对象</a:t>
            </a:r>
            <a:r>
              <a:rPr lang="en-US" altLang="zh-CN" sz="1000" err="1"/>
              <a:t>EmbeddingStore</a:t>
            </a:r>
            <a:endParaRPr lang="zh-CN" altLang="en-US" sz="1000"/>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000"/>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351" err="1">
                <a:solidFill>
                  <a:srgbClr val="C00000"/>
                </a:solidFill>
              </a:rPr>
              <a:t>EmbeddingStoreIngestor</a:t>
            </a:r>
            <a:endParaRPr lang="zh-CN" altLang="en-US" sz="1351">
              <a:solidFill>
                <a:srgbClr val="C00000"/>
              </a:solidFill>
            </a:endParaRPr>
          </a:p>
        </p:txBody>
      </p:sp>
    </p:spTree>
    <p:extLst>
      <p:ext uri="{BB962C8B-B14F-4D97-AF65-F5344CB8AC3E}">
        <p14:creationId xmlns:p14="http://schemas.microsoft.com/office/powerpoint/2010/main" val="2890073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left)">
                                      <p:cBhvr>
                                        <p:cTn id="50" dur="500"/>
                                        <p:tgtEl>
                                          <p:spTgt spid="31"/>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500"/>
                                        <p:tgtEl>
                                          <p:spTgt spid="21"/>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left)">
                                      <p:cBhvr>
                                        <p:cTn id="58" dur="500"/>
                                        <p:tgtEl>
                                          <p:spTgt spid="33"/>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wipe(left)">
                                      <p:cBhvr>
                                        <p:cTn id="62" dur="500"/>
                                        <p:tgtEl>
                                          <p:spTgt spid="34"/>
                                        </p:tgtEl>
                                      </p:cBhvr>
                                    </p:animEffect>
                                  </p:childTnLst>
                                </p:cTn>
                              </p:par>
                            </p:childTnLst>
                          </p:cTn>
                        </p:par>
                        <p:par>
                          <p:cTn id="63" fill="hold">
                            <p:stCondLst>
                              <p:cond delay="2000"/>
                            </p:stCondLst>
                            <p:childTnLst>
                              <p:par>
                                <p:cTn id="64" presetID="22" presetClass="entr" presetSubtype="8" fill="hold" grpId="0" nodeType="after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wipe(left)">
                                      <p:cBhvr>
                                        <p:cTn id="66" dur="500"/>
                                        <p:tgtEl>
                                          <p:spTgt spid="35"/>
                                        </p:tgtEl>
                                      </p:cBhvr>
                                    </p:animEffect>
                                  </p:childTnLst>
                                </p:cTn>
                              </p:par>
                            </p:childTnLst>
                          </p:cTn>
                        </p:par>
                        <p:par>
                          <p:cTn id="67" fill="hold">
                            <p:stCondLst>
                              <p:cond delay="2500"/>
                            </p:stCondLst>
                            <p:childTnLst>
                              <p:par>
                                <p:cTn id="68" presetID="22" presetClass="entr" presetSubtype="8" fill="hold" grpId="0"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childTnLst>
                          </p:cTn>
                        </p:par>
                        <p:par>
                          <p:cTn id="71" fill="hold">
                            <p:stCondLst>
                              <p:cond delay="3000"/>
                            </p:stCondLst>
                            <p:childTnLst>
                              <p:par>
                                <p:cTn id="72" presetID="22" presetClass="entr" presetSubtype="8" fill="hold" grpId="0" nodeType="after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childTnLst>
                          </p:cTn>
                        </p:par>
                        <p:par>
                          <p:cTn id="75" fill="hold">
                            <p:stCondLst>
                              <p:cond delay="3500"/>
                            </p:stCondLst>
                            <p:childTnLst>
                              <p:par>
                                <p:cTn id="76" presetID="22" presetClass="entr" presetSubtype="8"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left)">
                                      <p:cBhvr>
                                        <p:cTn id="78" dur="500"/>
                                        <p:tgtEl>
                                          <p:spTgt spid="38"/>
                                        </p:tgtEl>
                                      </p:cBhvr>
                                    </p:animEffect>
                                  </p:childTnLst>
                                </p:cTn>
                              </p:par>
                            </p:childTnLst>
                          </p:cTn>
                        </p:par>
                        <p:par>
                          <p:cTn id="79" fill="hold">
                            <p:stCondLst>
                              <p:cond delay="4000"/>
                            </p:stCondLst>
                            <p:childTnLst>
                              <p:par>
                                <p:cTn id="80" presetID="22" presetClass="entr" presetSubtype="8"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wipe(left)">
                                      <p:cBhvr>
                                        <p:cTn id="82" dur="5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right)">
                                      <p:cBhvr>
                                        <p:cTn id="87" dur="500"/>
                                        <p:tgtEl>
                                          <p:spTgt spid="30"/>
                                        </p:tgtEl>
                                      </p:cBhvr>
                                    </p:animEffect>
                                  </p:childTnLst>
                                </p:cTn>
                              </p:par>
                              <p:par>
                                <p:cTn id="88" presetID="22" presetClass="entr" presetSubtype="2"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wipe(right)">
                                      <p:cBhvr>
                                        <p:cTn id="90" dur="500"/>
                                        <p:tgtEl>
                                          <p:spTgt spid="56"/>
                                        </p:tgtEl>
                                      </p:cBhvr>
                                    </p:animEffect>
                                  </p:childTnLst>
                                </p:cTn>
                              </p:par>
                            </p:childTnLst>
                          </p:cTn>
                        </p:par>
                        <p:par>
                          <p:cTn id="91" fill="hold">
                            <p:stCondLst>
                              <p:cond delay="500"/>
                            </p:stCondLst>
                            <p:childTnLst>
                              <p:par>
                                <p:cTn id="92" presetID="22" presetClass="entr" presetSubtype="2" fill="hold" grpId="0" nodeType="afterEffect">
                                  <p:stCondLst>
                                    <p:cond delay="0"/>
                                  </p:stCondLst>
                                  <p:childTnLst>
                                    <p:set>
                                      <p:cBhvr>
                                        <p:cTn id="93" dur="1" fill="hold">
                                          <p:stCondLst>
                                            <p:cond delay="0"/>
                                          </p:stCondLst>
                                        </p:cTn>
                                        <p:tgtEl>
                                          <p:spTgt spid="50"/>
                                        </p:tgtEl>
                                        <p:attrNameLst>
                                          <p:attrName>style.visibility</p:attrName>
                                        </p:attrNameLst>
                                      </p:cBhvr>
                                      <p:to>
                                        <p:strVal val="visible"/>
                                      </p:to>
                                    </p:set>
                                    <p:animEffect transition="in" filter="wipe(right)">
                                      <p:cBhvr>
                                        <p:cTn id="94" dur="500"/>
                                        <p:tgtEl>
                                          <p:spTgt spid="50"/>
                                        </p:tgtEl>
                                      </p:cBhvr>
                                    </p:animEffect>
                                  </p:childTnLst>
                                </p:cTn>
                              </p:par>
                            </p:childTnLst>
                          </p:cTn>
                        </p:par>
                        <p:par>
                          <p:cTn id="95" fill="hold">
                            <p:stCondLst>
                              <p:cond delay="1000"/>
                            </p:stCondLst>
                            <p:childTnLst>
                              <p:par>
                                <p:cTn id="96" presetID="22" presetClass="entr" presetSubtype="2" fill="hold" grpId="0" nodeType="afterEffect">
                                  <p:stCondLst>
                                    <p:cond delay="0"/>
                                  </p:stCondLst>
                                  <p:childTnLst>
                                    <p:set>
                                      <p:cBhvr>
                                        <p:cTn id="97" dur="1" fill="hold">
                                          <p:stCondLst>
                                            <p:cond delay="0"/>
                                          </p:stCondLst>
                                        </p:cTn>
                                        <p:tgtEl>
                                          <p:spTgt spid="59"/>
                                        </p:tgtEl>
                                        <p:attrNameLst>
                                          <p:attrName>style.visibility</p:attrName>
                                        </p:attrNameLst>
                                      </p:cBhvr>
                                      <p:to>
                                        <p:strVal val="visible"/>
                                      </p:to>
                                    </p:set>
                                    <p:animEffect transition="in" filter="wipe(right)">
                                      <p:cBhvr>
                                        <p:cTn id="98" dur="500"/>
                                        <p:tgtEl>
                                          <p:spTgt spid="59"/>
                                        </p:tgtEl>
                                      </p:cBhvr>
                                    </p:animEffect>
                                  </p:childTnLst>
                                </p:cTn>
                              </p:par>
                            </p:childTnLst>
                          </p:cTn>
                        </p:par>
                        <p:par>
                          <p:cTn id="99" fill="hold">
                            <p:stCondLst>
                              <p:cond delay="1500"/>
                            </p:stCondLst>
                            <p:childTnLst>
                              <p:par>
                                <p:cTn id="100" presetID="22" presetClass="entr" presetSubtype="2" fill="hold" grpId="0" nodeType="afterEffect">
                                  <p:stCondLst>
                                    <p:cond delay="0"/>
                                  </p:stCondLst>
                                  <p:childTnLst>
                                    <p:set>
                                      <p:cBhvr>
                                        <p:cTn id="101" dur="1" fill="hold">
                                          <p:stCondLst>
                                            <p:cond delay="0"/>
                                          </p:stCondLst>
                                        </p:cTn>
                                        <p:tgtEl>
                                          <p:spTgt spid="60"/>
                                        </p:tgtEl>
                                        <p:attrNameLst>
                                          <p:attrName>style.visibility</p:attrName>
                                        </p:attrNameLst>
                                      </p:cBhvr>
                                      <p:to>
                                        <p:strVal val="visible"/>
                                      </p:to>
                                    </p:set>
                                    <p:animEffect transition="in" filter="wipe(right)">
                                      <p:cBhvr>
                                        <p:cTn id="102" dur="500"/>
                                        <p:tgtEl>
                                          <p:spTgt spid="60"/>
                                        </p:tgtEl>
                                      </p:cBhvr>
                                    </p:animEffect>
                                  </p:childTnLst>
                                </p:cTn>
                              </p:par>
                            </p:childTnLst>
                          </p:cTn>
                        </p:par>
                        <p:par>
                          <p:cTn id="103" fill="hold">
                            <p:stCondLst>
                              <p:cond delay="2000"/>
                            </p:stCondLst>
                            <p:childTnLst>
                              <p:par>
                                <p:cTn id="104" presetID="22" presetClass="entr" presetSubtype="2" fill="hold" grpId="0" nodeType="afterEffect">
                                  <p:stCondLst>
                                    <p:cond delay="0"/>
                                  </p:stCondLst>
                                  <p:childTnLst>
                                    <p:set>
                                      <p:cBhvr>
                                        <p:cTn id="105" dur="1" fill="hold">
                                          <p:stCondLst>
                                            <p:cond delay="0"/>
                                          </p:stCondLst>
                                        </p:cTn>
                                        <p:tgtEl>
                                          <p:spTgt spid="61"/>
                                        </p:tgtEl>
                                        <p:attrNameLst>
                                          <p:attrName>style.visibility</p:attrName>
                                        </p:attrNameLst>
                                      </p:cBhvr>
                                      <p:to>
                                        <p:strVal val="visible"/>
                                      </p:to>
                                    </p:set>
                                    <p:animEffect transition="in" filter="wipe(right)">
                                      <p:cBhvr>
                                        <p:cTn id="106" dur="500"/>
                                        <p:tgtEl>
                                          <p:spTgt spid="61"/>
                                        </p:tgtEl>
                                      </p:cBhvr>
                                    </p:animEffect>
                                  </p:childTnLst>
                                </p:cTn>
                              </p:par>
                            </p:childTnLst>
                          </p:cTn>
                        </p:par>
                        <p:par>
                          <p:cTn id="107" fill="hold">
                            <p:stCondLst>
                              <p:cond delay="2500"/>
                            </p:stCondLst>
                            <p:childTnLst>
                              <p:par>
                                <p:cTn id="108" presetID="22" presetClass="entr" presetSubtype="2" fill="hold" grpId="0" nodeType="after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wipe(right)">
                                      <p:cBhvr>
                                        <p:cTn id="110" dur="500"/>
                                        <p:tgtEl>
                                          <p:spTgt spid="62"/>
                                        </p:tgtEl>
                                      </p:cBhvr>
                                    </p:animEffect>
                                  </p:childTnLst>
                                </p:cTn>
                              </p:par>
                            </p:childTnLst>
                          </p:cTn>
                        </p:par>
                        <p:par>
                          <p:cTn id="111" fill="hold">
                            <p:stCondLst>
                              <p:cond delay="3000"/>
                            </p:stCondLst>
                            <p:childTnLst>
                              <p:par>
                                <p:cTn id="112" presetID="22" presetClass="entr" presetSubtype="2" fill="hold" grpId="0" nodeType="afterEffect">
                                  <p:stCondLst>
                                    <p:cond delay="0"/>
                                  </p:stCondLst>
                                  <p:childTnLst>
                                    <p:set>
                                      <p:cBhvr>
                                        <p:cTn id="113" dur="1" fill="hold">
                                          <p:stCondLst>
                                            <p:cond delay="0"/>
                                          </p:stCondLst>
                                        </p:cTn>
                                        <p:tgtEl>
                                          <p:spTgt spid="63"/>
                                        </p:tgtEl>
                                        <p:attrNameLst>
                                          <p:attrName>style.visibility</p:attrName>
                                        </p:attrNameLst>
                                      </p:cBhvr>
                                      <p:to>
                                        <p:strVal val="visible"/>
                                      </p:to>
                                    </p:set>
                                    <p:animEffect transition="in" filter="wipe(right)">
                                      <p:cBhvr>
                                        <p:cTn id="114" dur="500"/>
                                        <p:tgtEl>
                                          <p:spTgt spid="63"/>
                                        </p:tgtEl>
                                      </p:cBhvr>
                                    </p:animEffect>
                                  </p:childTnLst>
                                </p:cTn>
                              </p:par>
                            </p:childTnLst>
                          </p:cTn>
                        </p:par>
                        <p:par>
                          <p:cTn id="115" fill="hold">
                            <p:stCondLst>
                              <p:cond delay="3500"/>
                            </p:stCondLst>
                            <p:childTnLst>
                              <p:par>
                                <p:cTn id="116" presetID="22" presetClass="entr" presetSubtype="2" fill="hold" grpId="0" nodeType="afterEffect">
                                  <p:stCondLst>
                                    <p:cond delay="0"/>
                                  </p:stCondLst>
                                  <p:childTnLst>
                                    <p:set>
                                      <p:cBhvr>
                                        <p:cTn id="117" dur="1" fill="hold">
                                          <p:stCondLst>
                                            <p:cond delay="0"/>
                                          </p:stCondLst>
                                        </p:cTn>
                                        <p:tgtEl>
                                          <p:spTgt spid="64"/>
                                        </p:tgtEl>
                                        <p:attrNameLst>
                                          <p:attrName>style.visibility</p:attrName>
                                        </p:attrNameLst>
                                      </p:cBhvr>
                                      <p:to>
                                        <p:strVal val="visible"/>
                                      </p:to>
                                    </p:set>
                                    <p:animEffect transition="in" filter="wipe(right)">
                                      <p:cBhvr>
                                        <p:cTn id="118" dur="500"/>
                                        <p:tgtEl>
                                          <p:spTgt spid="6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2" fill="hold" grpId="0" nodeType="clickEffect">
                                  <p:stCondLst>
                                    <p:cond delay="0"/>
                                  </p:stCondLst>
                                  <p:childTnLst>
                                    <p:set>
                                      <p:cBhvr>
                                        <p:cTn id="122" dur="1" fill="hold">
                                          <p:stCondLst>
                                            <p:cond delay="0"/>
                                          </p:stCondLst>
                                        </p:cTn>
                                        <p:tgtEl>
                                          <p:spTgt spid="68"/>
                                        </p:tgtEl>
                                        <p:attrNameLst>
                                          <p:attrName>style.visibility</p:attrName>
                                        </p:attrNameLst>
                                      </p:cBhvr>
                                      <p:to>
                                        <p:strVal val="visible"/>
                                      </p:to>
                                    </p:set>
                                    <p:animEffect transition="in" filter="wipe(right)">
                                      <p:cBhvr>
                                        <p:cTn id="123" dur="500"/>
                                        <p:tgtEl>
                                          <p:spTgt spid="68"/>
                                        </p:tgtEl>
                                      </p:cBhvr>
                                    </p:animEffect>
                                  </p:childTnLst>
                                </p:cTn>
                              </p:par>
                              <p:par>
                                <p:cTn id="124" presetID="22" presetClass="entr" presetSubtype="2" fill="hold"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wipe(right)">
                                      <p:cBhvr>
                                        <p:cTn id="126" dur="500"/>
                                        <p:tgtEl>
                                          <p:spTgt spid="52"/>
                                        </p:tgtEl>
                                      </p:cBhvr>
                                    </p:animEffect>
                                  </p:childTnLst>
                                </p:cTn>
                              </p:par>
                            </p:childTnLst>
                          </p:cTn>
                        </p:par>
                        <p:par>
                          <p:cTn id="127" fill="hold">
                            <p:stCondLst>
                              <p:cond delay="500"/>
                            </p:stCondLst>
                            <p:childTnLst>
                              <p:par>
                                <p:cTn id="128" presetID="22" presetClass="entr" presetSubtype="2" fill="hold" grpId="0" nodeType="after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wipe(right)">
                                      <p:cBhvr>
                                        <p:cTn id="130" dur="500"/>
                                        <p:tgtEl>
                                          <p:spTgt spid="54"/>
                                        </p:tgtEl>
                                      </p:cBhvr>
                                    </p:animEffect>
                                  </p:childTnLst>
                                </p:cTn>
                              </p:par>
                            </p:childTnLst>
                          </p:cTn>
                        </p:par>
                      </p:childTnLst>
                    </p:cTn>
                  </p:par>
                  <p:par>
                    <p:cTn id="131" fill="hold">
                      <p:stCondLst>
                        <p:cond delay="indefinite"/>
                      </p:stCondLst>
                      <p:childTnLst>
                        <p:par>
                          <p:cTn id="132" fill="hold">
                            <p:stCondLst>
                              <p:cond delay="0"/>
                            </p:stCondLst>
                            <p:childTnLst>
                              <p:par>
                                <p:cTn id="133" presetID="16" presetClass="entr" presetSubtype="21" fill="hold" grpId="0" nodeType="clickEffect">
                                  <p:stCondLst>
                                    <p:cond delay="0"/>
                                  </p:stCondLst>
                                  <p:childTnLst>
                                    <p:set>
                                      <p:cBhvr>
                                        <p:cTn id="134" dur="1" fill="hold">
                                          <p:stCondLst>
                                            <p:cond delay="0"/>
                                          </p:stCondLst>
                                        </p:cTn>
                                        <p:tgtEl>
                                          <p:spTgt spid="81"/>
                                        </p:tgtEl>
                                        <p:attrNameLst>
                                          <p:attrName>style.visibility</p:attrName>
                                        </p:attrNameLst>
                                      </p:cBhvr>
                                      <p:to>
                                        <p:strVal val="visible"/>
                                      </p:to>
                                    </p:set>
                                    <p:animEffect transition="in" filter="barn(inVertical)">
                                      <p:cBhvr>
                                        <p:cTn id="135"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18" grpId="0" animBg="1"/>
      <p:bldP spid="14" grpId="0" animBg="1"/>
      <p:bldP spid="24" grpId="0" animBg="1"/>
      <p:bldP spid="16" grpId="0" animBg="1"/>
      <p:bldP spid="27" grpId="0" animBg="1"/>
      <p:bldP spid="28" grpId="0" animBg="1"/>
      <p:bldP spid="31" grpId="0" animBg="1"/>
      <p:bldP spid="21" grpId="0" animBg="1"/>
      <p:bldP spid="33" grpId="0" animBg="1"/>
      <p:bldP spid="34" grpId="0" animBg="1"/>
      <p:bldP spid="35" grpId="0" animBg="1"/>
      <p:bldP spid="36" grpId="0" animBg="1"/>
      <p:bldP spid="37" grpId="0" animBg="1"/>
      <p:bldP spid="38" grpId="0" animBg="1"/>
      <p:bldP spid="39" grpId="0" animBg="1"/>
      <p:bldP spid="56" grpId="0" animBg="1"/>
      <p:bldP spid="50" grpId="0" animBg="1"/>
      <p:bldP spid="59" grpId="0" animBg="1"/>
      <p:bldP spid="60" grpId="0" animBg="1"/>
      <p:bldP spid="61" grpId="0" animBg="1"/>
      <p:bldP spid="62" grpId="0" animBg="1"/>
      <p:bldP spid="63" grpId="0" animBg="1"/>
      <p:bldP spid="64" grpId="0" animBg="1"/>
      <p:bldP spid="68" grpId="0" animBg="1"/>
      <p:bldP spid="54" grpId="0" animBg="1"/>
      <p:bldP spid="8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文档加载器，用于把磁盘或者网络中的数据加载进程序</a:t>
            </a:r>
            <a:endParaRPr lang="en-US" altLang="zh-CN">
              <a:solidFill>
                <a:srgbClr val="262626"/>
              </a:solidFill>
              <a:latin typeface="阿里巴巴普惠体"/>
              <a:ea typeface="阿里巴巴普惠体"/>
            </a:endParaRPr>
          </a:p>
        </p:txBody>
      </p:sp>
      <p:sp>
        <p:nvSpPr>
          <p:cNvPr id="41" name="内容占位符 1">
            <a:extLst>
              <a:ext uri="{FF2B5EF4-FFF2-40B4-BE49-F238E27FC236}">
                <a16:creationId xmlns:a16="http://schemas.microsoft.com/office/drawing/2014/main" id="{2838E566-2120-4F47-AB60-808CE15D9C55}"/>
              </a:ext>
            </a:extLst>
          </p:cNvPr>
          <p:cNvSpPr txBox="1">
            <a:spLocks/>
          </p:cNvSpPr>
          <p:nvPr/>
        </p:nvSpPr>
        <p:spPr>
          <a:xfrm>
            <a:off x="576198" y="1651501"/>
            <a:ext cx="7501004"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buFont typeface="Wingdings" panose="05000000000000000000" pitchFamily="2" charset="2"/>
              <a:buChar char="l"/>
              <a:defRPr/>
            </a:pPr>
            <a:r>
              <a:rPr lang="en-US" altLang="zh-CN"/>
              <a:t>FileSystemDocumentLoader, </a:t>
            </a:r>
            <a:r>
              <a:rPr lang="zh-CN" altLang="en-US"/>
              <a:t>根据本地磁盘绝对路径加载</a:t>
            </a:r>
            <a:endParaRPr lang="en-US" altLang="zh-CN"/>
          </a:p>
          <a:p>
            <a:pPr lvl="0">
              <a:lnSpc>
                <a:spcPct val="150000"/>
              </a:lnSpc>
              <a:buFont typeface="Wingdings" panose="05000000000000000000" pitchFamily="2" charset="2"/>
              <a:buChar char="l"/>
              <a:defRPr/>
            </a:pPr>
            <a:r>
              <a:rPr lang="en-US" altLang="zh-CN" err="1"/>
              <a:t>ClassPathDocumentLoader</a:t>
            </a:r>
            <a:r>
              <a:rPr lang="zh-CN" altLang="en-US"/>
              <a:t>，相对于类路径加载</a:t>
            </a:r>
            <a:endParaRPr lang="en-US" altLang="zh-CN"/>
          </a:p>
          <a:p>
            <a:pPr lvl="0">
              <a:lnSpc>
                <a:spcPct val="150000"/>
              </a:lnSpc>
              <a:buFont typeface="Wingdings" panose="05000000000000000000" pitchFamily="2" charset="2"/>
              <a:buChar char="l"/>
              <a:defRPr/>
            </a:pPr>
            <a:r>
              <a:rPr lang="en-US" altLang="zh-CN" err="1"/>
              <a:t>UrlDocumentLoader</a:t>
            </a:r>
            <a:r>
              <a:rPr lang="zh-CN" altLang="en-US"/>
              <a:t>，根据</a:t>
            </a:r>
            <a:r>
              <a:rPr lang="en-US" altLang="zh-CN" err="1"/>
              <a:t>url</a:t>
            </a:r>
            <a:r>
              <a:rPr lang="zh-CN" altLang="en-US"/>
              <a:t>路径加载</a:t>
            </a:r>
            <a:endParaRPr lang="en-US" altLang="zh-CN"/>
          </a:p>
          <a:p>
            <a:pPr lvl="0">
              <a:lnSpc>
                <a:spcPct val="150000"/>
              </a:lnSpc>
              <a:buFont typeface="Wingdings" panose="05000000000000000000" pitchFamily="2" charset="2"/>
              <a:buChar char="l"/>
              <a:defRPr/>
            </a:pPr>
            <a:r>
              <a:rPr lang="en-US" altLang="zh-CN">
                <a:solidFill>
                  <a:srgbClr val="2F2F2F"/>
                </a:solidFill>
              </a:rPr>
              <a:t>……</a:t>
            </a:r>
          </a:p>
        </p:txBody>
      </p:sp>
    </p:spTree>
    <p:extLst>
      <p:ext uri="{BB962C8B-B14F-4D97-AF65-F5344CB8AC3E}">
        <p14:creationId xmlns:p14="http://schemas.microsoft.com/office/powerpoint/2010/main" val="807374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文档加载器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Loader</a:t>
            </a:r>
            <a:endParaRPr lang="zh-CN" altLang="en-US" sz="100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文档解析器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Parser</a:t>
            </a:r>
            <a:endParaRPr lang="zh-CN" altLang="en-US" sz="100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a:t>
            </a:r>
            <a:endParaRPr lang="zh-CN" altLang="en-US" sz="100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文档分割器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Splitter</a:t>
            </a:r>
            <a:endParaRPr lang="zh-CN" altLang="en-US" sz="100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向量模型</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EmbeddingModel</a:t>
            </a:r>
            <a:endParaRPr lang="zh-CN" altLang="en-US" sz="100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向量数据库操作对象</a:t>
            </a:r>
            <a:r>
              <a:rPr lang="en-US" altLang="zh-CN" sz="1000" err="1">
                <a:solidFill>
                  <a:srgbClr val="FFFFFF"/>
                </a:solidFill>
                <a:latin typeface="Source Code Pro"/>
              </a:rPr>
              <a:t>EmbeddingStore</a:t>
            </a:r>
            <a:endParaRPr lang="zh-CN" altLang="en-US" sz="100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err="1">
                <a:solidFill>
                  <a:srgbClr val="C00000"/>
                </a:solidFill>
                <a:latin typeface="Source Code Pro"/>
              </a:rPr>
              <a:t>EmbeddingStoreIngestor</a:t>
            </a:r>
            <a:endParaRPr lang="zh-CN" altLang="en-US" sz="2400">
              <a:solidFill>
                <a:srgbClr val="C00000"/>
              </a:solidFill>
              <a:latin typeface="Source Code Pro"/>
            </a:endParaRPr>
          </a:p>
        </p:txBody>
      </p:sp>
    </p:spTree>
    <p:extLst>
      <p:ext uri="{BB962C8B-B14F-4D97-AF65-F5344CB8AC3E}">
        <p14:creationId xmlns:p14="http://schemas.microsoft.com/office/powerpoint/2010/main" val="1209162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文档解析器，用于解析使用文档加载器加载进内存的内容，把非纯文本数据转化成纯文本</a:t>
            </a:r>
            <a:endParaRPr lang="en-US" altLang="zh-CN">
              <a:solidFill>
                <a:srgbClr val="262626"/>
              </a:solidFill>
              <a:latin typeface="阿里巴巴普惠体"/>
              <a:ea typeface="阿里巴巴普惠体"/>
            </a:endParaRPr>
          </a:p>
        </p:txBody>
      </p:sp>
      <p:sp>
        <p:nvSpPr>
          <p:cNvPr id="41" name="内容占位符 1">
            <a:extLst>
              <a:ext uri="{FF2B5EF4-FFF2-40B4-BE49-F238E27FC236}">
                <a16:creationId xmlns:a16="http://schemas.microsoft.com/office/drawing/2014/main" id="{2838E566-2120-4F47-AB60-808CE15D9C55}"/>
              </a:ext>
            </a:extLst>
          </p:cNvPr>
          <p:cNvSpPr txBox="1">
            <a:spLocks/>
          </p:cNvSpPr>
          <p:nvPr/>
        </p:nvSpPr>
        <p:spPr>
          <a:xfrm>
            <a:off x="576196" y="1622925"/>
            <a:ext cx="9377429"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89" indent="-228589" defTabSz="914354">
              <a:lnSpc>
                <a:spcPct val="150000"/>
              </a:lnSpc>
              <a:buFont typeface="Wingdings" panose="05000000000000000000" pitchFamily="2" charset="2"/>
              <a:buChar char="l"/>
              <a:defRPr/>
            </a:pPr>
            <a:r>
              <a:rPr lang="en-US" altLang="zh-CN" err="1">
                <a:solidFill>
                  <a:srgbClr val="2F2F2F"/>
                </a:solidFill>
                <a:latin typeface="Source Code Pro"/>
              </a:rPr>
              <a:t>TextDocumentParser</a:t>
            </a:r>
            <a:r>
              <a:rPr lang="zh-CN" altLang="en-US">
                <a:solidFill>
                  <a:srgbClr val="2F2F2F"/>
                </a:solidFill>
                <a:latin typeface="Source Code Pro"/>
              </a:rPr>
              <a:t>，解析纯文本格式的文件</a:t>
            </a:r>
            <a:endParaRPr lang="en-US" altLang="zh-CN">
              <a:solidFill>
                <a:srgbClr val="2F2F2F"/>
              </a:solidFill>
              <a:latin typeface="Source Code Pro"/>
            </a:endParaRPr>
          </a:p>
          <a:p>
            <a:pPr lvl="0">
              <a:lnSpc>
                <a:spcPct val="150000"/>
              </a:lnSpc>
              <a:buFont typeface="Wingdings" panose="05000000000000000000" pitchFamily="2" charset="2"/>
              <a:buChar char="l"/>
              <a:defRPr/>
            </a:pPr>
            <a:r>
              <a:rPr lang="en-US" altLang="zh-CN" err="1"/>
              <a:t>ApachePdfBoxDocumentParser</a:t>
            </a:r>
            <a:r>
              <a:rPr lang="zh-CN" altLang="en-US"/>
              <a:t>，解析</a:t>
            </a:r>
            <a:r>
              <a:rPr lang="en-US" altLang="zh-CN"/>
              <a:t>pdf</a:t>
            </a:r>
            <a:r>
              <a:rPr lang="zh-CN" altLang="en-US"/>
              <a:t>格式文件</a:t>
            </a:r>
            <a:endParaRPr lang="en-US" altLang="zh-CN"/>
          </a:p>
          <a:p>
            <a:pPr lvl="0">
              <a:lnSpc>
                <a:spcPct val="150000"/>
              </a:lnSpc>
              <a:buFont typeface="Wingdings" panose="05000000000000000000" pitchFamily="2" charset="2"/>
              <a:buChar char="l"/>
              <a:defRPr/>
            </a:pPr>
            <a:r>
              <a:rPr lang="en-US" altLang="zh-CN" err="1"/>
              <a:t>ApachePoiDocumentParser</a:t>
            </a:r>
            <a:r>
              <a:rPr lang="zh-CN" altLang="en-US"/>
              <a:t>，解析微软的</a:t>
            </a:r>
            <a:r>
              <a:rPr lang="en-US" altLang="zh-CN"/>
              <a:t>office</a:t>
            </a:r>
            <a:r>
              <a:rPr lang="zh-CN" altLang="en-US"/>
              <a:t>文件，例如</a:t>
            </a:r>
            <a:r>
              <a:rPr lang="en-US" altLang="zh-CN"/>
              <a:t>DOC</a:t>
            </a:r>
            <a:r>
              <a:rPr lang="zh-CN" altLang="en-US"/>
              <a:t>、</a:t>
            </a:r>
            <a:r>
              <a:rPr lang="en-US" altLang="zh-CN"/>
              <a:t>PPT</a:t>
            </a:r>
            <a:r>
              <a:rPr lang="zh-CN" altLang="en-US"/>
              <a:t>、</a:t>
            </a:r>
            <a:r>
              <a:rPr lang="en-US" altLang="zh-CN"/>
              <a:t>XLS</a:t>
            </a:r>
          </a:p>
          <a:p>
            <a:pPr lvl="0">
              <a:lnSpc>
                <a:spcPct val="150000"/>
              </a:lnSpc>
              <a:buFont typeface="Wingdings" panose="05000000000000000000" pitchFamily="2" charset="2"/>
              <a:buChar char="l"/>
              <a:defRPr/>
            </a:pPr>
            <a:r>
              <a:rPr lang="en-US" altLang="zh-CN" err="1"/>
              <a:t>ApacheTikaDocumentParser</a:t>
            </a:r>
            <a:r>
              <a:rPr lang="zh-CN" altLang="en-US"/>
              <a:t>（默认），几乎可以解析所有格式的文件</a:t>
            </a:r>
            <a:endParaRPr lang="en-US" altLang="zh-CN">
              <a:solidFill>
                <a:srgbClr val="2F2F2F"/>
              </a:solidFill>
              <a:latin typeface="Source Code Pro"/>
            </a:endParaRPr>
          </a:p>
        </p:txBody>
      </p:sp>
      <p:sp>
        <p:nvSpPr>
          <p:cNvPr id="5" name="内容占位符 1">
            <a:extLst>
              <a:ext uri="{FF2B5EF4-FFF2-40B4-BE49-F238E27FC236}">
                <a16:creationId xmlns:a16="http://schemas.microsoft.com/office/drawing/2014/main" id="{901481A1-A843-4C65-BFA2-83F867B9E3BF}"/>
              </a:ext>
            </a:extLst>
          </p:cNvPr>
          <p:cNvSpPr txBox="1">
            <a:spLocks/>
          </p:cNvSpPr>
          <p:nvPr/>
        </p:nvSpPr>
        <p:spPr>
          <a:xfrm>
            <a:off x="576197" y="4163821"/>
            <a:ext cx="2710129" cy="26941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a:solidFill>
                  <a:srgbClr val="2F2F2F"/>
                </a:solidFill>
                <a:latin typeface="Source Code Pro"/>
              </a:rPr>
              <a:t>1.</a:t>
            </a:r>
            <a:r>
              <a:rPr lang="zh-CN" altLang="en-US">
                <a:solidFill>
                  <a:srgbClr val="2F2F2F"/>
                </a:solidFill>
                <a:latin typeface="Source Code Pro"/>
              </a:rPr>
              <a:t>准备</a:t>
            </a:r>
            <a:r>
              <a:rPr lang="en-US" altLang="zh-CN">
                <a:solidFill>
                  <a:srgbClr val="2F2F2F"/>
                </a:solidFill>
                <a:latin typeface="Source Code Pro"/>
              </a:rPr>
              <a:t>pdf</a:t>
            </a:r>
            <a:r>
              <a:rPr lang="zh-CN" altLang="en-US">
                <a:solidFill>
                  <a:srgbClr val="2F2F2F"/>
                </a:solidFill>
                <a:latin typeface="Source Code Pro"/>
              </a:rPr>
              <a:t>格式的数据</a:t>
            </a:r>
            <a:endParaRPr lang="en-US" altLang="zh-CN">
              <a:solidFill>
                <a:srgbClr val="2F2F2F"/>
              </a:solidFill>
              <a:latin typeface="Source Code Pro"/>
            </a:endParaRPr>
          </a:p>
          <a:p>
            <a:pPr marL="0" indent="0" defTabSz="914354">
              <a:lnSpc>
                <a:spcPct val="150000"/>
              </a:lnSpc>
              <a:buNone/>
              <a:defRPr/>
            </a:pPr>
            <a:r>
              <a:rPr lang="en-US" altLang="zh-CN">
                <a:solidFill>
                  <a:srgbClr val="2F2F2F"/>
                </a:solidFill>
                <a:latin typeface="Source Code Pro"/>
              </a:rPr>
              <a:t>2.</a:t>
            </a:r>
            <a:r>
              <a:rPr lang="zh-CN" altLang="en-US">
                <a:solidFill>
                  <a:srgbClr val="2F2F2F"/>
                </a:solidFill>
                <a:latin typeface="Source Code Pro"/>
              </a:rPr>
              <a:t>引入依赖</a:t>
            </a:r>
            <a:endParaRPr lang="en-US" altLang="zh-CN">
              <a:solidFill>
                <a:srgbClr val="2F2F2F"/>
              </a:solidFill>
              <a:latin typeface="Source Code Pro"/>
            </a:endParaRPr>
          </a:p>
          <a:p>
            <a:pPr marL="0" indent="0" defTabSz="914354">
              <a:lnSpc>
                <a:spcPct val="150000"/>
              </a:lnSpc>
              <a:buNone/>
              <a:defRPr/>
            </a:pPr>
            <a:r>
              <a:rPr lang="en-US" altLang="zh-CN">
                <a:solidFill>
                  <a:srgbClr val="2F2F2F"/>
                </a:solidFill>
                <a:latin typeface="Source Code Pro"/>
              </a:rPr>
              <a:t>3.</a:t>
            </a:r>
            <a:r>
              <a:rPr lang="zh-CN" altLang="en-US">
                <a:solidFill>
                  <a:srgbClr val="2F2F2F"/>
                </a:solidFill>
                <a:latin typeface="Source Code Pro"/>
              </a:rPr>
              <a:t>指定解析器</a:t>
            </a:r>
            <a:endParaRPr lang="en-US" altLang="zh-CN">
              <a:solidFill>
                <a:srgbClr val="2F2F2F"/>
              </a:solidFill>
              <a:latin typeface="Source Code Pro"/>
            </a:endParaRPr>
          </a:p>
        </p:txBody>
      </p:sp>
      <p:grpSp>
        <p:nvGrpSpPr>
          <p:cNvPr id="14" name="组合 13">
            <a:extLst>
              <a:ext uri="{FF2B5EF4-FFF2-40B4-BE49-F238E27FC236}">
                <a16:creationId xmlns:a16="http://schemas.microsoft.com/office/drawing/2014/main" id="{27B5C169-0F18-4B19-8C05-0C48A4986F5B}"/>
              </a:ext>
            </a:extLst>
          </p:cNvPr>
          <p:cNvGrpSpPr/>
          <p:nvPr/>
        </p:nvGrpSpPr>
        <p:grpSpPr>
          <a:xfrm>
            <a:off x="3461219" y="4317104"/>
            <a:ext cx="6492407" cy="1731506"/>
            <a:chOff x="3461216" y="4317104"/>
            <a:chExt cx="6492407" cy="1731505"/>
          </a:xfrm>
        </p:grpSpPr>
        <p:grpSp>
          <p:nvGrpSpPr>
            <p:cNvPr id="6" name="组合 5">
              <a:extLst>
                <a:ext uri="{FF2B5EF4-FFF2-40B4-BE49-F238E27FC236}">
                  <a16:creationId xmlns:a16="http://schemas.microsoft.com/office/drawing/2014/main" id="{7E4885E0-9495-4EDF-9437-2042526EACE1}"/>
                </a:ext>
              </a:extLst>
            </p:cNvPr>
            <p:cNvGrpSpPr/>
            <p:nvPr/>
          </p:nvGrpSpPr>
          <p:grpSpPr>
            <a:xfrm>
              <a:off x="3461216" y="4317104"/>
              <a:ext cx="6492407" cy="1731505"/>
              <a:chOff x="5459324" y="2870861"/>
              <a:chExt cx="6492407" cy="1731505"/>
            </a:xfrm>
          </p:grpSpPr>
          <p:sp>
            <p:nvSpPr>
              <p:cNvPr id="7" name="矩形: 圆角 6">
                <a:extLst>
                  <a:ext uri="{FF2B5EF4-FFF2-40B4-BE49-F238E27FC236}">
                    <a16:creationId xmlns:a16="http://schemas.microsoft.com/office/drawing/2014/main" id="{8C7941CA-F372-4E74-81A7-C31AB78EA30E}"/>
                  </a:ext>
                </a:extLst>
              </p:cNvPr>
              <p:cNvSpPr/>
              <p:nvPr/>
            </p:nvSpPr>
            <p:spPr>
              <a:xfrm>
                <a:off x="5459324" y="2870861"/>
                <a:ext cx="6492407" cy="17315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8" name="任意多边形: 形状 7">
                <a:extLst>
                  <a:ext uri="{FF2B5EF4-FFF2-40B4-BE49-F238E27FC236}">
                    <a16:creationId xmlns:a16="http://schemas.microsoft.com/office/drawing/2014/main" id="{648749F0-1EDE-4CEA-8977-FEEA82E0E13F}"/>
                  </a:ext>
                </a:extLst>
              </p:cNvPr>
              <p:cNvSpPr/>
              <p:nvPr/>
            </p:nvSpPr>
            <p:spPr>
              <a:xfrm>
                <a:off x="5459324" y="2892599"/>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9" name="组合 8">
                <a:extLst>
                  <a:ext uri="{FF2B5EF4-FFF2-40B4-BE49-F238E27FC236}">
                    <a16:creationId xmlns:a16="http://schemas.microsoft.com/office/drawing/2014/main" id="{4E06B4DB-8378-45AD-AB9D-7B69F69ACA35}"/>
                  </a:ext>
                </a:extLst>
              </p:cNvPr>
              <p:cNvGrpSpPr/>
              <p:nvPr/>
            </p:nvGrpSpPr>
            <p:grpSpPr>
              <a:xfrm>
                <a:off x="5625076" y="2978069"/>
                <a:ext cx="771634" cy="133081"/>
                <a:chOff x="2016841" y="2587412"/>
                <a:chExt cx="730275" cy="133081"/>
              </a:xfrm>
            </p:grpSpPr>
            <p:sp>
              <p:nvSpPr>
                <p:cNvPr id="11" name="椭圆 10">
                  <a:extLst>
                    <a:ext uri="{FF2B5EF4-FFF2-40B4-BE49-F238E27FC236}">
                      <a16:creationId xmlns:a16="http://schemas.microsoft.com/office/drawing/2014/main" id="{F3F51F3F-5279-4B2B-859F-6B03712E7868}"/>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2" name="椭圆 11">
                  <a:extLst>
                    <a:ext uri="{FF2B5EF4-FFF2-40B4-BE49-F238E27FC236}">
                      <a16:creationId xmlns:a16="http://schemas.microsoft.com/office/drawing/2014/main" id="{F18E78B5-153A-469C-98E2-8B74A03807E3}"/>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椭圆 12">
                  <a:extLst>
                    <a:ext uri="{FF2B5EF4-FFF2-40B4-BE49-F238E27FC236}">
                      <a16:creationId xmlns:a16="http://schemas.microsoft.com/office/drawing/2014/main" id="{32EB2B02-5202-491F-B3D8-C38A091E9EE8}"/>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grpSp>
        <p:sp>
          <p:nvSpPr>
            <p:cNvPr id="2" name="Rectangle 1">
              <a:extLst>
                <a:ext uri="{FF2B5EF4-FFF2-40B4-BE49-F238E27FC236}">
                  <a16:creationId xmlns:a16="http://schemas.microsoft.com/office/drawing/2014/main" id="{8B0517B4-D4EB-4B82-B089-DBD20F270955}"/>
                </a:ext>
              </a:extLst>
            </p:cNvPr>
            <p:cNvSpPr>
              <a:spLocks noChangeArrowheads="1"/>
            </p:cNvSpPr>
            <p:nvPr/>
          </p:nvSpPr>
          <p:spPr bwMode="auto">
            <a:xfrm>
              <a:off x="3626968" y="4759644"/>
              <a:ext cx="5647662" cy="109260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&gt;dev.langchain4j&lt;/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&gt;langchain4j-document-parser-apache-pdfbox&lt;/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&gt;1.0.1-beta6&lt;/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endParaRPr lang="zh-CN" altLang="zh-CN" sz="2400">
                <a:latin typeface="Arial" panose="020B0604020202020204" pitchFamily="34" charset="0"/>
              </a:endParaRPr>
            </a:p>
          </p:txBody>
        </p:sp>
      </p:grpSp>
      <p:sp>
        <p:nvSpPr>
          <p:cNvPr id="4" name="Rectangle 2">
            <a:extLst>
              <a:ext uri="{FF2B5EF4-FFF2-40B4-BE49-F238E27FC236}">
                <a16:creationId xmlns:a16="http://schemas.microsoft.com/office/drawing/2014/main" id="{5A98A719-F7CA-4AFF-B547-5F15A2F9518D}"/>
              </a:ext>
            </a:extLst>
          </p:cNvPr>
          <p:cNvSpPr>
            <a:spLocks noChangeArrowheads="1"/>
          </p:cNvSpPr>
          <p:nvPr/>
        </p:nvSpPr>
        <p:spPr bwMode="auto">
          <a:xfrm>
            <a:off x="3461216" y="6229215"/>
            <a:ext cx="7324725" cy="292388"/>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a:solidFill>
                  <a:srgbClr val="000000"/>
                </a:solidFill>
                <a:latin typeface="Arial Unicode MS"/>
                <a:ea typeface="JetBrains Mono"/>
              </a:rPr>
              <a:t>ClassPathDocumentLoader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loadDocuments</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en-US" sz="1300">
                <a:solidFill>
                  <a:srgbClr val="067D17"/>
                </a:solidFill>
                <a:latin typeface="Arial Unicode MS"/>
                <a:ea typeface="JetBrains Mono"/>
              </a:rPr>
              <a:t>文档路径</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a:t>
            </a:r>
            <a:r>
              <a:rPr lang="zh-CN" altLang="zh-CN" sz="1300">
                <a:solidFill>
                  <a:srgbClr val="0033B3"/>
                </a:solidFill>
                <a:latin typeface="Arial Unicode MS"/>
                <a:ea typeface="JetBrains Mono"/>
              </a:rPr>
              <a:t>new </a:t>
            </a:r>
            <a:r>
              <a:rPr lang="zh-CN" altLang="zh-CN" sz="1300">
                <a:solidFill>
                  <a:srgbClr val="080808"/>
                </a:solidFill>
                <a:latin typeface="Arial Unicode MS"/>
                <a:ea typeface="JetBrains Mono"/>
              </a:rPr>
              <a:t>ApachePdfBoxDocumentParser());</a:t>
            </a:r>
            <a:endParaRPr lang="zh-CN" altLang="zh-CN" sz="2400">
              <a:latin typeface="Arial" panose="020B0604020202020204" pitchFamily="34" charset="0"/>
            </a:endParaRPr>
          </a:p>
        </p:txBody>
      </p:sp>
    </p:spTree>
    <p:extLst>
      <p:ext uri="{BB962C8B-B14F-4D97-AF65-F5344CB8AC3E}">
        <p14:creationId xmlns:p14="http://schemas.microsoft.com/office/powerpoint/2010/main" val="2231024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 grpId="0"/>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文档加载器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Loader</a:t>
            </a:r>
            <a:endParaRPr lang="zh-CN" altLang="en-US" sz="100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文档解析器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Parser</a:t>
            </a:r>
            <a:endParaRPr lang="zh-CN" altLang="en-US" sz="100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a:t>
            </a:r>
            <a:endParaRPr lang="zh-CN" altLang="en-US" sz="100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文档分割器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Splitter</a:t>
            </a:r>
            <a:endParaRPr lang="zh-CN" altLang="en-US" sz="100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向量模型</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EmbeddingModel</a:t>
            </a:r>
            <a:endParaRPr lang="zh-CN" altLang="en-US" sz="100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向量数据库操作对象</a:t>
            </a:r>
            <a:r>
              <a:rPr lang="en-US" altLang="zh-CN" sz="1000" err="1">
                <a:solidFill>
                  <a:srgbClr val="FFFFFF"/>
                </a:solidFill>
                <a:latin typeface="Source Code Pro"/>
              </a:rPr>
              <a:t>EmbeddingStore</a:t>
            </a:r>
            <a:endParaRPr lang="zh-CN" altLang="en-US" sz="100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err="1">
                <a:solidFill>
                  <a:srgbClr val="C00000"/>
                </a:solidFill>
                <a:latin typeface="Source Code Pro"/>
              </a:rPr>
              <a:t>EmbeddingStoreIngestor</a:t>
            </a:r>
            <a:endParaRPr lang="zh-CN" altLang="en-US" sz="2400">
              <a:solidFill>
                <a:srgbClr val="C00000"/>
              </a:solidFill>
              <a:latin typeface="Source Code Pro"/>
            </a:endParaRPr>
          </a:p>
        </p:txBody>
      </p:sp>
    </p:spTree>
    <p:extLst>
      <p:ext uri="{BB962C8B-B14F-4D97-AF65-F5344CB8AC3E}">
        <p14:creationId xmlns:p14="http://schemas.microsoft.com/office/powerpoint/2010/main" val="3101744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文档分割器，用于把一个大的文档，切割成一个一个的小片段</a:t>
            </a:r>
            <a:endParaRPr lang="en-US" altLang="zh-CN">
              <a:solidFill>
                <a:srgbClr val="262626"/>
              </a:solidFill>
              <a:latin typeface="阿里巴巴普惠体"/>
              <a:ea typeface="阿里巴巴普惠体"/>
            </a:endParaRPr>
          </a:p>
        </p:txBody>
      </p:sp>
      <p:sp>
        <p:nvSpPr>
          <p:cNvPr id="15" name="内容占位符 1">
            <a:extLst>
              <a:ext uri="{FF2B5EF4-FFF2-40B4-BE49-F238E27FC236}">
                <a16:creationId xmlns:a16="http://schemas.microsoft.com/office/drawing/2014/main" id="{DDAD6B82-BB7A-430E-8EEB-BC193082F643}"/>
              </a:ext>
            </a:extLst>
          </p:cNvPr>
          <p:cNvSpPr txBox="1">
            <a:spLocks/>
          </p:cNvSpPr>
          <p:nvPr/>
        </p:nvSpPr>
        <p:spPr>
          <a:xfrm>
            <a:off x="576198" y="1622927"/>
            <a:ext cx="7443855" cy="41873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DocuemntByParagraphSplitter</a:t>
            </a:r>
            <a:r>
              <a:rPr lang="zh-CN" altLang="en-US" sz="1600">
                <a:solidFill>
                  <a:srgbClr val="2F2F2F"/>
                </a:solidFill>
                <a:latin typeface="Source Code Pro"/>
              </a:rPr>
              <a:t>，按照段落分割文本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DocumentByLineSplitter</a:t>
            </a:r>
            <a:r>
              <a:rPr lang="zh-CN" altLang="en-US" sz="1600">
                <a:solidFill>
                  <a:srgbClr val="2F2F2F"/>
                </a:solidFill>
                <a:latin typeface="Source Code Pro"/>
              </a:rPr>
              <a:t>，按照行分割文本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DocumentBySentenceSplitter</a:t>
            </a:r>
            <a:r>
              <a:rPr lang="zh-CN" altLang="en-US" sz="1600">
                <a:solidFill>
                  <a:srgbClr val="2F2F2F"/>
                </a:solidFill>
                <a:latin typeface="Source Code Pro"/>
              </a:rPr>
              <a:t>，按照句子分割文本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DocumentByWordSplitter</a:t>
            </a:r>
            <a:r>
              <a:rPr lang="zh-CN" altLang="en-US" sz="1600">
                <a:solidFill>
                  <a:srgbClr val="2F2F2F"/>
                </a:solidFill>
                <a:latin typeface="Source Code Pro"/>
              </a:rPr>
              <a:t>，按照词分割文本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DocumentByCharacterSplitter</a:t>
            </a:r>
            <a:r>
              <a:rPr lang="zh-CN" altLang="en-US" sz="1600">
                <a:solidFill>
                  <a:srgbClr val="2F2F2F"/>
                </a:solidFill>
                <a:latin typeface="Source Code Pro"/>
              </a:rPr>
              <a:t>，按照固定数量的字符分割文本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DocumentByRegexSplitter</a:t>
            </a:r>
            <a:r>
              <a:rPr lang="zh-CN" altLang="en-US" sz="1600">
                <a:solidFill>
                  <a:srgbClr val="2F2F2F"/>
                </a:solidFill>
                <a:latin typeface="Source Code Pro"/>
              </a:rPr>
              <a:t>，按照正则表达式分割文本</a:t>
            </a:r>
            <a:endParaRPr lang="en-US" altLang="zh-CN" sz="1600">
              <a:solidFill>
                <a:srgbClr val="2F2F2F"/>
              </a:solidFill>
              <a:latin typeface="Source Code Pro"/>
            </a:endParaRPr>
          </a:p>
          <a:p>
            <a:pPr marL="228589" indent="-228589" defTabSz="914354">
              <a:lnSpc>
                <a:spcPct val="150000"/>
              </a:lnSpc>
              <a:buFont typeface="Wingdings" panose="05000000000000000000" pitchFamily="2" charset="2"/>
              <a:buChar char="l"/>
              <a:defRPr/>
            </a:pPr>
            <a:r>
              <a:rPr lang="en-US" altLang="zh-CN" sz="1600" err="1">
                <a:solidFill>
                  <a:srgbClr val="2F2F2F"/>
                </a:solidFill>
                <a:latin typeface="Source Code Pro"/>
              </a:rPr>
              <a:t>DocumentSplitters.recursive</a:t>
            </a:r>
            <a:r>
              <a:rPr lang="en-US" altLang="zh-CN" sz="1600">
                <a:solidFill>
                  <a:srgbClr val="2F2F2F"/>
                </a:solidFill>
                <a:latin typeface="Source Code Pro"/>
              </a:rPr>
              <a:t>(…)(</a:t>
            </a:r>
            <a:r>
              <a:rPr lang="zh-CN" altLang="en-US" sz="1600">
                <a:solidFill>
                  <a:srgbClr val="2F2F2F"/>
                </a:solidFill>
                <a:latin typeface="Source Code Pro"/>
              </a:rPr>
              <a:t>默认</a:t>
            </a:r>
            <a:r>
              <a:rPr lang="en-US" altLang="zh-CN" sz="1600">
                <a:solidFill>
                  <a:srgbClr val="2F2F2F"/>
                </a:solidFill>
                <a:latin typeface="Source Code Pro"/>
              </a:rPr>
              <a:t>)</a:t>
            </a:r>
            <a:r>
              <a:rPr lang="zh-CN" altLang="en-US" sz="1600">
                <a:solidFill>
                  <a:srgbClr val="2F2F2F"/>
                </a:solidFill>
                <a:latin typeface="Source Code Pro"/>
              </a:rPr>
              <a:t>，递归分割器</a:t>
            </a:r>
            <a:r>
              <a:rPr lang="en-US" altLang="zh-CN" sz="1600">
                <a:solidFill>
                  <a:srgbClr val="2F2F2F"/>
                </a:solidFill>
                <a:latin typeface="Source Code Pro"/>
              </a:rPr>
              <a:t>,</a:t>
            </a:r>
            <a:r>
              <a:rPr lang="zh-CN" altLang="en-US" sz="1600">
                <a:solidFill>
                  <a:srgbClr val="2F2F2F"/>
                </a:solidFill>
                <a:latin typeface="Source Code Pro"/>
              </a:rPr>
              <a:t>优先段落分割，再按照行分割，再按照句子分割，再按照词分割</a:t>
            </a:r>
            <a:endParaRPr lang="en-US" altLang="zh-CN" sz="1600">
              <a:solidFill>
                <a:srgbClr val="2F2F2F"/>
              </a:solidFill>
              <a:latin typeface="Source Code Pro"/>
            </a:endParaRPr>
          </a:p>
        </p:txBody>
      </p:sp>
      <p:pic>
        <p:nvPicPr>
          <p:cNvPr id="16" name="图片 15">
            <a:extLst>
              <a:ext uri="{FF2B5EF4-FFF2-40B4-BE49-F238E27FC236}">
                <a16:creationId xmlns:a16="http://schemas.microsoft.com/office/drawing/2014/main" id="{0325529E-D9D6-49FE-BD08-BAE0A09844D5}"/>
              </a:ext>
            </a:extLst>
          </p:cNvPr>
          <p:cNvPicPr>
            <a:picLocks noChangeAspect="1"/>
          </p:cNvPicPr>
          <p:nvPr/>
        </p:nvPicPr>
        <p:blipFill>
          <a:blip r:embed="rId2"/>
          <a:stretch>
            <a:fillRect/>
          </a:stretch>
        </p:blipFill>
        <p:spPr>
          <a:xfrm>
            <a:off x="7136947" y="1095378"/>
            <a:ext cx="4883604" cy="3521769"/>
          </a:xfrm>
          <a:prstGeom prst="rect">
            <a:avLst/>
          </a:prstGeom>
          <a:ln w="6350">
            <a:solidFill>
              <a:schemeClr val="bg1">
                <a:lumMod val="75000"/>
              </a:schemeClr>
            </a:solidFill>
          </a:ln>
        </p:spPr>
      </p:pic>
      <p:sp>
        <p:nvSpPr>
          <p:cNvPr id="6" name="矩形 5">
            <a:extLst>
              <a:ext uri="{FF2B5EF4-FFF2-40B4-BE49-F238E27FC236}">
                <a16:creationId xmlns:a16="http://schemas.microsoft.com/office/drawing/2014/main" id="{E8789CDD-7AE6-4821-8812-AB88AC80EEF0}"/>
              </a:ext>
            </a:extLst>
          </p:cNvPr>
          <p:cNvSpPr/>
          <p:nvPr/>
        </p:nvSpPr>
        <p:spPr>
          <a:xfrm>
            <a:off x="7151831" y="1383492"/>
            <a:ext cx="4868720" cy="407601"/>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7" name="矩形 6">
            <a:extLst>
              <a:ext uri="{FF2B5EF4-FFF2-40B4-BE49-F238E27FC236}">
                <a16:creationId xmlns:a16="http://schemas.microsoft.com/office/drawing/2014/main" id="{A9188C6D-A35E-4068-9150-16C84D6904FB}"/>
              </a:ext>
            </a:extLst>
          </p:cNvPr>
          <p:cNvSpPr/>
          <p:nvPr/>
        </p:nvSpPr>
        <p:spPr>
          <a:xfrm>
            <a:off x="7151831" y="1875406"/>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 name="矩形 7">
            <a:extLst>
              <a:ext uri="{FF2B5EF4-FFF2-40B4-BE49-F238E27FC236}">
                <a16:creationId xmlns:a16="http://schemas.microsoft.com/office/drawing/2014/main" id="{8D2E30C4-21A1-410B-95BD-EFE81D195913}"/>
              </a:ext>
            </a:extLst>
          </p:cNvPr>
          <p:cNvSpPr/>
          <p:nvPr/>
        </p:nvSpPr>
        <p:spPr>
          <a:xfrm>
            <a:off x="7151831" y="2511261"/>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 name="矩形 8">
            <a:extLst>
              <a:ext uri="{FF2B5EF4-FFF2-40B4-BE49-F238E27FC236}">
                <a16:creationId xmlns:a16="http://schemas.microsoft.com/office/drawing/2014/main" id="{70DB8EB0-5D2F-4185-ACF2-51F8E0D1C221}"/>
              </a:ext>
            </a:extLst>
          </p:cNvPr>
          <p:cNvSpPr/>
          <p:nvPr/>
        </p:nvSpPr>
        <p:spPr>
          <a:xfrm>
            <a:off x="7151831" y="3123669"/>
            <a:ext cx="4868720" cy="519002"/>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0" name="矩形 9">
            <a:extLst>
              <a:ext uri="{FF2B5EF4-FFF2-40B4-BE49-F238E27FC236}">
                <a16:creationId xmlns:a16="http://schemas.microsoft.com/office/drawing/2014/main" id="{D1E26D5A-7B94-4BC2-BF78-9CCB3DF7319F}"/>
              </a:ext>
            </a:extLst>
          </p:cNvPr>
          <p:cNvSpPr/>
          <p:nvPr/>
        </p:nvSpPr>
        <p:spPr>
          <a:xfrm>
            <a:off x="7151831" y="3718143"/>
            <a:ext cx="4868720" cy="401370"/>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11" name="矩形 10">
            <a:extLst>
              <a:ext uri="{FF2B5EF4-FFF2-40B4-BE49-F238E27FC236}">
                <a16:creationId xmlns:a16="http://schemas.microsoft.com/office/drawing/2014/main" id="{1F58D52F-2222-45A6-9A15-4B4426E7767F}"/>
              </a:ext>
            </a:extLst>
          </p:cNvPr>
          <p:cNvSpPr/>
          <p:nvPr/>
        </p:nvSpPr>
        <p:spPr>
          <a:xfrm>
            <a:off x="7151831" y="4167645"/>
            <a:ext cx="4868720" cy="401370"/>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nvGrpSpPr>
          <p:cNvPr id="21" name="组合 20">
            <a:extLst>
              <a:ext uri="{FF2B5EF4-FFF2-40B4-BE49-F238E27FC236}">
                <a16:creationId xmlns:a16="http://schemas.microsoft.com/office/drawing/2014/main" id="{C103D95E-0C82-4DCB-B090-FA8F74447065}"/>
              </a:ext>
            </a:extLst>
          </p:cNvPr>
          <p:cNvGrpSpPr/>
          <p:nvPr/>
        </p:nvGrpSpPr>
        <p:grpSpPr>
          <a:xfrm>
            <a:off x="7058664" y="4976354"/>
            <a:ext cx="5055053" cy="1800520"/>
            <a:chOff x="7058664" y="4976354"/>
            <a:chExt cx="5055053" cy="1800520"/>
          </a:xfrm>
        </p:grpSpPr>
        <p:sp>
          <p:nvSpPr>
            <p:cNvPr id="2" name="矩形 1">
              <a:extLst>
                <a:ext uri="{FF2B5EF4-FFF2-40B4-BE49-F238E27FC236}">
                  <a16:creationId xmlns:a16="http://schemas.microsoft.com/office/drawing/2014/main" id="{4F310254-80EB-4311-8CCF-F7D14FE87D23}"/>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12B0157-73D1-42A4-A95B-E477EB4A5F53}"/>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a:t>文本片段</a:t>
              </a:r>
              <a:r>
                <a:rPr lang="en-US" altLang="zh-CN" sz="1200"/>
                <a:t>:</a:t>
              </a:r>
              <a:r>
                <a:rPr lang="zh-CN" altLang="en-US" sz="1200"/>
                <a:t>最大</a:t>
              </a:r>
              <a:r>
                <a:rPr lang="en-US" altLang="zh-CN" sz="1200"/>
                <a:t>300</a:t>
              </a:r>
              <a:r>
                <a:rPr lang="zh-CN" altLang="en-US" sz="1200"/>
                <a:t>个字符</a:t>
              </a:r>
            </a:p>
          </p:txBody>
        </p:sp>
      </p:grpSp>
      <p:pic>
        <p:nvPicPr>
          <p:cNvPr id="14" name="图片 13">
            <a:extLst>
              <a:ext uri="{FF2B5EF4-FFF2-40B4-BE49-F238E27FC236}">
                <a16:creationId xmlns:a16="http://schemas.microsoft.com/office/drawing/2014/main" id="{C4D75EBD-FA8B-42D2-838C-2897A542C6ED}"/>
              </a:ext>
            </a:extLst>
          </p:cNvPr>
          <p:cNvPicPr>
            <a:picLocks noChangeAspect="1"/>
          </p:cNvPicPr>
          <p:nvPr/>
        </p:nvPicPr>
        <p:blipFill>
          <a:blip r:embed="rId3"/>
          <a:stretch>
            <a:fillRect/>
          </a:stretch>
        </p:blipFill>
        <p:spPr>
          <a:xfrm>
            <a:off x="7127422" y="5917344"/>
            <a:ext cx="4953000" cy="561975"/>
          </a:xfrm>
          <a:prstGeom prst="rect">
            <a:avLst/>
          </a:prstGeom>
        </p:spPr>
      </p:pic>
      <p:pic>
        <p:nvPicPr>
          <p:cNvPr id="18" name="图片 17">
            <a:extLst>
              <a:ext uri="{FF2B5EF4-FFF2-40B4-BE49-F238E27FC236}">
                <a16:creationId xmlns:a16="http://schemas.microsoft.com/office/drawing/2014/main" id="{5C16D0FC-718B-48BC-97EA-CA2A32928DBC}"/>
              </a:ext>
            </a:extLst>
          </p:cNvPr>
          <p:cNvPicPr>
            <a:picLocks noChangeAspect="1"/>
          </p:cNvPicPr>
          <p:nvPr/>
        </p:nvPicPr>
        <p:blipFill>
          <a:blip r:embed="rId4"/>
          <a:stretch>
            <a:fillRect/>
          </a:stretch>
        </p:blipFill>
        <p:spPr>
          <a:xfrm>
            <a:off x="7136947" y="5362577"/>
            <a:ext cx="4943475" cy="447675"/>
          </a:xfrm>
          <a:prstGeom prst="rect">
            <a:avLst/>
          </a:prstGeom>
        </p:spPr>
      </p:pic>
      <p:pic>
        <p:nvPicPr>
          <p:cNvPr id="20" name="图片 19">
            <a:extLst>
              <a:ext uri="{FF2B5EF4-FFF2-40B4-BE49-F238E27FC236}">
                <a16:creationId xmlns:a16="http://schemas.microsoft.com/office/drawing/2014/main" id="{366C1BAF-FEC5-4099-BFAD-1536B0C37C73}"/>
              </a:ext>
            </a:extLst>
          </p:cNvPr>
          <p:cNvPicPr>
            <a:picLocks noChangeAspect="1"/>
          </p:cNvPicPr>
          <p:nvPr/>
        </p:nvPicPr>
        <p:blipFill>
          <a:blip r:embed="rId5"/>
          <a:stretch>
            <a:fillRect/>
          </a:stretch>
        </p:blipFill>
        <p:spPr>
          <a:xfrm>
            <a:off x="7132184" y="6586412"/>
            <a:ext cx="4943475" cy="581025"/>
          </a:xfrm>
          <a:prstGeom prst="rect">
            <a:avLst/>
          </a:prstGeom>
        </p:spPr>
      </p:pic>
      <p:sp>
        <p:nvSpPr>
          <p:cNvPr id="22" name="文本框 21">
            <a:extLst>
              <a:ext uri="{FF2B5EF4-FFF2-40B4-BE49-F238E27FC236}">
                <a16:creationId xmlns:a16="http://schemas.microsoft.com/office/drawing/2014/main" id="{39DE98F3-DEC5-46AC-9874-07A4BF452861}"/>
              </a:ext>
            </a:extLst>
          </p:cNvPr>
          <p:cNvSpPr txBox="1"/>
          <p:nvPr/>
        </p:nvSpPr>
        <p:spPr>
          <a:xfrm>
            <a:off x="2260593" y="5629012"/>
            <a:ext cx="737702" cy="461665"/>
          </a:xfrm>
          <a:prstGeom prst="rect">
            <a:avLst/>
          </a:prstGeom>
          <a:noFill/>
        </p:spPr>
        <p:txBody>
          <a:bodyPr wrap="none" rtlCol="0">
            <a:spAutoFit/>
          </a:bodyPr>
          <a:lstStyle/>
          <a:p>
            <a:r>
              <a:rPr lang="en-US" altLang="zh-CN" sz="2400" b="1">
                <a:solidFill>
                  <a:srgbClr val="C00000"/>
                </a:solidFill>
              </a:rPr>
              <a:t>300</a:t>
            </a:r>
            <a:endParaRPr lang="zh-CN" altLang="en-US" sz="2400" b="1">
              <a:solidFill>
                <a:srgbClr val="C00000"/>
              </a:solidFill>
            </a:endParaRPr>
          </a:p>
        </p:txBody>
      </p:sp>
    </p:spTree>
    <p:extLst>
      <p:ext uri="{BB962C8B-B14F-4D97-AF65-F5344CB8AC3E}">
        <p14:creationId xmlns:p14="http://schemas.microsoft.com/office/powerpoint/2010/main" val="2869892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1000"/>
                                        <p:tgtEl>
                                          <p:spTgt spid="20"/>
                                        </p:tgtEl>
                                      </p:cBhvr>
                                    </p:animEffect>
                                    <p:anim calcmode="lin" valueType="num">
                                      <p:cBhvr>
                                        <p:cTn id="61" dur="1000" fill="hold"/>
                                        <p:tgtEl>
                                          <p:spTgt spid="20"/>
                                        </p:tgtEl>
                                        <p:attrNameLst>
                                          <p:attrName>ppt_x</p:attrName>
                                        </p:attrNameLst>
                                      </p:cBhvr>
                                      <p:tavLst>
                                        <p:tav tm="0">
                                          <p:val>
                                            <p:strVal val="#ppt_x"/>
                                          </p:val>
                                        </p:tav>
                                        <p:tav tm="100000">
                                          <p:val>
                                            <p:strVal val="#ppt_x"/>
                                          </p:val>
                                        </p:tav>
                                      </p:tavLst>
                                    </p:anim>
                                    <p:anim calcmode="lin" valueType="num">
                                      <p:cBhvr>
                                        <p:cTn id="6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37" presetClass="exit" presetSubtype="0" fill="hold" nodeType="clickEffect">
                                  <p:stCondLst>
                                    <p:cond delay="0"/>
                                  </p:stCondLst>
                                  <p:childTnLst>
                                    <p:animEffect transition="out" filter="fade">
                                      <p:cBhvr>
                                        <p:cTn id="66" dur="1000"/>
                                        <p:tgtEl>
                                          <p:spTgt spid="20"/>
                                        </p:tgtEl>
                                      </p:cBhvr>
                                    </p:animEffect>
                                    <p:anim calcmode="lin" valueType="num">
                                      <p:cBhvr>
                                        <p:cTn id="67" dur="1000"/>
                                        <p:tgtEl>
                                          <p:spTgt spid="20"/>
                                        </p:tgtEl>
                                        <p:attrNameLst>
                                          <p:attrName>ppt_x</p:attrName>
                                        </p:attrNameLst>
                                      </p:cBhvr>
                                      <p:tavLst>
                                        <p:tav tm="0">
                                          <p:val>
                                            <p:strVal val="ppt_x"/>
                                          </p:val>
                                        </p:tav>
                                        <p:tav tm="100000">
                                          <p:val>
                                            <p:strVal val="ppt_x"/>
                                          </p:val>
                                        </p:tav>
                                      </p:tavLst>
                                    </p:anim>
                                    <p:anim calcmode="lin" valueType="num">
                                      <p:cBhvr>
                                        <p:cTn id="68" dur="100" decel="100000"/>
                                        <p:tgtEl>
                                          <p:spTgt spid="20"/>
                                        </p:tgtEl>
                                        <p:attrNameLst>
                                          <p:attrName>ppt_y</p:attrName>
                                        </p:attrNameLst>
                                      </p:cBhvr>
                                      <p:tavLst>
                                        <p:tav tm="0">
                                          <p:val>
                                            <p:strVal val="ppt_y"/>
                                          </p:val>
                                        </p:tav>
                                        <p:tav tm="100000">
                                          <p:val>
                                            <p:strVal val="ppt_y-.03"/>
                                          </p:val>
                                        </p:tav>
                                      </p:tavLst>
                                    </p:anim>
                                    <p:anim calcmode="lin" valueType="num">
                                      <p:cBhvr>
                                        <p:cTn id="69" dur="900" accel="100000">
                                          <p:stCondLst>
                                            <p:cond delay="100"/>
                                          </p:stCondLst>
                                        </p:cTn>
                                        <p:tgtEl>
                                          <p:spTgt spid="20"/>
                                        </p:tgtEl>
                                        <p:attrNameLst>
                                          <p:attrName>ppt_y</p:attrName>
                                        </p:attrNameLst>
                                      </p:cBhvr>
                                      <p:tavLst>
                                        <p:tav tm="0">
                                          <p:val>
                                            <p:strVal val="ppt_y"/>
                                          </p:val>
                                        </p:tav>
                                        <p:tav tm="100000">
                                          <p:val>
                                            <p:strVal val="ppt_y+1"/>
                                          </p:val>
                                        </p:tav>
                                      </p:tavLst>
                                    </p:anim>
                                    <p:set>
                                      <p:cBhvr>
                                        <p:cTn id="70" dur="1" fill="hold">
                                          <p:stCondLst>
                                            <p:cond delay="999"/>
                                          </p:stCondLst>
                                        </p:cTn>
                                        <p:tgtEl>
                                          <p:spTgt spid="2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1000"/>
                                        <p:tgtEl>
                                          <p:spTgt spid="20"/>
                                        </p:tgtEl>
                                      </p:cBhvr>
                                    </p:animEffect>
                                    <p:anim calcmode="lin" valueType="num">
                                      <p:cBhvr>
                                        <p:cTn id="76" dur="1000" fill="hold"/>
                                        <p:tgtEl>
                                          <p:spTgt spid="20"/>
                                        </p:tgtEl>
                                        <p:attrNameLst>
                                          <p:attrName>ppt_x</p:attrName>
                                        </p:attrNameLst>
                                      </p:cBhvr>
                                      <p:tavLst>
                                        <p:tav tm="0">
                                          <p:val>
                                            <p:strVal val="#ppt_x"/>
                                          </p:val>
                                        </p:tav>
                                        <p:tav tm="100000">
                                          <p:val>
                                            <p:strVal val="#ppt_x"/>
                                          </p:val>
                                        </p:tav>
                                      </p:tavLst>
                                    </p:anim>
                                    <p:anim calcmode="lin" valueType="num">
                                      <p:cBhvr>
                                        <p:cTn id="7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1000"/>
                                        <p:tgtEl>
                                          <p:spTgt spid="22"/>
                                        </p:tgtEl>
                                      </p:cBhvr>
                                    </p:animEffect>
                                    <p:anim calcmode="lin" valueType="num">
                                      <p:cBhvr>
                                        <p:cTn id="83" dur="1000" fill="hold"/>
                                        <p:tgtEl>
                                          <p:spTgt spid="22"/>
                                        </p:tgtEl>
                                        <p:attrNameLst>
                                          <p:attrName>ppt_x</p:attrName>
                                        </p:attrNameLst>
                                      </p:cBhvr>
                                      <p:tavLst>
                                        <p:tav tm="0">
                                          <p:val>
                                            <p:strVal val="#ppt_x"/>
                                          </p:val>
                                        </p:tav>
                                        <p:tav tm="100000">
                                          <p:val>
                                            <p:strVal val="#ppt_x"/>
                                          </p:val>
                                        </p:tav>
                                      </p:tavLst>
                                    </p:anim>
                                    <p:anim calcmode="lin" valueType="num">
                                      <p:cBhvr>
                                        <p:cTn id="8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 grpId="0" animBg="1"/>
      <p:bldP spid="7" grpId="0" animBg="1"/>
      <p:bldP spid="8" grpId="0" animBg="1"/>
      <p:bldP spid="9" grpId="0" animBg="1"/>
      <p:bldP spid="10" grpId="0" animBg="1"/>
      <p:bldP spid="11" grpId="0" animBg="1"/>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文档分割器，用于把一个大的文档，切割成一个一个的小片段</a:t>
            </a:r>
            <a:endParaRPr lang="en-US" altLang="zh-CN">
              <a:solidFill>
                <a:srgbClr val="262626"/>
              </a:solidFill>
              <a:latin typeface="阿里巴巴普惠体"/>
              <a:ea typeface="阿里巴巴普惠体"/>
            </a:endParaRPr>
          </a:p>
        </p:txBody>
      </p:sp>
      <p:sp>
        <p:nvSpPr>
          <p:cNvPr id="15" name="内容占位符 1">
            <a:extLst>
              <a:ext uri="{FF2B5EF4-FFF2-40B4-BE49-F238E27FC236}">
                <a16:creationId xmlns:a16="http://schemas.microsoft.com/office/drawing/2014/main" id="{DDAD6B82-BB7A-430E-8EEB-BC193082F643}"/>
              </a:ext>
            </a:extLst>
          </p:cNvPr>
          <p:cNvSpPr txBox="1">
            <a:spLocks/>
          </p:cNvSpPr>
          <p:nvPr/>
        </p:nvSpPr>
        <p:spPr>
          <a:xfrm>
            <a:off x="919097" y="1622927"/>
            <a:ext cx="3471931" cy="1186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a:solidFill>
                  <a:srgbClr val="2F2F2F"/>
                </a:solidFill>
                <a:latin typeface="Source Code Pro"/>
              </a:rPr>
              <a:t>构建文本分割器对象</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设置文本分割器对象</a:t>
            </a:r>
            <a:endParaRPr lang="en-US" altLang="zh-CN" sz="1600">
              <a:solidFill>
                <a:srgbClr val="2F2F2F"/>
              </a:solidFill>
              <a:latin typeface="Source Code Pro"/>
            </a:endParaRPr>
          </a:p>
        </p:txBody>
      </p:sp>
      <p:sp>
        <p:nvSpPr>
          <p:cNvPr id="2" name="Rectangle 1">
            <a:extLst>
              <a:ext uri="{FF2B5EF4-FFF2-40B4-BE49-F238E27FC236}">
                <a16:creationId xmlns:a16="http://schemas.microsoft.com/office/drawing/2014/main" id="{4A932338-AF97-4A81-9A87-9005E3A9860D}"/>
              </a:ext>
            </a:extLst>
          </p:cNvPr>
          <p:cNvSpPr>
            <a:spLocks noChangeArrowheads="1"/>
          </p:cNvSpPr>
          <p:nvPr/>
        </p:nvSpPr>
        <p:spPr bwMode="auto">
          <a:xfrm>
            <a:off x="4019549" y="1774683"/>
            <a:ext cx="7562851"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DocumentSplitter documentSplitter </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DocumentSplitters</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recursive</a:t>
            </a:r>
            <a:r>
              <a:rPr lang="zh-CN" altLang="zh-CN" sz="1300">
                <a:solidFill>
                  <a:srgbClr val="080808"/>
                </a:solidFill>
                <a:latin typeface="Arial Unicode MS"/>
                <a:ea typeface="JetBrains Mono"/>
              </a:rPr>
              <a:t>(</a:t>
            </a:r>
            <a:endParaRPr lang="en-US" altLang="zh-CN" sz="1300">
              <a:solidFill>
                <a:srgbClr val="080808"/>
              </a:solidFill>
              <a:latin typeface="Arial Unicode MS"/>
              <a:ea typeface="JetBrains Mono"/>
            </a:endParaRPr>
          </a:p>
          <a:p>
            <a:pPr eaLnBrk="0" fontAlgn="base" hangingPunct="0">
              <a:lnSpc>
                <a:spcPct val="130000"/>
              </a:lnSpc>
              <a:spcBef>
                <a:spcPct val="0"/>
              </a:spcBef>
              <a:spcAft>
                <a:spcPct val="0"/>
              </a:spcAft>
            </a:pPr>
            <a:r>
              <a:rPr lang="en-US" altLang="zh-CN" sz="1300">
                <a:solidFill>
                  <a:srgbClr val="080808"/>
                </a:solidFill>
                <a:latin typeface="Arial Unicode MS"/>
                <a:ea typeface="JetBrains Mono"/>
              </a:rPr>
              <a:t>		</a:t>
            </a:r>
            <a:r>
              <a:rPr lang="zh-CN" altLang="en-US" sz="1300">
                <a:solidFill>
                  <a:srgbClr val="1750EB"/>
                </a:solidFill>
                <a:latin typeface="Arial Unicode MS"/>
                <a:ea typeface="JetBrains Mono"/>
              </a:rPr>
              <a:t>每个片段最大容纳的字符</a:t>
            </a:r>
            <a:r>
              <a:rPr lang="zh-CN" altLang="zh-CN" sz="1300">
                <a:solidFill>
                  <a:srgbClr val="080808"/>
                </a:solidFill>
                <a:latin typeface="Arial Unicode MS"/>
                <a:ea typeface="JetBrains Mono"/>
              </a:rPr>
              <a:t>, </a:t>
            </a:r>
            <a:endParaRPr lang="en-US" altLang="zh-CN" sz="1300">
              <a:solidFill>
                <a:srgbClr val="080808"/>
              </a:solidFill>
              <a:latin typeface="Arial Unicode MS"/>
              <a:ea typeface="JetBrains Mono"/>
            </a:endParaRPr>
          </a:p>
          <a:p>
            <a:pPr eaLnBrk="0" fontAlgn="base" hangingPunct="0">
              <a:lnSpc>
                <a:spcPct val="130000"/>
              </a:lnSpc>
              <a:spcBef>
                <a:spcPct val="0"/>
              </a:spcBef>
              <a:spcAft>
                <a:spcPct val="0"/>
              </a:spcAft>
            </a:pPr>
            <a:r>
              <a:rPr lang="en-US" altLang="zh-CN" sz="1300">
                <a:solidFill>
                  <a:srgbClr val="080808"/>
                </a:solidFill>
                <a:latin typeface="Arial Unicode MS"/>
                <a:ea typeface="JetBrains Mono"/>
              </a:rPr>
              <a:t>		</a:t>
            </a:r>
            <a:r>
              <a:rPr lang="zh-CN" altLang="en-US" sz="1300">
                <a:solidFill>
                  <a:srgbClr val="1750EB"/>
                </a:solidFill>
                <a:latin typeface="Arial Unicode MS"/>
              </a:rPr>
              <a:t>两个片段之间重叠字符的个数</a:t>
            </a:r>
            <a:endParaRPr lang="en-US" altLang="zh-CN" sz="1300">
              <a:solidFill>
                <a:srgbClr val="1750EB"/>
              </a:solidFill>
              <a:latin typeface="Arial Unicode MS"/>
            </a:endParaRPr>
          </a:p>
          <a:p>
            <a:pPr eaLnBrk="0" fontAlgn="base" hangingPunct="0">
              <a:lnSpc>
                <a:spcPct val="130000"/>
              </a:lnSpc>
              <a:spcBef>
                <a:spcPct val="0"/>
              </a:spcBef>
              <a:spcAft>
                <a:spcPct val="0"/>
              </a:spcAft>
            </a:pPr>
            <a:r>
              <a:rPr lang="en-US" altLang="zh-CN" sz="1300">
                <a:solidFill>
                  <a:srgbClr val="1750EB"/>
                </a:solidFill>
                <a:latin typeface="Arial Unicode MS"/>
                <a:ea typeface="JetBrains Mono"/>
              </a:rPr>
              <a:t>	</a:t>
            </a: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sp>
        <p:nvSpPr>
          <p:cNvPr id="4" name="Rectangle 2">
            <a:extLst>
              <a:ext uri="{FF2B5EF4-FFF2-40B4-BE49-F238E27FC236}">
                <a16:creationId xmlns:a16="http://schemas.microsoft.com/office/drawing/2014/main" id="{3B180904-717B-4002-964C-7A8BD6481A95}"/>
              </a:ext>
            </a:extLst>
          </p:cNvPr>
          <p:cNvSpPr>
            <a:spLocks noChangeArrowheads="1"/>
          </p:cNvSpPr>
          <p:nvPr/>
        </p:nvSpPr>
        <p:spPr bwMode="auto">
          <a:xfrm>
            <a:off x="4019553" y="2950603"/>
            <a:ext cx="7562849" cy="1105559"/>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EmbeddingStoreIngestor ingestor </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EmbeddingStoreIngestor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C00000"/>
                </a:solidFill>
                <a:latin typeface="Arial Unicode MS"/>
                <a:ea typeface="JetBrains Mono"/>
              </a:rPr>
              <a:t>.documentSplitter(documentSplitter)</a:t>
            </a:r>
            <a:br>
              <a:rPr lang="zh-CN" altLang="zh-CN" sz="1300">
                <a:solidFill>
                  <a:srgbClr val="C00000"/>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grpSp>
        <p:nvGrpSpPr>
          <p:cNvPr id="7" name="组合 6">
            <a:extLst>
              <a:ext uri="{FF2B5EF4-FFF2-40B4-BE49-F238E27FC236}">
                <a16:creationId xmlns:a16="http://schemas.microsoft.com/office/drawing/2014/main" id="{27F1B66D-180F-46C9-B06C-951A144468FE}"/>
              </a:ext>
            </a:extLst>
          </p:cNvPr>
          <p:cNvGrpSpPr/>
          <p:nvPr/>
        </p:nvGrpSpPr>
        <p:grpSpPr>
          <a:xfrm>
            <a:off x="6096000" y="2967104"/>
            <a:ext cx="5055053" cy="2178113"/>
            <a:chOff x="7058664" y="4976354"/>
            <a:chExt cx="5055053" cy="1800520"/>
          </a:xfrm>
        </p:grpSpPr>
        <p:sp>
          <p:nvSpPr>
            <p:cNvPr id="8" name="矩形 7">
              <a:extLst>
                <a:ext uri="{FF2B5EF4-FFF2-40B4-BE49-F238E27FC236}">
                  <a16:creationId xmlns:a16="http://schemas.microsoft.com/office/drawing/2014/main" id="{24AD2697-6B76-4699-8C01-9A35036CE17A}"/>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a:solidFill>
                    <a:schemeClr val="bg1"/>
                  </a:solidFill>
                  <a:effectLst/>
                  <a:latin typeface="quote-cjk-patch"/>
                </a:rPr>
                <a:t>纵观人类文明史，那些真正推动历史前进的人物，往往不是标准答案的复述者，而是敢于质疑、勇于创新的思想者。爱因斯坦在专利局做着小职员的工作时，没有被既定的物理定律束缚，而是让思想乘着光速的翅膀，最终颠覆了牛顿的经典物理学体系。</a:t>
              </a:r>
              <a:endParaRPr lang="zh-CN" altLang="en-US" sz="1400">
                <a:solidFill>
                  <a:schemeClr val="bg1"/>
                </a:solidFill>
              </a:endParaRPr>
            </a:p>
          </p:txBody>
        </p:sp>
        <p:sp>
          <p:nvSpPr>
            <p:cNvPr id="9" name="矩形 8">
              <a:extLst>
                <a:ext uri="{FF2B5EF4-FFF2-40B4-BE49-F238E27FC236}">
                  <a16:creationId xmlns:a16="http://schemas.microsoft.com/office/drawing/2014/main" id="{0AC5C7AD-61EA-4A1B-A389-D102C0A1C538}"/>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a:t>文本片段</a:t>
              </a:r>
              <a:r>
                <a:rPr lang="en-US" altLang="zh-CN" sz="1200"/>
                <a:t>:</a:t>
              </a:r>
              <a:r>
                <a:rPr lang="zh-CN" altLang="en-US" sz="1200"/>
                <a:t>最大</a:t>
              </a:r>
              <a:r>
                <a:rPr lang="en-US" altLang="zh-CN" sz="1200"/>
                <a:t>300</a:t>
              </a:r>
              <a:r>
                <a:rPr lang="zh-CN" altLang="en-US" sz="1200"/>
                <a:t>个字符</a:t>
              </a:r>
            </a:p>
          </p:txBody>
        </p:sp>
      </p:grpSp>
      <p:grpSp>
        <p:nvGrpSpPr>
          <p:cNvPr id="10" name="组合 9">
            <a:extLst>
              <a:ext uri="{FF2B5EF4-FFF2-40B4-BE49-F238E27FC236}">
                <a16:creationId xmlns:a16="http://schemas.microsoft.com/office/drawing/2014/main" id="{7340FDE3-A180-45F1-AFEC-66F278194542}"/>
              </a:ext>
            </a:extLst>
          </p:cNvPr>
          <p:cNvGrpSpPr/>
          <p:nvPr/>
        </p:nvGrpSpPr>
        <p:grpSpPr>
          <a:xfrm>
            <a:off x="958822" y="2967105"/>
            <a:ext cx="5055053" cy="2178114"/>
            <a:chOff x="7058664" y="4976354"/>
            <a:chExt cx="5055053" cy="2178114"/>
          </a:xfrm>
        </p:grpSpPr>
        <p:sp>
          <p:nvSpPr>
            <p:cNvPr id="11" name="矩形 10">
              <a:extLst>
                <a:ext uri="{FF2B5EF4-FFF2-40B4-BE49-F238E27FC236}">
                  <a16:creationId xmlns:a16="http://schemas.microsoft.com/office/drawing/2014/main" id="{4C8FD565-24F3-4988-8F21-E227BCCB3B22}"/>
                </a:ext>
              </a:extLst>
            </p:cNvPr>
            <p:cNvSpPr/>
            <p:nvPr/>
          </p:nvSpPr>
          <p:spPr>
            <a:xfrm>
              <a:off x="7058664" y="4976354"/>
              <a:ext cx="5055053" cy="21781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a:solidFill>
                    <a:schemeClr val="bg1"/>
                  </a:solidFill>
                  <a:effectLst/>
                  <a:latin typeface="quote-cjk-patch"/>
                </a:rPr>
                <a:t>高考，这个被赋予太多意义的词汇，如同一座横亘在青春之路上的大山。我们习惯将高考比作独木桥，仿佛千万人只能挤过那唯一的通道。然而，教育的真谛不在于将所有人塑造成相同的模样，而在于让每个人都能在知识的密林中找到属于自己的小径。高考不是终点，而是起点；不是标准答案的复制，而是独特生命的绽放。</a:t>
              </a:r>
              <a:endParaRPr lang="zh-CN" altLang="en-US" sz="1400">
                <a:solidFill>
                  <a:schemeClr val="bg1"/>
                </a:solidFill>
              </a:endParaRPr>
            </a:p>
          </p:txBody>
        </p:sp>
        <p:sp>
          <p:nvSpPr>
            <p:cNvPr id="12" name="矩形 11">
              <a:extLst>
                <a:ext uri="{FF2B5EF4-FFF2-40B4-BE49-F238E27FC236}">
                  <a16:creationId xmlns:a16="http://schemas.microsoft.com/office/drawing/2014/main" id="{4A2D47E6-CC16-42F1-AC78-54E8656A50A4}"/>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a:t>文本片段</a:t>
              </a:r>
              <a:r>
                <a:rPr lang="en-US" altLang="zh-CN" sz="1200"/>
                <a:t>:</a:t>
              </a:r>
              <a:r>
                <a:rPr lang="zh-CN" altLang="en-US" sz="1200"/>
                <a:t>最大</a:t>
              </a:r>
              <a:r>
                <a:rPr lang="en-US" altLang="zh-CN" sz="1200"/>
                <a:t>300</a:t>
              </a:r>
              <a:r>
                <a:rPr lang="zh-CN" altLang="en-US" sz="1200"/>
                <a:t>个字符</a:t>
              </a:r>
            </a:p>
          </p:txBody>
        </p:sp>
      </p:grpSp>
      <p:grpSp>
        <p:nvGrpSpPr>
          <p:cNvPr id="13" name="组合 12">
            <a:extLst>
              <a:ext uri="{FF2B5EF4-FFF2-40B4-BE49-F238E27FC236}">
                <a16:creationId xmlns:a16="http://schemas.microsoft.com/office/drawing/2014/main" id="{ABBABA49-03A9-420B-BB42-18F88F076BBE}"/>
              </a:ext>
            </a:extLst>
          </p:cNvPr>
          <p:cNvGrpSpPr/>
          <p:nvPr/>
        </p:nvGrpSpPr>
        <p:grpSpPr>
          <a:xfrm>
            <a:off x="6096000" y="2967104"/>
            <a:ext cx="5055053" cy="2178113"/>
            <a:chOff x="7058664" y="4976354"/>
            <a:chExt cx="5055053" cy="1800520"/>
          </a:xfrm>
        </p:grpSpPr>
        <p:sp>
          <p:nvSpPr>
            <p:cNvPr id="14" name="矩形 13">
              <a:extLst>
                <a:ext uri="{FF2B5EF4-FFF2-40B4-BE49-F238E27FC236}">
                  <a16:creationId xmlns:a16="http://schemas.microsoft.com/office/drawing/2014/main" id="{6148BB37-4AA7-4580-98A4-52F19379B940}"/>
                </a:ext>
              </a:extLst>
            </p:cNvPr>
            <p:cNvSpPr/>
            <p:nvPr/>
          </p:nvSpPr>
          <p:spPr>
            <a:xfrm>
              <a:off x="7058664" y="4976354"/>
              <a:ext cx="5055053" cy="18005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0" i="0">
                  <a:solidFill>
                    <a:srgbClr val="C00000"/>
                  </a:solidFill>
                  <a:effectLst/>
                  <a:latin typeface="quote-cjk-patch"/>
                </a:rPr>
                <a:t>高考不是终点，而是起点；不是标准答案的复制，而是独特生命的绽放。</a:t>
              </a:r>
              <a:r>
                <a:rPr lang="zh-CN" altLang="en-US" sz="1400" b="0" i="0">
                  <a:solidFill>
                    <a:schemeClr val="bg1"/>
                  </a:solidFill>
                  <a:effectLst/>
                  <a:latin typeface="quote-cjk-patch"/>
                </a:rPr>
                <a:t>纵观人类文明史，那些真正推动历史前进的人物，往往不是标准答案的复述者，而是敢于质疑、勇于创新的思想者。爱因斯坦在专利局做着小职员的工作时，没有被既定的物理定律束缚，而是让思想乘着光速的翅膀，最终颠覆了牛顿的经典物理学体系。</a:t>
              </a:r>
              <a:endParaRPr lang="zh-CN" altLang="en-US" sz="1400">
                <a:solidFill>
                  <a:schemeClr val="bg1"/>
                </a:solidFill>
              </a:endParaRPr>
            </a:p>
          </p:txBody>
        </p:sp>
        <p:sp>
          <p:nvSpPr>
            <p:cNvPr id="16" name="矩形 15">
              <a:extLst>
                <a:ext uri="{FF2B5EF4-FFF2-40B4-BE49-F238E27FC236}">
                  <a16:creationId xmlns:a16="http://schemas.microsoft.com/office/drawing/2014/main" id="{44E239A2-AE5F-4A36-9C3D-BB83E3C894E4}"/>
                </a:ext>
              </a:extLst>
            </p:cNvPr>
            <p:cNvSpPr/>
            <p:nvPr/>
          </p:nvSpPr>
          <p:spPr>
            <a:xfrm>
              <a:off x="7058664" y="4976354"/>
              <a:ext cx="1950492" cy="29065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a:t>文本片段</a:t>
              </a:r>
              <a:r>
                <a:rPr lang="en-US" altLang="zh-CN" sz="1200"/>
                <a:t>:</a:t>
              </a:r>
              <a:r>
                <a:rPr lang="zh-CN" altLang="en-US" sz="1200"/>
                <a:t>最大</a:t>
              </a:r>
              <a:r>
                <a:rPr lang="en-US" altLang="zh-CN" sz="1200"/>
                <a:t>300</a:t>
              </a:r>
              <a:r>
                <a:rPr lang="zh-CN" altLang="en-US" sz="1200"/>
                <a:t>个字符</a:t>
              </a:r>
            </a:p>
          </p:txBody>
        </p:sp>
      </p:grpSp>
    </p:spTree>
    <p:extLst>
      <p:ext uri="{BB962C8B-B14F-4D97-AF65-F5344CB8AC3E}">
        <p14:creationId xmlns:p14="http://schemas.microsoft.com/office/powerpoint/2010/main" val="18645674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7" presetClass="exit" presetSubtype="0" fill="hold" nodeType="clickEffect">
                                  <p:stCondLst>
                                    <p:cond delay="0"/>
                                  </p:stCondLst>
                                  <p:childTnLst>
                                    <p:animEffect transition="out" filter="fade">
                                      <p:cBhvr>
                                        <p:cTn id="30" dur="1000"/>
                                        <p:tgtEl>
                                          <p:spTgt spid="7"/>
                                        </p:tgtEl>
                                      </p:cBhvr>
                                    </p:animEffect>
                                    <p:anim calcmode="lin" valueType="num">
                                      <p:cBhvr>
                                        <p:cTn id="31" dur="1000"/>
                                        <p:tgtEl>
                                          <p:spTgt spid="7"/>
                                        </p:tgtEl>
                                        <p:attrNameLst>
                                          <p:attrName>ppt_x</p:attrName>
                                        </p:attrNameLst>
                                      </p:cBhvr>
                                      <p:tavLst>
                                        <p:tav tm="0">
                                          <p:val>
                                            <p:strVal val="ppt_x"/>
                                          </p:val>
                                        </p:tav>
                                        <p:tav tm="100000">
                                          <p:val>
                                            <p:strVal val="ppt_x"/>
                                          </p:val>
                                        </p:tav>
                                      </p:tavLst>
                                    </p:anim>
                                    <p:anim calcmode="lin" valueType="num">
                                      <p:cBhvr>
                                        <p:cTn id="32" dur="100" decel="100000"/>
                                        <p:tgtEl>
                                          <p:spTgt spid="7"/>
                                        </p:tgtEl>
                                        <p:attrNameLst>
                                          <p:attrName>ppt_y</p:attrName>
                                        </p:attrNameLst>
                                      </p:cBhvr>
                                      <p:tavLst>
                                        <p:tav tm="0">
                                          <p:val>
                                            <p:strVal val="ppt_y"/>
                                          </p:val>
                                        </p:tav>
                                        <p:tav tm="100000">
                                          <p:val>
                                            <p:strVal val="ppt_y-.03"/>
                                          </p:val>
                                        </p:tav>
                                      </p:tavLst>
                                    </p:anim>
                                    <p:anim calcmode="lin" valueType="num">
                                      <p:cBhvr>
                                        <p:cTn id="33" dur="900" accel="100000">
                                          <p:stCondLst>
                                            <p:cond delay="100"/>
                                          </p:stCondLst>
                                        </p:cTn>
                                        <p:tgtEl>
                                          <p:spTgt spid="7"/>
                                        </p:tgtEl>
                                        <p:attrNameLst>
                                          <p:attrName>ppt_y</p:attrName>
                                        </p:attrNameLst>
                                      </p:cBhvr>
                                      <p:tavLst>
                                        <p:tav tm="0">
                                          <p:val>
                                            <p:strVal val="ppt_y"/>
                                          </p:val>
                                        </p:tav>
                                        <p:tav tm="100000">
                                          <p:val>
                                            <p:strVal val="ppt_y+1"/>
                                          </p:val>
                                        </p:tav>
                                      </p:tavLst>
                                    </p:anim>
                                    <p:set>
                                      <p:cBhvr>
                                        <p:cTn id="34" dur="1" fill="hold">
                                          <p:stCondLst>
                                            <p:cond delay="999"/>
                                          </p:stCondLst>
                                        </p:cTn>
                                        <p:tgtEl>
                                          <p:spTgt spid="7"/>
                                        </p:tgtEl>
                                        <p:attrNameLst>
                                          <p:attrName>style.visibility</p:attrName>
                                        </p:attrNameLst>
                                      </p:cBhvr>
                                      <p:to>
                                        <p:strVal val="hidden"/>
                                      </p:to>
                                    </p:set>
                                  </p:childTnLst>
                                </p:cTn>
                              </p:par>
                            </p:childTnLst>
                          </p:cTn>
                        </p:par>
                        <p:par>
                          <p:cTn id="35" fill="hold">
                            <p:stCondLst>
                              <p:cond delay="1000"/>
                            </p:stCondLst>
                            <p:childTnLst>
                              <p:par>
                                <p:cTn id="36" presetID="42" presetClass="entr" presetSubtype="0"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7" presetClass="exit" presetSubtype="0" fill="hold" nodeType="clickEffect">
                                  <p:stCondLst>
                                    <p:cond delay="0"/>
                                  </p:stCondLst>
                                  <p:childTnLst>
                                    <p:animEffect transition="out" filter="fade">
                                      <p:cBhvr>
                                        <p:cTn id="44" dur="1000"/>
                                        <p:tgtEl>
                                          <p:spTgt spid="10"/>
                                        </p:tgtEl>
                                      </p:cBhvr>
                                    </p:animEffect>
                                    <p:anim calcmode="lin" valueType="num">
                                      <p:cBhvr>
                                        <p:cTn id="45" dur="1000"/>
                                        <p:tgtEl>
                                          <p:spTgt spid="10"/>
                                        </p:tgtEl>
                                        <p:attrNameLst>
                                          <p:attrName>ppt_x</p:attrName>
                                        </p:attrNameLst>
                                      </p:cBhvr>
                                      <p:tavLst>
                                        <p:tav tm="0">
                                          <p:val>
                                            <p:strVal val="ppt_x"/>
                                          </p:val>
                                        </p:tav>
                                        <p:tav tm="100000">
                                          <p:val>
                                            <p:strVal val="ppt_x"/>
                                          </p:val>
                                        </p:tav>
                                      </p:tavLst>
                                    </p:anim>
                                    <p:anim calcmode="lin" valueType="num">
                                      <p:cBhvr>
                                        <p:cTn id="46" dur="100" decel="100000"/>
                                        <p:tgtEl>
                                          <p:spTgt spid="10"/>
                                        </p:tgtEl>
                                        <p:attrNameLst>
                                          <p:attrName>ppt_y</p:attrName>
                                        </p:attrNameLst>
                                      </p:cBhvr>
                                      <p:tavLst>
                                        <p:tav tm="0">
                                          <p:val>
                                            <p:strVal val="ppt_y"/>
                                          </p:val>
                                        </p:tav>
                                        <p:tav tm="100000">
                                          <p:val>
                                            <p:strVal val="ppt_y-.03"/>
                                          </p:val>
                                        </p:tav>
                                      </p:tavLst>
                                    </p:anim>
                                    <p:anim calcmode="lin" valueType="num">
                                      <p:cBhvr>
                                        <p:cTn id="47" dur="900" accel="100000">
                                          <p:stCondLst>
                                            <p:cond delay="100"/>
                                          </p:stCondLst>
                                        </p:cTn>
                                        <p:tgtEl>
                                          <p:spTgt spid="10"/>
                                        </p:tgtEl>
                                        <p:attrNameLst>
                                          <p:attrName>ppt_y</p:attrName>
                                        </p:attrNameLst>
                                      </p:cBhvr>
                                      <p:tavLst>
                                        <p:tav tm="0">
                                          <p:val>
                                            <p:strVal val="ppt_y"/>
                                          </p:val>
                                        </p:tav>
                                        <p:tav tm="100000">
                                          <p:val>
                                            <p:strVal val="ppt_y+1"/>
                                          </p:val>
                                        </p:tav>
                                      </p:tavLst>
                                    </p:anim>
                                    <p:set>
                                      <p:cBhvr>
                                        <p:cTn id="48" dur="1" fill="hold">
                                          <p:stCondLst>
                                            <p:cond delay="999"/>
                                          </p:stCondLst>
                                        </p:cTn>
                                        <p:tgtEl>
                                          <p:spTgt spid="10"/>
                                        </p:tgtEl>
                                        <p:attrNameLst>
                                          <p:attrName>style.visibility</p:attrName>
                                        </p:attrNameLst>
                                      </p:cBhvr>
                                      <p:to>
                                        <p:strVal val="hidden"/>
                                      </p:to>
                                    </p:set>
                                  </p:childTnLst>
                                </p:cTn>
                              </p:par>
                              <p:par>
                                <p:cTn id="49" presetID="37" presetClass="exit" presetSubtype="0" fill="hold" nodeType="withEffect">
                                  <p:stCondLst>
                                    <p:cond delay="0"/>
                                  </p:stCondLst>
                                  <p:childTnLst>
                                    <p:animEffect transition="out" filter="fade">
                                      <p:cBhvr>
                                        <p:cTn id="50" dur="1000"/>
                                        <p:tgtEl>
                                          <p:spTgt spid="13"/>
                                        </p:tgtEl>
                                      </p:cBhvr>
                                    </p:animEffect>
                                    <p:anim calcmode="lin" valueType="num">
                                      <p:cBhvr>
                                        <p:cTn id="51" dur="1000"/>
                                        <p:tgtEl>
                                          <p:spTgt spid="13"/>
                                        </p:tgtEl>
                                        <p:attrNameLst>
                                          <p:attrName>ppt_x</p:attrName>
                                        </p:attrNameLst>
                                      </p:cBhvr>
                                      <p:tavLst>
                                        <p:tav tm="0">
                                          <p:val>
                                            <p:strVal val="ppt_x"/>
                                          </p:val>
                                        </p:tav>
                                        <p:tav tm="100000">
                                          <p:val>
                                            <p:strVal val="ppt_x"/>
                                          </p:val>
                                        </p:tav>
                                      </p:tavLst>
                                    </p:anim>
                                    <p:anim calcmode="lin" valueType="num">
                                      <p:cBhvr>
                                        <p:cTn id="52" dur="100" decel="100000"/>
                                        <p:tgtEl>
                                          <p:spTgt spid="13"/>
                                        </p:tgtEl>
                                        <p:attrNameLst>
                                          <p:attrName>ppt_y</p:attrName>
                                        </p:attrNameLst>
                                      </p:cBhvr>
                                      <p:tavLst>
                                        <p:tav tm="0">
                                          <p:val>
                                            <p:strVal val="ppt_y"/>
                                          </p:val>
                                        </p:tav>
                                        <p:tav tm="100000">
                                          <p:val>
                                            <p:strVal val="ppt_y-.03"/>
                                          </p:val>
                                        </p:tav>
                                      </p:tavLst>
                                    </p:anim>
                                    <p:anim calcmode="lin" valueType="num">
                                      <p:cBhvr>
                                        <p:cTn id="53" dur="900" accel="100000">
                                          <p:stCondLst>
                                            <p:cond delay="100"/>
                                          </p:stCondLst>
                                        </p:cTn>
                                        <p:tgtEl>
                                          <p:spTgt spid="13"/>
                                        </p:tgtEl>
                                        <p:attrNameLst>
                                          <p:attrName>ppt_y</p:attrName>
                                        </p:attrNameLst>
                                      </p:cBhvr>
                                      <p:tavLst>
                                        <p:tav tm="0">
                                          <p:val>
                                            <p:strVal val="ppt_y"/>
                                          </p:val>
                                        </p:tav>
                                        <p:tav tm="100000">
                                          <p:val>
                                            <p:strVal val="ppt_y+1"/>
                                          </p:val>
                                        </p:tav>
                                      </p:tavLst>
                                    </p:anim>
                                    <p:set>
                                      <p:cBhvr>
                                        <p:cTn id="54" dur="1" fill="hold">
                                          <p:stCondLst>
                                            <p:cond delay="999"/>
                                          </p:stCondLst>
                                        </p:cTn>
                                        <p:tgtEl>
                                          <p:spTgt spid="13"/>
                                        </p:tgtEl>
                                        <p:attrNameLst>
                                          <p:attrName>style.visibility</p:attrName>
                                        </p:attrNameLst>
                                      </p:cBhvr>
                                      <p:to>
                                        <p:strVal val="hidden"/>
                                      </p:to>
                                    </p:set>
                                  </p:childTnLst>
                                </p:cTn>
                              </p:par>
                            </p:childTnLst>
                          </p:cTn>
                        </p:par>
                        <p:par>
                          <p:cTn id="55" fill="hold">
                            <p:stCondLst>
                              <p:cond delay="1000"/>
                            </p:stCondLst>
                            <p:childTnLst>
                              <p:par>
                                <p:cTn id="56" presetID="42" presetClass="entr" presetSubtype="0" fill="hold" grpId="0" nodeType="after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fade">
                                      <p:cBhvr>
                                        <p:cTn id="58" dur="1000"/>
                                        <p:tgtEl>
                                          <p:spTgt spid="4"/>
                                        </p:tgtEl>
                                      </p:cBhvr>
                                    </p:animEffect>
                                    <p:anim calcmode="lin" valueType="num">
                                      <p:cBhvr>
                                        <p:cTn id="59" dur="1000" fill="hold"/>
                                        <p:tgtEl>
                                          <p:spTgt spid="4"/>
                                        </p:tgtEl>
                                        <p:attrNameLst>
                                          <p:attrName>ppt_x</p:attrName>
                                        </p:attrNameLst>
                                      </p:cBhvr>
                                      <p:tavLst>
                                        <p:tav tm="0">
                                          <p:val>
                                            <p:strVal val="#ppt_x"/>
                                          </p:val>
                                        </p:tav>
                                        <p:tav tm="100000">
                                          <p:val>
                                            <p:strVal val="#ppt_x"/>
                                          </p:val>
                                        </p:tav>
                                      </p:tavLst>
                                    </p:anim>
                                    <p:anim calcmode="lin" valueType="num">
                                      <p:cBhvr>
                                        <p:cTn id="6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文档加载器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Loader</a:t>
            </a:r>
            <a:endParaRPr lang="zh-CN" altLang="en-US" sz="100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文档解析器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Parser</a:t>
            </a:r>
            <a:endParaRPr lang="zh-CN" altLang="en-US" sz="100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a:t>
            </a:r>
            <a:endParaRPr lang="zh-CN" altLang="en-US" sz="100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文档分割器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Splitter</a:t>
            </a:r>
            <a:endParaRPr lang="zh-CN" altLang="en-US" sz="100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向量模型</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EmbeddingModel</a:t>
            </a:r>
            <a:endParaRPr lang="zh-CN" altLang="en-US" sz="100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向量数据库操作对象</a:t>
            </a:r>
            <a:r>
              <a:rPr lang="en-US" altLang="zh-CN" sz="1000" err="1">
                <a:solidFill>
                  <a:srgbClr val="FFFFFF"/>
                </a:solidFill>
                <a:latin typeface="Source Code Pro"/>
              </a:rPr>
              <a:t>EmbeddingStore</a:t>
            </a:r>
            <a:endParaRPr lang="zh-CN" altLang="en-US" sz="100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err="1">
                <a:solidFill>
                  <a:srgbClr val="C00000"/>
                </a:solidFill>
                <a:latin typeface="Source Code Pro"/>
              </a:rPr>
              <a:t>EmbeddingStoreIngestor</a:t>
            </a:r>
            <a:endParaRPr lang="zh-CN" altLang="en-US" sz="2400">
              <a:solidFill>
                <a:srgbClr val="C00000"/>
              </a:solidFill>
              <a:latin typeface="Source Code Pro"/>
            </a:endParaRPr>
          </a:p>
        </p:txBody>
      </p:sp>
    </p:spTree>
    <p:extLst>
      <p:ext uri="{BB962C8B-B14F-4D97-AF65-F5344CB8AC3E}">
        <p14:creationId xmlns:p14="http://schemas.microsoft.com/office/powerpoint/2010/main" val="949570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向量模型，用于把文档分割后的片段向量化或者查询时把用户输入的内容向量化</a:t>
            </a:r>
            <a:endParaRPr lang="en-US" altLang="zh-CN">
              <a:solidFill>
                <a:srgbClr val="262626"/>
              </a:solidFill>
              <a:latin typeface="阿里巴巴普惠体"/>
              <a:ea typeface="阿里巴巴普惠体"/>
            </a:endParaRPr>
          </a:p>
        </p:txBody>
      </p:sp>
      <p:sp>
        <p:nvSpPr>
          <p:cNvPr id="5" name="Rectangle 1">
            <a:extLst>
              <a:ext uri="{FF2B5EF4-FFF2-40B4-BE49-F238E27FC236}">
                <a16:creationId xmlns:a16="http://schemas.microsoft.com/office/drawing/2014/main" id="{122009FF-A885-4D69-9F8E-B4C50A91592C}"/>
              </a:ext>
            </a:extLst>
          </p:cNvPr>
          <p:cNvSpPr>
            <a:spLocks noChangeArrowheads="1"/>
          </p:cNvSpPr>
          <p:nvPr/>
        </p:nvSpPr>
        <p:spPr bwMode="auto">
          <a:xfrm>
            <a:off x="623823" y="1651505"/>
            <a:ext cx="5710304" cy="3706271"/>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33B3"/>
                </a:solidFill>
                <a:latin typeface="Arial Unicode MS"/>
                <a:ea typeface="JetBrains Mono"/>
              </a:rPr>
              <a:t>public interface </a:t>
            </a:r>
            <a:r>
              <a:rPr lang="zh-CN" altLang="zh-CN" sz="1300">
                <a:solidFill>
                  <a:srgbClr val="000000"/>
                </a:solidFill>
                <a:latin typeface="Arial Unicode MS"/>
                <a:ea typeface="JetBrains Mono"/>
              </a:rPr>
              <a:t>EmbeddingModel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default </a:t>
            </a:r>
            <a:r>
              <a:rPr lang="zh-CN" altLang="zh-CN" sz="1300">
                <a:solidFill>
                  <a:srgbClr val="000000"/>
                </a:solidFill>
                <a:latin typeface="Arial Unicode MS"/>
                <a:ea typeface="JetBrains Mono"/>
              </a:rPr>
              <a:t>Response</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Embedding</a:t>
            </a:r>
            <a:r>
              <a:rPr lang="zh-CN" altLang="zh-CN" sz="1300">
                <a:solidFill>
                  <a:srgbClr val="080808"/>
                </a:solidFill>
                <a:latin typeface="Arial Unicode MS"/>
                <a:ea typeface="JetBrains Mono"/>
              </a:rPr>
              <a:t>&gt; </a:t>
            </a:r>
            <a:r>
              <a:rPr lang="zh-CN" altLang="zh-CN" sz="1300">
                <a:solidFill>
                  <a:srgbClr val="00627A"/>
                </a:solidFill>
                <a:latin typeface="Arial Unicode MS"/>
                <a:ea typeface="JetBrains Mono"/>
              </a:rPr>
              <a:t>embed</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String text</a:t>
            </a: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return this</a:t>
            </a:r>
            <a:r>
              <a:rPr lang="zh-CN" altLang="zh-CN" sz="1300">
                <a:solidFill>
                  <a:srgbClr val="080808"/>
                </a:solidFill>
                <a:latin typeface="Arial Unicode MS"/>
                <a:ea typeface="JetBrains Mono"/>
              </a:rPr>
              <a:t>.embed(</a:t>
            </a:r>
            <a:r>
              <a:rPr lang="zh-CN" altLang="zh-CN" sz="1300">
                <a:solidFill>
                  <a:srgbClr val="000000"/>
                </a:solidFill>
                <a:latin typeface="Arial Unicode MS"/>
                <a:ea typeface="JetBrains Mono"/>
              </a:rPr>
              <a:t>TextSegment</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from</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text</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default </a:t>
            </a:r>
            <a:r>
              <a:rPr lang="zh-CN" altLang="zh-CN" sz="1300">
                <a:solidFill>
                  <a:srgbClr val="000000"/>
                </a:solidFill>
                <a:latin typeface="Arial Unicode MS"/>
                <a:ea typeface="JetBrains Mono"/>
              </a:rPr>
              <a:t>Response</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Embedding</a:t>
            </a:r>
            <a:r>
              <a:rPr lang="zh-CN" altLang="zh-CN" sz="1300">
                <a:solidFill>
                  <a:srgbClr val="080808"/>
                </a:solidFill>
                <a:latin typeface="Arial Unicode MS"/>
                <a:ea typeface="JetBrains Mono"/>
              </a:rPr>
              <a:t>&gt; </a:t>
            </a:r>
            <a:r>
              <a:rPr lang="zh-CN" altLang="zh-CN" sz="1300">
                <a:solidFill>
                  <a:srgbClr val="00627A"/>
                </a:solidFill>
                <a:latin typeface="Arial Unicode MS"/>
                <a:ea typeface="JetBrains Mono"/>
              </a:rPr>
              <a:t>embed</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TextSegment textSegment</a:t>
            </a: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en-US" altLang="zh-CN" sz="1300">
                <a:solidFill>
                  <a:srgbClr val="080808"/>
                </a:solidFill>
                <a:latin typeface="Arial Unicode MS"/>
                <a:ea typeface="JetBrains Mono"/>
              </a:rPr>
              <a:t>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Response</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List</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Embedding</a:t>
            </a:r>
            <a:r>
              <a:rPr lang="zh-CN" altLang="zh-CN" sz="1300">
                <a:solidFill>
                  <a:srgbClr val="080808"/>
                </a:solidFill>
                <a:latin typeface="Arial Unicode MS"/>
                <a:ea typeface="JetBrains Mono"/>
              </a:rPr>
              <a:t>&gt;&gt; </a:t>
            </a:r>
            <a:r>
              <a:rPr lang="zh-CN" altLang="zh-CN" sz="1300">
                <a:solidFill>
                  <a:srgbClr val="00627A"/>
                </a:solidFill>
                <a:latin typeface="Arial Unicode MS"/>
                <a:ea typeface="JetBrains Mono"/>
              </a:rPr>
              <a:t>embedAll</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List</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TextSegment</a:t>
            </a:r>
            <a:r>
              <a:rPr lang="zh-CN" altLang="zh-CN" sz="1300">
                <a:solidFill>
                  <a:srgbClr val="080808"/>
                </a:solidFill>
                <a:latin typeface="Arial Unicode MS"/>
                <a:ea typeface="JetBrains Mono"/>
              </a:rPr>
              <a:t>&gt; </a:t>
            </a:r>
            <a:r>
              <a:rPr lang="en-US" altLang="zh-CN" sz="1300">
                <a:solidFill>
                  <a:srgbClr val="000000"/>
                </a:solidFill>
                <a:latin typeface="Arial Unicode MS"/>
                <a:ea typeface="JetBrains Mono"/>
              </a:rPr>
              <a:t>texts</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default int </a:t>
            </a:r>
            <a:r>
              <a:rPr lang="zh-CN" altLang="zh-CN" sz="1300">
                <a:solidFill>
                  <a:srgbClr val="00627A"/>
                </a:solidFill>
                <a:latin typeface="Arial Unicode MS"/>
                <a:ea typeface="JetBrains Mono"/>
              </a:rPr>
              <a:t>dimension</a:t>
            </a: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return </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Embedding</a:t>
            </a:r>
            <a:r>
              <a:rPr lang="zh-CN" altLang="zh-CN" sz="1300">
                <a:solidFill>
                  <a:srgbClr val="080808"/>
                </a:solidFill>
                <a:latin typeface="Arial Unicode MS"/>
                <a:ea typeface="JetBrains Mono"/>
              </a:rPr>
              <a:t>)</a:t>
            </a:r>
            <a:r>
              <a:rPr lang="zh-CN" altLang="zh-CN" sz="1300">
                <a:solidFill>
                  <a:srgbClr val="0033B3"/>
                </a:solidFill>
                <a:latin typeface="Arial Unicode MS"/>
                <a:ea typeface="JetBrains Mono"/>
              </a:rPr>
              <a:t>this</a:t>
            </a:r>
            <a:r>
              <a:rPr lang="zh-CN" altLang="zh-CN" sz="1300">
                <a:solidFill>
                  <a:srgbClr val="080808"/>
                </a:solidFill>
                <a:latin typeface="Arial Unicode MS"/>
                <a:ea typeface="JetBrains Mono"/>
              </a:rPr>
              <a:t>.embed(</a:t>
            </a:r>
            <a:r>
              <a:rPr lang="zh-CN" altLang="zh-CN" sz="1300">
                <a:solidFill>
                  <a:srgbClr val="067D17"/>
                </a:solidFill>
                <a:latin typeface="Arial Unicode MS"/>
                <a:ea typeface="JetBrains Mono"/>
              </a:rPr>
              <a:t>"test"</a:t>
            </a:r>
            <a:r>
              <a:rPr lang="zh-CN" altLang="zh-CN" sz="1300">
                <a:solidFill>
                  <a:srgbClr val="080808"/>
                </a:solidFill>
                <a:latin typeface="Arial Unicode MS"/>
                <a:ea typeface="JetBrains Mono"/>
              </a:rPr>
              <a:t>).content()).dimension();</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pic>
        <p:nvPicPr>
          <p:cNvPr id="9" name="图片 8">
            <a:extLst>
              <a:ext uri="{FF2B5EF4-FFF2-40B4-BE49-F238E27FC236}">
                <a16:creationId xmlns:a16="http://schemas.microsoft.com/office/drawing/2014/main" id="{C58A0FBE-5356-4FB5-AE82-7AC8F03B4471}"/>
              </a:ext>
            </a:extLst>
          </p:cNvPr>
          <p:cNvPicPr>
            <a:picLocks noChangeAspect="1"/>
          </p:cNvPicPr>
          <p:nvPr/>
        </p:nvPicPr>
        <p:blipFill>
          <a:blip r:embed="rId2"/>
          <a:stretch>
            <a:fillRect/>
          </a:stretch>
        </p:blipFill>
        <p:spPr>
          <a:xfrm>
            <a:off x="6577014" y="1651502"/>
            <a:ext cx="4619625" cy="1581151"/>
          </a:xfrm>
          <a:prstGeom prst="rect">
            <a:avLst/>
          </a:prstGeom>
          <a:ln w="6350">
            <a:solidFill>
              <a:schemeClr val="bg1">
                <a:lumMod val="75000"/>
              </a:schemeClr>
            </a:solidFill>
          </a:ln>
        </p:spPr>
      </p:pic>
    </p:spTree>
    <p:extLst>
      <p:ext uri="{BB962C8B-B14F-4D97-AF65-F5344CB8AC3E}">
        <p14:creationId xmlns:p14="http://schemas.microsoft.com/office/powerpoint/2010/main" val="3047428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向量模型，用于把文档分割后的片段向量化或者查询时把用户输入的内容向量化</a:t>
            </a:r>
            <a:endParaRPr lang="en-US" altLang="zh-CN">
              <a:solidFill>
                <a:srgbClr val="262626"/>
              </a:solidFill>
              <a:latin typeface="阿里巴巴普惠体"/>
              <a:ea typeface="阿里巴巴普惠体"/>
            </a:endParaRPr>
          </a:p>
        </p:txBody>
      </p:sp>
      <p:sp>
        <p:nvSpPr>
          <p:cNvPr id="6" name="内容占位符 1">
            <a:extLst>
              <a:ext uri="{FF2B5EF4-FFF2-40B4-BE49-F238E27FC236}">
                <a16:creationId xmlns:a16="http://schemas.microsoft.com/office/drawing/2014/main" id="{C12F65B1-6F78-4CFF-AB3E-5106AC5EC481}"/>
              </a:ext>
            </a:extLst>
          </p:cNvPr>
          <p:cNvSpPr txBox="1">
            <a:spLocks/>
          </p:cNvSpPr>
          <p:nvPr/>
        </p:nvSpPr>
        <p:spPr>
          <a:xfrm>
            <a:off x="919097" y="1622927"/>
            <a:ext cx="3471931" cy="118695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a:solidFill>
                  <a:srgbClr val="2F2F2F"/>
                </a:solidFill>
                <a:latin typeface="Source Code Pro"/>
              </a:rPr>
              <a:t>配置向量模型信息</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设置</a:t>
            </a:r>
            <a:r>
              <a:rPr lang="en-US" altLang="zh-CN" sz="1600" err="1">
                <a:solidFill>
                  <a:srgbClr val="2F2F2F"/>
                </a:solidFill>
                <a:latin typeface="Source Code Pro"/>
              </a:rPr>
              <a:t>EmbeddingModel</a:t>
            </a:r>
            <a:endParaRPr lang="en-US" altLang="zh-CN" sz="1600">
              <a:solidFill>
                <a:srgbClr val="2F2F2F"/>
              </a:solidFill>
              <a:latin typeface="Source Code Pro"/>
            </a:endParaRPr>
          </a:p>
        </p:txBody>
      </p:sp>
      <p:pic>
        <p:nvPicPr>
          <p:cNvPr id="8" name="图片 7">
            <a:extLst>
              <a:ext uri="{FF2B5EF4-FFF2-40B4-BE49-F238E27FC236}">
                <a16:creationId xmlns:a16="http://schemas.microsoft.com/office/drawing/2014/main" id="{D1659CDF-C395-4464-9487-71BD736B417A}"/>
              </a:ext>
            </a:extLst>
          </p:cNvPr>
          <p:cNvPicPr>
            <a:picLocks noChangeAspect="1"/>
          </p:cNvPicPr>
          <p:nvPr/>
        </p:nvPicPr>
        <p:blipFill>
          <a:blip r:embed="rId2"/>
          <a:stretch>
            <a:fillRect/>
          </a:stretch>
        </p:blipFill>
        <p:spPr>
          <a:xfrm>
            <a:off x="5944067" y="1622928"/>
            <a:ext cx="5867504" cy="3589803"/>
          </a:xfrm>
          <a:prstGeom prst="rect">
            <a:avLst/>
          </a:prstGeom>
          <a:ln w="6350">
            <a:solidFill>
              <a:schemeClr val="bg1">
                <a:lumMod val="75000"/>
              </a:schemeClr>
            </a:solidFill>
          </a:ln>
        </p:spPr>
      </p:pic>
      <p:grpSp>
        <p:nvGrpSpPr>
          <p:cNvPr id="11" name="组合 10">
            <a:extLst>
              <a:ext uri="{FF2B5EF4-FFF2-40B4-BE49-F238E27FC236}">
                <a16:creationId xmlns:a16="http://schemas.microsoft.com/office/drawing/2014/main" id="{3B097779-13B3-4E6A-A272-093327AB89E3}"/>
              </a:ext>
            </a:extLst>
          </p:cNvPr>
          <p:cNvGrpSpPr/>
          <p:nvPr/>
        </p:nvGrpSpPr>
        <p:grpSpPr>
          <a:xfrm>
            <a:off x="652397" y="2641694"/>
            <a:ext cx="5198032" cy="2593383"/>
            <a:chOff x="452372" y="2641690"/>
            <a:chExt cx="5198032" cy="2593383"/>
          </a:xfrm>
        </p:grpSpPr>
        <p:sp>
          <p:nvSpPr>
            <p:cNvPr id="12" name="矩形: 圆角 11">
              <a:extLst>
                <a:ext uri="{FF2B5EF4-FFF2-40B4-BE49-F238E27FC236}">
                  <a16:creationId xmlns:a16="http://schemas.microsoft.com/office/drawing/2014/main" id="{135CB934-0976-48D3-9780-D664EB5AA1F1}"/>
                </a:ext>
              </a:extLst>
            </p:cNvPr>
            <p:cNvSpPr/>
            <p:nvPr/>
          </p:nvSpPr>
          <p:spPr>
            <a:xfrm>
              <a:off x="452372" y="2641690"/>
              <a:ext cx="5198032" cy="2593383"/>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3" name="任意多边形: 形状 12">
              <a:extLst>
                <a:ext uri="{FF2B5EF4-FFF2-40B4-BE49-F238E27FC236}">
                  <a16:creationId xmlns:a16="http://schemas.microsoft.com/office/drawing/2014/main" id="{3D4797BE-C5C8-4B97-9BB2-99F92285CBB2}"/>
                </a:ext>
              </a:extLst>
            </p:cNvPr>
            <p:cNvSpPr/>
            <p:nvPr/>
          </p:nvSpPr>
          <p:spPr>
            <a:xfrm>
              <a:off x="452372" y="2663429"/>
              <a:ext cx="5198032"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4" name="组合 13">
              <a:extLst>
                <a:ext uri="{FF2B5EF4-FFF2-40B4-BE49-F238E27FC236}">
                  <a16:creationId xmlns:a16="http://schemas.microsoft.com/office/drawing/2014/main" id="{61FB003C-381F-4CD2-A4B4-3DB6329B7E9F}"/>
                </a:ext>
              </a:extLst>
            </p:cNvPr>
            <p:cNvGrpSpPr/>
            <p:nvPr/>
          </p:nvGrpSpPr>
          <p:grpSpPr>
            <a:xfrm>
              <a:off x="618123" y="2748899"/>
              <a:ext cx="771634" cy="133081"/>
              <a:chOff x="2016841" y="2587412"/>
              <a:chExt cx="730275" cy="133081"/>
            </a:xfrm>
          </p:grpSpPr>
          <p:sp>
            <p:nvSpPr>
              <p:cNvPr id="15" name="椭圆 14">
                <a:extLst>
                  <a:ext uri="{FF2B5EF4-FFF2-40B4-BE49-F238E27FC236}">
                    <a16:creationId xmlns:a16="http://schemas.microsoft.com/office/drawing/2014/main" id="{C3D774DA-F37D-41C1-A537-1255A1D9F341}"/>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9FE1BF26-E7C3-4C4D-A16B-E5943089223D}"/>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7" name="椭圆 16">
                <a:extLst>
                  <a:ext uri="{FF2B5EF4-FFF2-40B4-BE49-F238E27FC236}">
                    <a16:creationId xmlns:a16="http://schemas.microsoft.com/office/drawing/2014/main" id="{E1C06492-405C-4EEC-AEBB-A32C938B036D}"/>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0" name="Rectangle 1">
              <a:extLst>
                <a:ext uri="{FF2B5EF4-FFF2-40B4-BE49-F238E27FC236}">
                  <a16:creationId xmlns:a16="http://schemas.microsoft.com/office/drawing/2014/main" id="{10C895BD-DFE2-407F-BD4A-1995E3EF8221}"/>
                </a:ext>
              </a:extLst>
            </p:cNvPr>
            <p:cNvSpPr>
              <a:spLocks noChangeArrowheads="1"/>
            </p:cNvSpPr>
            <p:nvPr/>
          </p:nvSpPr>
          <p:spPr bwMode="auto">
            <a:xfrm>
              <a:off x="524848" y="3028418"/>
              <a:ext cx="5053079" cy="214584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33B3"/>
                  </a:solidFill>
                  <a:latin typeface="Arial Unicode MS"/>
                  <a:ea typeface="JetBrains Mono"/>
                </a:rPr>
                <a:t>langchain4j</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open-ai</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embedding-model</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base-url</a:t>
              </a:r>
              <a:r>
                <a:rPr lang="zh-CN" altLang="zh-CN" sz="1300">
                  <a:solidFill>
                    <a:srgbClr val="080808"/>
                  </a:solidFill>
                  <a:latin typeface="Arial Unicode MS"/>
                  <a:ea typeface="JetBrains Mono"/>
                </a:rPr>
                <a:t>: https://dashscope.aliyuncs.com/compatible-mode/v1</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api-key</a:t>
              </a: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API-KEY</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model-name</a:t>
              </a:r>
              <a:r>
                <a:rPr lang="zh-CN" altLang="zh-CN" sz="1300">
                  <a:solidFill>
                    <a:srgbClr val="080808"/>
                  </a:solidFill>
                  <a:latin typeface="Arial Unicode MS"/>
                  <a:ea typeface="JetBrains Mono"/>
                </a:rPr>
                <a:t>: text-embedding-v3</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log-requests</a:t>
              </a: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true</a:t>
              </a:r>
              <a:br>
                <a:rPr lang="zh-CN" altLang="zh-CN" sz="1300">
                  <a:solidFill>
                    <a:srgbClr val="0033B3"/>
                  </a:solidFill>
                  <a:latin typeface="Arial Unicode MS"/>
                  <a:ea typeface="JetBrains Mono"/>
                </a:rPr>
              </a:br>
              <a:r>
                <a:rPr lang="zh-CN" altLang="zh-CN" sz="1300">
                  <a:solidFill>
                    <a:srgbClr val="0033B3"/>
                  </a:solidFill>
                  <a:latin typeface="Arial Unicode MS"/>
                  <a:ea typeface="JetBrains Mono"/>
                </a:rPr>
                <a:t>      log-responses</a:t>
              </a: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true</a:t>
              </a:r>
              <a:endParaRPr lang="zh-CN" altLang="zh-CN" sz="2400">
                <a:latin typeface="Arial" panose="020B0604020202020204" pitchFamily="34" charset="0"/>
              </a:endParaRPr>
            </a:p>
          </p:txBody>
        </p:sp>
      </p:grpSp>
      <p:sp>
        <p:nvSpPr>
          <p:cNvPr id="24" name="矩形 23">
            <a:extLst>
              <a:ext uri="{FF2B5EF4-FFF2-40B4-BE49-F238E27FC236}">
                <a16:creationId xmlns:a16="http://schemas.microsoft.com/office/drawing/2014/main" id="{6A1D8EA7-80DC-4FDE-8278-548CB6C7851F}"/>
              </a:ext>
            </a:extLst>
          </p:cNvPr>
          <p:cNvSpPr/>
          <p:nvPr/>
        </p:nvSpPr>
        <p:spPr>
          <a:xfrm>
            <a:off x="888456" y="3606031"/>
            <a:ext cx="185474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grpSp>
        <p:nvGrpSpPr>
          <p:cNvPr id="30" name="组合 29">
            <a:extLst>
              <a:ext uri="{FF2B5EF4-FFF2-40B4-BE49-F238E27FC236}">
                <a16:creationId xmlns:a16="http://schemas.microsoft.com/office/drawing/2014/main" id="{F968ADBD-F479-4DD8-8704-CDD0F98ADB7B}"/>
              </a:ext>
            </a:extLst>
          </p:cNvPr>
          <p:cNvGrpSpPr/>
          <p:nvPr/>
        </p:nvGrpSpPr>
        <p:grpSpPr>
          <a:xfrm>
            <a:off x="746035" y="3045933"/>
            <a:ext cx="5198032" cy="3681275"/>
            <a:chOff x="746035" y="3024324"/>
            <a:chExt cx="5198032" cy="3681276"/>
          </a:xfrm>
        </p:grpSpPr>
        <p:sp>
          <p:nvSpPr>
            <p:cNvPr id="21" name="矩形: 圆角 20">
              <a:extLst>
                <a:ext uri="{FF2B5EF4-FFF2-40B4-BE49-F238E27FC236}">
                  <a16:creationId xmlns:a16="http://schemas.microsoft.com/office/drawing/2014/main" id="{39F6C863-03E3-482E-81F7-98C576D0887A}"/>
                </a:ext>
              </a:extLst>
            </p:cNvPr>
            <p:cNvSpPr/>
            <p:nvPr/>
          </p:nvSpPr>
          <p:spPr>
            <a:xfrm>
              <a:off x="746035" y="3024324"/>
              <a:ext cx="5198032" cy="368127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2" name="任意多边形: 形状 21">
              <a:extLst>
                <a:ext uri="{FF2B5EF4-FFF2-40B4-BE49-F238E27FC236}">
                  <a16:creationId xmlns:a16="http://schemas.microsoft.com/office/drawing/2014/main" id="{F3BA8B7F-4D7A-4D42-BA0F-7B938D8E566D}"/>
                </a:ext>
              </a:extLst>
            </p:cNvPr>
            <p:cNvSpPr/>
            <p:nvPr/>
          </p:nvSpPr>
          <p:spPr>
            <a:xfrm>
              <a:off x="746035" y="3046063"/>
              <a:ext cx="5198032"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3" name="组合 22">
              <a:extLst>
                <a:ext uri="{FF2B5EF4-FFF2-40B4-BE49-F238E27FC236}">
                  <a16:creationId xmlns:a16="http://schemas.microsoft.com/office/drawing/2014/main" id="{51C8A085-CD48-4055-B110-829C7E02C615}"/>
                </a:ext>
              </a:extLst>
            </p:cNvPr>
            <p:cNvGrpSpPr/>
            <p:nvPr/>
          </p:nvGrpSpPr>
          <p:grpSpPr>
            <a:xfrm>
              <a:off x="911786" y="3131533"/>
              <a:ext cx="771634" cy="133081"/>
              <a:chOff x="2016841" y="2587412"/>
              <a:chExt cx="730275" cy="133081"/>
            </a:xfrm>
          </p:grpSpPr>
          <p:sp>
            <p:nvSpPr>
              <p:cNvPr id="25" name="椭圆 24">
                <a:extLst>
                  <a:ext uri="{FF2B5EF4-FFF2-40B4-BE49-F238E27FC236}">
                    <a16:creationId xmlns:a16="http://schemas.microsoft.com/office/drawing/2014/main" id="{95FACCBB-2B37-4616-86AB-B0F12165EE9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椭圆 25">
                <a:extLst>
                  <a:ext uri="{FF2B5EF4-FFF2-40B4-BE49-F238E27FC236}">
                    <a16:creationId xmlns:a16="http://schemas.microsoft.com/office/drawing/2014/main" id="{0D5617BA-38C1-42B2-A6E2-A14F20D89376}"/>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7" name="椭圆 26">
                <a:extLst>
                  <a:ext uri="{FF2B5EF4-FFF2-40B4-BE49-F238E27FC236}">
                    <a16:creationId xmlns:a16="http://schemas.microsoft.com/office/drawing/2014/main" id="{963D3807-B1C1-4970-98EB-6FB076B1CEC1}"/>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28" name="Rectangle 3">
              <a:extLst>
                <a:ext uri="{FF2B5EF4-FFF2-40B4-BE49-F238E27FC236}">
                  <a16:creationId xmlns:a16="http://schemas.microsoft.com/office/drawing/2014/main" id="{4844BEB5-803C-43DB-8DD0-9C80AA6790D2}"/>
                </a:ext>
              </a:extLst>
            </p:cNvPr>
            <p:cNvSpPr>
              <a:spLocks noChangeArrowheads="1"/>
            </p:cNvSpPr>
            <p:nvPr/>
          </p:nvSpPr>
          <p:spPr bwMode="auto">
            <a:xfrm>
              <a:off x="919096" y="3417236"/>
              <a:ext cx="365760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EmbeddingStoreIngestor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.documentSplitter(</a:t>
              </a:r>
              <a:r>
                <a:rPr lang="zh-CN" altLang="zh-CN" sz="1300">
                  <a:solidFill>
                    <a:srgbClr val="000000"/>
                  </a:solidFill>
                  <a:latin typeface="Arial Unicode MS"/>
                  <a:ea typeface="JetBrains Mono"/>
                </a:rPr>
                <a:t>documentSplitter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.embeddingModel(</a:t>
              </a:r>
              <a:r>
                <a:rPr lang="zh-CN" altLang="zh-CN" sz="1300">
                  <a:solidFill>
                    <a:srgbClr val="871094"/>
                  </a:solidFill>
                  <a:latin typeface="Arial Unicode MS"/>
                  <a:ea typeface="JetBrains Mono"/>
                </a:rPr>
                <a:t>embeddingModel</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sp>
          <p:nvSpPr>
            <p:cNvPr id="29" name="Rectangle 4">
              <a:extLst>
                <a:ext uri="{FF2B5EF4-FFF2-40B4-BE49-F238E27FC236}">
                  <a16:creationId xmlns:a16="http://schemas.microsoft.com/office/drawing/2014/main" id="{963319FA-66B8-4B0E-841B-84FD7BEBD6F5}"/>
                </a:ext>
              </a:extLst>
            </p:cNvPr>
            <p:cNvSpPr>
              <a:spLocks noChangeArrowheads="1"/>
            </p:cNvSpPr>
            <p:nvPr/>
          </p:nvSpPr>
          <p:spPr bwMode="auto">
            <a:xfrm>
              <a:off x="952434" y="4846728"/>
              <a:ext cx="3590925" cy="162570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EmbeddingStoreContentRetriever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.embeddingModel(</a:t>
              </a:r>
              <a:r>
                <a:rPr lang="zh-CN" altLang="zh-CN" sz="1300">
                  <a:solidFill>
                    <a:srgbClr val="871094"/>
                  </a:solidFill>
                  <a:latin typeface="Arial Unicode MS"/>
                  <a:ea typeface="JetBrains Mono"/>
                </a:rPr>
                <a:t>embeddingModel</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.maxResults(</a:t>
              </a:r>
              <a:r>
                <a:rPr lang="zh-CN" altLang="zh-CN" sz="1300">
                  <a:solidFill>
                    <a:srgbClr val="1750EB"/>
                  </a:solidFill>
                  <a:latin typeface="Arial Unicode MS"/>
                  <a:ea typeface="JetBrains Mono"/>
                </a:rPr>
                <a:t>3</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.minScore(</a:t>
              </a:r>
              <a:r>
                <a:rPr lang="zh-CN" altLang="zh-CN" sz="1300">
                  <a:solidFill>
                    <a:srgbClr val="1750EB"/>
                  </a:solidFill>
                  <a:latin typeface="Arial Unicode MS"/>
                  <a:ea typeface="JetBrains Mono"/>
                </a:rPr>
                <a:t>0.6</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grpSp>
      <p:sp>
        <p:nvSpPr>
          <p:cNvPr id="31" name="矩形 30">
            <a:extLst>
              <a:ext uri="{FF2B5EF4-FFF2-40B4-BE49-F238E27FC236}">
                <a16:creationId xmlns:a16="http://schemas.microsoft.com/office/drawing/2014/main" id="{94FB0CAA-1C77-45D4-831E-41FF275F064A}"/>
              </a:ext>
            </a:extLst>
          </p:cNvPr>
          <p:cNvSpPr/>
          <p:nvPr/>
        </p:nvSpPr>
        <p:spPr>
          <a:xfrm>
            <a:off x="1367911" y="5437897"/>
            <a:ext cx="2884104" cy="283124"/>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2" name="矩形 31">
            <a:extLst>
              <a:ext uri="{FF2B5EF4-FFF2-40B4-BE49-F238E27FC236}">
                <a16:creationId xmlns:a16="http://schemas.microsoft.com/office/drawing/2014/main" id="{1AA8A675-C730-439D-81C2-833EE6AD4C7F}"/>
              </a:ext>
            </a:extLst>
          </p:cNvPr>
          <p:cNvSpPr/>
          <p:nvPr/>
        </p:nvSpPr>
        <p:spPr>
          <a:xfrm>
            <a:off x="1367911" y="4277079"/>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7261861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1000"/>
                                        <p:tgtEl>
                                          <p:spTgt spid="30"/>
                                        </p:tgtEl>
                                      </p:cBhvr>
                                    </p:animEffect>
                                    <p:anim calcmode="lin" valueType="num">
                                      <p:cBhvr>
                                        <p:cTn id="32" dur="1000" fill="hold"/>
                                        <p:tgtEl>
                                          <p:spTgt spid="30"/>
                                        </p:tgtEl>
                                        <p:attrNameLst>
                                          <p:attrName>ppt_x</p:attrName>
                                        </p:attrNameLst>
                                      </p:cBhvr>
                                      <p:tavLst>
                                        <p:tav tm="0">
                                          <p:val>
                                            <p:strVal val="#ppt_x"/>
                                          </p:val>
                                        </p:tav>
                                        <p:tav tm="100000">
                                          <p:val>
                                            <p:strVal val="#ppt_x"/>
                                          </p:val>
                                        </p:tav>
                                      </p:tavLst>
                                    </p:anim>
                                    <p:anim calcmode="lin" valueType="num">
                                      <p:cBhvr>
                                        <p:cTn id="33" dur="1000" fill="hold"/>
                                        <p:tgtEl>
                                          <p:spTgt spid="3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1000"/>
                                        <p:tgtEl>
                                          <p:spTgt spid="31"/>
                                        </p:tgtEl>
                                      </p:cBhvr>
                                    </p:animEffect>
                                    <p:anim calcmode="lin" valueType="num">
                                      <p:cBhvr>
                                        <p:cTn id="37" dur="1000" fill="hold"/>
                                        <p:tgtEl>
                                          <p:spTgt spid="31"/>
                                        </p:tgtEl>
                                        <p:attrNameLst>
                                          <p:attrName>ppt_x</p:attrName>
                                        </p:attrNameLst>
                                      </p:cBhvr>
                                      <p:tavLst>
                                        <p:tav tm="0">
                                          <p:val>
                                            <p:strVal val="#ppt_x"/>
                                          </p:val>
                                        </p:tav>
                                        <p:tav tm="100000">
                                          <p:val>
                                            <p:strVal val="#ppt_x"/>
                                          </p:val>
                                        </p:tav>
                                      </p:tavLst>
                                    </p:anim>
                                    <p:anim calcmode="lin" valueType="num">
                                      <p:cBhvr>
                                        <p:cTn id="38" dur="1000" fill="hold"/>
                                        <p:tgtEl>
                                          <p:spTgt spid="31"/>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1000"/>
                                        <p:tgtEl>
                                          <p:spTgt spid="32"/>
                                        </p:tgtEl>
                                      </p:cBhvr>
                                    </p:animEffect>
                                    <p:anim calcmode="lin" valueType="num">
                                      <p:cBhvr>
                                        <p:cTn id="42" dur="1000" fill="hold"/>
                                        <p:tgtEl>
                                          <p:spTgt spid="32"/>
                                        </p:tgtEl>
                                        <p:attrNameLst>
                                          <p:attrName>ppt_x</p:attrName>
                                        </p:attrNameLst>
                                      </p:cBhvr>
                                      <p:tavLst>
                                        <p:tav tm="0">
                                          <p:val>
                                            <p:strVal val="#ppt_x"/>
                                          </p:val>
                                        </p:tav>
                                        <p:tav tm="100000">
                                          <p:val>
                                            <p:strVal val="#ppt_x"/>
                                          </p:val>
                                        </p:tav>
                                      </p:tavLst>
                                    </p:anim>
                                    <p:anim calcmode="lin" valueType="num">
                                      <p:cBhvr>
                                        <p:cTn id="4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 name="矩形: 折角 3">
            <a:extLst>
              <a:ext uri="{FF2B5EF4-FFF2-40B4-BE49-F238E27FC236}">
                <a16:creationId xmlns:a16="http://schemas.microsoft.com/office/drawing/2014/main" id="{3D7D30DF-9090-4E80-9A24-D439C28196B2}"/>
              </a:ext>
            </a:extLst>
          </p:cNvPr>
          <p:cNvSpPr/>
          <p:nvPr/>
        </p:nvSpPr>
        <p:spPr>
          <a:xfrm>
            <a:off x="1000125" y="14001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7" name="矩形: 折角 16">
            <a:extLst>
              <a:ext uri="{FF2B5EF4-FFF2-40B4-BE49-F238E27FC236}">
                <a16:creationId xmlns:a16="http://schemas.microsoft.com/office/drawing/2014/main" id="{0A263147-0919-4310-8347-B1094C00108E}"/>
              </a:ext>
            </a:extLst>
          </p:cNvPr>
          <p:cNvSpPr/>
          <p:nvPr/>
        </p:nvSpPr>
        <p:spPr>
          <a:xfrm>
            <a:off x="1152525" y="15525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400">
                <a:solidFill>
                  <a:srgbClr val="FFFFFF"/>
                </a:solidFill>
                <a:latin typeface="Source Code Pro"/>
              </a:rPr>
              <a:t>文档</a:t>
            </a:r>
          </a:p>
        </p:txBody>
      </p:sp>
      <p:sp>
        <p:nvSpPr>
          <p:cNvPr id="18" name="矩形: 折角 17">
            <a:extLst>
              <a:ext uri="{FF2B5EF4-FFF2-40B4-BE49-F238E27FC236}">
                <a16:creationId xmlns:a16="http://schemas.microsoft.com/office/drawing/2014/main" id="{376F5050-F4DD-4BEE-95B5-835BDA905219}"/>
              </a:ext>
            </a:extLst>
          </p:cNvPr>
          <p:cNvSpPr/>
          <p:nvPr/>
        </p:nvSpPr>
        <p:spPr>
          <a:xfrm>
            <a:off x="1304925" y="1704978"/>
            <a:ext cx="762000" cy="1038225"/>
          </a:xfrm>
          <a:prstGeom prst="foldedCorner">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p>
        </p:txBody>
      </p:sp>
      <p:cxnSp>
        <p:nvCxnSpPr>
          <p:cNvPr id="7" name="直接箭头连接符 6">
            <a:extLst>
              <a:ext uri="{FF2B5EF4-FFF2-40B4-BE49-F238E27FC236}">
                <a16:creationId xmlns:a16="http://schemas.microsoft.com/office/drawing/2014/main" id="{975A7B0E-65D7-4C11-BDAE-46E26EF36967}"/>
              </a:ext>
            </a:extLst>
          </p:cNvPr>
          <p:cNvCxnSpPr>
            <a:cxnSpLocks/>
          </p:cNvCxnSpPr>
          <p:nvPr/>
        </p:nvCxnSpPr>
        <p:spPr>
          <a:xfrm>
            <a:off x="2152652" y="2219325"/>
            <a:ext cx="2733675"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矩形 13">
            <a:extLst>
              <a:ext uri="{FF2B5EF4-FFF2-40B4-BE49-F238E27FC236}">
                <a16:creationId xmlns:a16="http://schemas.microsoft.com/office/drawing/2014/main" id="{42E310C9-DDA9-4097-B377-1B608CE049C6}"/>
              </a:ext>
            </a:extLst>
          </p:cNvPr>
          <p:cNvSpPr/>
          <p:nvPr/>
        </p:nvSpPr>
        <p:spPr>
          <a:xfrm>
            <a:off x="2809875" y="1552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文档加载器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Loader</a:t>
            </a:r>
            <a:endParaRPr lang="zh-CN" altLang="en-US" sz="1000">
              <a:solidFill>
                <a:srgbClr val="FFFFFF"/>
              </a:solidFill>
              <a:latin typeface="Source Code Pro"/>
            </a:endParaRPr>
          </a:p>
        </p:txBody>
      </p:sp>
      <p:sp>
        <p:nvSpPr>
          <p:cNvPr id="24" name="矩形 23">
            <a:extLst>
              <a:ext uri="{FF2B5EF4-FFF2-40B4-BE49-F238E27FC236}">
                <a16:creationId xmlns:a16="http://schemas.microsoft.com/office/drawing/2014/main" id="{D41AA4C6-EEE2-4C88-9453-D475C8E65BDA}"/>
              </a:ext>
            </a:extLst>
          </p:cNvPr>
          <p:cNvSpPr/>
          <p:nvPr/>
        </p:nvSpPr>
        <p:spPr>
          <a:xfrm>
            <a:off x="2809875" y="2314577"/>
            <a:ext cx="1333500"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文档解析器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Parser</a:t>
            </a:r>
            <a:endParaRPr lang="zh-CN" altLang="en-US" sz="1000">
              <a:solidFill>
                <a:srgbClr val="FFFFFF"/>
              </a:solidFill>
              <a:latin typeface="Source Code Pro"/>
            </a:endParaRPr>
          </a:p>
        </p:txBody>
      </p:sp>
      <p:sp>
        <p:nvSpPr>
          <p:cNvPr id="16" name="矩形 15">
            <a:extLst>
              <a:ext uri="{FF2B5EF4-FFF2-40B4-BE49-F238E27FC236}">
                <a16:creationId xmlns:a16="http://schemas.microsoft.com/office/drawing/2014/main" id="{A1C813BE-90D6-47B4-908F-6B0E882B4FBB}"/>
              </a:ext>
            </a:extLst>
          </p:cNvPr>
          <p:cNvSpPr/>
          <p:nvPr/>
        </p:nvSpPr>
        <p:spPr>
          <a:xfrm>
            <a:off x="5000625" y="14001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7" name="矩形 26">
            <a:extLst>
              <a:ext uri="{FF2B5EF4-FFF2-40B4-BE49-F238E27FC236}">
                <a16:creationId xmlns:a16="http://schemas.microsoft.com/office/drawing/2014/main" id="{EABFB96D-B7A2-4709-A962-46413529AFF2}"/>
              </a:ext>
            </a:extLst>
          </p:cNvPr>
          <p:cNvSpPr/>
          <p:nvPr/>
        </p:nvSpPr>
        <p:spPr>
          <a:xfrm>
            <a:off x="5153025" y="15525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endParaRPr lang="zh-CN" altLang="en-US" sz="1000">
              <a:solidFill>
                <a:srgbClr val="FFFFFF"/>
              </a:solidFill>
              <a:latin typeface="Source Code Pro"/>
            </a:endParaRPr>
          </a:p>
        </p:txBody>
      </p:sp>
      <p:sp>
        <p:nvSpPr>
          <p:cNvPr id="28" name="矩形 27">
            <a:extLst>
              <a:ext uri="{FF2B5EF4-FFF2-40B4-BE49-F238E27FC236}">
                <a16:creationId xmlns:a16="http://schemas.microsoft.com/office/drawing/2014/main" id="{BA425ED8-A39E-415D-AA18-89CB7A09251B}"/>
              </a:ext>
            </a:extLst>
          </p:cNvPr>
          <p:cNvSpPr/>
          <p:nvPr/>
        </p:nvSpPr>
        <p:spPr>
          <a:xfrm>
            <a:off x="5305425" y="1704976"/>
            <a:ext cx="828675" cy="1101755"/>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文档</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a:t>
            </a:r>
            <a:endParaRPr lang="zh-CN" altLang="en-US" sz="1000">
              <a:solidFill>
                <a:srgbClr val="FFFFFF"/>
              </a:solidFill>
              <a:latin typeface="Source Code Pro"/>
            </a:endParaRPr>
          </a:p>
        </p:txBody>
      </p:sp>
      <p:cxnSp>
        <p:nvCxnSpPr>
          <p:cNvPr id="20" name="直接箭头连接符 19">
            <a:extLst>
              <a:ext uri="{FF2B5EF4-FFF2-40B4-BE49-F238E27FC236}">
                <a16:creationId xmlns:a16="http://schemas.microsoft.com/office/drawing/2014/main" id="{CA16426D-7950-4A53-BB7B-DD08B6015F9D}"/>
              </a:ext>
            </a:extLst>
          </p:cNvPr>
          <p:cNvCxnSpPr>
            <a:cxnSpLocks/>
          </p:cNvCxnSpPr>
          <p:nvPr/>
        </p:nvCxnSpPr>
        <p:spPr>
          <a:xfrm>
            <a:off x="6134102" y="2219325"/>
            <a:ext cx="2667001" cy="932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1" name="矩形 30">
            <a:extLst>
              <a:ext uri="{FF2B5EF4-FFF2-40B4-BE49-F238E27FC236}">
                <a16:creationId xmlns:a16="http://schemas.microsoft.com/office/drawing/2014/main" id="{6D4FC405-A628-447C-8490-532CBE08ECF6}"/>
              </a:ext>
            </a:extLst>
          </p:cNvPr>
          <p:cNvSpPr/>
          <p:nvPr/>
        </p:nvSpPr>
        <p:spPr>
          <a:xfrm>
            <a:off x="6634161" y="1562102"/>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文档分割器</a:t>
            </a:r>
            <a:endParaRPr lang="en-US" altLang="zh-CN" sz="1000">
              <a:solidFill>
                <a:srgbClr val="FFFFFF"/>
              </a:solidFill>
              <a:latin typeface="Source Code Pro"/>
            </a:endParaRPr>
          </a:p>
          <a:p>
            <a:pPr algn="ctr">
              <a:defRPr/>
            </a:pPr>
            <a:r>
              <a:rPr lang="en-US" altLang="zh-CN" sz="1000">
                <a:solidFill>
                  <a:srgbClr val="FFFFFF"/>
                </a:solidFill>
                <a:latin typeface="Source Code Pro"/>
              </a:rPr>
              <a:t>Document Splitter</a:t>
            </a:r>
            <a:endParaRPr lang="zh-CN" altLang="en-US" sz="1000">
              <a:solidFill>
                <a:srgbClr val="FFFFFF"/>
              </a:solidFill>
              <a:latin typeface="Source Code Pro"/>
            </a:endParaRPr>
          </a:p>
        </p:txBody>
      </p:sp>
      <p:sp>
        <p:nvSpPr>
          <p:cNvPr id="21" name="矩形: 剪去对角 20">
            <a:extLst>
              <a:ext uri="{FF2B5EF4-FFF2-40B4-BE49-F238E27FC236}">
                <a16:creationId xmlns:a16="http://schemas.microsoft.com/office/drawing/2014/main" id="{6DD4283C-B621-4769-BD6E-9D1574EB246E}"/>
              </a:ext>
            </a:extLst>
          </p:cNvPr>
          <p:cNvSpPr/>
          <p:nvPr/>
        </p:nvSpPr>
        <p:spPr>
          <a:xfrm>
            <a:off x="8734424" y="1400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3" name="矩形: 剪去对角 32">
            <a:extLst>
              <a:ext uri="{FF2B5EF4-FFF2-40B4-BE49-F238E27FC236}">
                <a16:creationId xmlns:a16="http://schemas.microsoft.com/office/drawing/2014/main" id="{49179940-F336-4A0D-8ED3-CF1DA04470D6}"/>
              </a:ext>
            </a:extLst>
          </p:cNvPr>
          <p:cNvSpPr/>
          <p:nvPr/>
        </p:nvSpPr>
        <p:spPr>
          <a:xfrm>
            <a:off x="8886824" y="1552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4" name="矩形: 剪去对角 33">
            <a:extLst>
              <a:ext uri="{FF2B5EF4-FFF2-40B4-BE49-F238E27FC236}">
                <a16:creationId xmlns:a16="http://schemas.microsoft.com/office/drawing/2014/main" id="{FB1C73DF-DF56-4738-932C-EDAA55A2ECDF}"/>
              </a:ext>
            </a:extLst>
          </p:cNvPr>
          <p:cNvSpPr/>
          <p:nvPr/>
        </p:nvSpPr>
        <p:spPr>
          <a:xfrm>
            <a:off x="9039224" y="1704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5" name="矩形: 剪去对角 34">
            <a:extLst>
              <a:ext uri="{FF2B5EF4-FFF2-40B4-BE49-F238E27FC236}">
                <a16:creationId xmlns:a16="http://schemas.microsoft.com/office/drawing/2014/main" id="{02FE04D2-557D-4B6E-B2D9-5614CA421F41}"/>
              </a:ext>
            </a:extLst>
          </p:cNvPr>
          <p:cNvSpPr/>
          <p:nvPr/>
        </p:nvSpPr>
        <p:spPr>
          <a:xfrm>
            <a:off x="9191624" y="18573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6" name="矩形: 剪去对角 35">
            <a:extLst>
              <a:ext uri="{FF2B5EF4-FFF2-40B4-BE49-F238E27FC236}">
                <a16:creationId xmlns:a16="http://schemas.microsoft.com/office/drawing/2014/main" id="{E876D41E-8390-4351-9714-391958840B58}"/>
              </a:ext>
            </a:extLst>
          </p:cNvPr>
          <p:cNvSpPr/>
          <p:nvPr/>
        </p:nvSpPr>
        <p:spPr>
          <a:xfrm>
            <a:off x="9344024" y="20097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7" name="矩形: 剪去对角 36">
            <a:extLst>
              <a:ext uri="{FF2B5EF4-FFF2-40B4-BE49-F238E27FC236}">
                <a16:creationId xmlns:a16="http://schemas.microsoft.com/office/drawing/2014/main" id="{D1C53E43-748C-4531-91AE-1AC81125B2F3}"/>
              </a:ext>
            </a:extLst>
          </p:cNvPr>
          <p:cNvSpPr/>
          <p:nvPr/>
        </p:nvSpPr>
        <p:spPr>
          <a:xfrm>
            <a:off x="9496424" y="21621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8" name="矩形: 剪去对角 37">
            <a:extLst>
              <a:ext uri="{FF2B5EF4-FFF2-40B4-BE49-F238E27FC236}">
                <a16:creationId xmlns:a16="http://schemas.microsoft.com/office/drawing/2014/main" id="{EAFEB833-12DC-44F7-BD60-9F20F2072531}"/>
              </a:ext>
            </a:extLst>
          </p:cNvPr>
          <p:cNvSpPr/>
          <p:nvPr/>
        </p:nvSpPr>
        <p:spPr>
          <a:xfrm>
            <a:off x="9648824" y="23145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sp>
        <p:nvSpPr>
          <p:cNvPr id="39" name="矩形: 剪去对角 38">
            <a:extLst>
              <a:ext uri="{FF2B5EF4-FFF2-40B4-BE49-F238E27FC236}">
                <a16:creationId xmlns:a16="http://schemas.microsoft.com/office/drawing/2014/main" id="{90483293-64D0-4C6C-9862-C204E4279715}"/>
              </a:ext>
            </a:extLst>
          </p:cNvPr>
          <p:cNvSpPr/>
          <p:nvPr/>
        </p:nvSpPr>
        <p:spPr>
          <a:xfrm>
            <a:off x="9801224" y="2466977"/>
            <a:ext cx="1495427" cy="371279"/>
          </a:xfrm>
          <a:prstGeom prst="snip2DiagRect">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文本片段</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TextSegment</a:t>
            </a:r>
            <a:endParaRPr lang="zh-CN" altLang="en-US" sz="1000">
              <a:solidFill>
                <a:srgbClr val="FFFFFF"/>
              </a:solidFill>
              <a:latin typeface="Source Code Pro"/>
            </a:endParaRPr>
          </a:p>
        </p:txBody>
      </p:sp>
      <p:cxnSp>
        <p:nvCxnSpPr>
          <p:cNvPr id="30" name="连接符: 肘形 29">
            <a:extLst>
              <a:ext uri="{FF2B5EF4-FFF2-40B4-BE49-F238E27FC236}">
                <a16:creationId xmlns:a16="http://schemas.microsoft.com/office/drawing/2014/main" id="{E81B132C-C9A9-45AB-8938-9E1CFBFE0283}"/>
              </a:ext>
            </a:extLst>
          </p:cNvPr>
          <p:cNvCxnSpPr>
            <a:cxnSpLocks/>
          </p:cNvCxnSpPr>
          <p:nvPr/>
        </p:nvCxnSpPr>
        <p:spPr>
          <a:xfrm rot="10800000" flipV="1">
            <a:off x="7791451" y="2924176"/>
            <a:ext cx="2757488" cy="2219523"/>
          </a:xfrm>
          <a:prstGeom prst="bentConnector3">
            <a:avLst>
              <a:gd name="adj1" fmla="val -432"/>
            </a:avLst>
          </a:prstGeom>
          <a:ln>
            <a:tailEnd type="triangle"/>
          </a:ln>
        </p:spPr>
        <p:style>
          <a:lnRef idx="3">
            <a:schemeClr val="accent1"/>
          </a:lnRef>
          <a:fillRef idx="0">
            <a:schemeClr val="accent1"/>
          </a:fillRef>
          <a:effectRef idx="2">
            <a:schemeClr val="accent1"/>
          </a:effectRef>
          <a:fontRef idx="minor">
            <a:schemeClr val="tx1"/>
          </a:fontRef>
        </p:style>
      </p:cxnSp>
      <p:sp>
        <p:nvSpPr>
          <p:cNvPr id="56" name="矩形 55">
            <a:extLst>
              <a:ext uri="{FF2B5EF4-FFF2-40B4-BE49-F238E27FC236}">
                <a16:creationId xmlns:a16="http://schemas.microsoft.com/office/drawing/2014/main" id="{F94A33D9-AD8C-41E7-8BE5-0E7C643C6E24}"/>
              </a:ext>
            </a:extLst>
          </p:cNvPr>
          <p:cNvSpPr/>
          <p:nvPr/>
        </p:nvSpPr>
        <p:spPr>
          <a:xfrm>
            <a:off x="8462960" y="4486277"/>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向量模型</a:t>
            </a:r>
            <a:endParaRPr lang="en-US" altLang="zh-CN" sz="1000">
              <a:solidFill>
                <a:srgbClr val="FFFFFF"/>
              </a:solidFill>
              <a:latin typeface="Source Code Pro"/>
            </a:endParaRPr>
          </a:p>
          <a:p>
            <a:pPr algn="ctr">
              <a:defRPr/>
            </a:pPr>
            <a:r>
              <a:rPr lang="en-US" altLang="zh-CN" sz="1000" err="1">
                <a:solidFill>
                  <a:srgbClr val="FFFFFF"/>
                </a:solidFill>
                <a:latin typeface="Source Code Pro"/>
              </a:rPr>
              <a:t>EmbeddingModel</a:t>
            </a:r>
            <a:endParaRPr lang="zh-CN" altLang="en-US" sz="1000">
              <a:solidFill>
                <a:srgbClr val="FFFFFF"/>
              </a:solidFill>
              <a:latin typeface="Source Code Pro"/>
            </a:endParaRPr>
          </a:p>
        </p:txBody>
      </p:sp>
      <p:sp>
        <p:nvSpPr>
          <p:cNvPr id="50" name="平行四边形 49">
            <a:extLst>
              <a:ext uri="{FF2B5EF4-FFF2-40B4-BE49-F238E27FC236}">
                <a16:creationId xmlns:a16="http://schemas.microsoft.com/office/drawing/2014/main" id="{6D95FC9B-B23E-4425-8E0E-5112A1AB724C}"/>
              </a:ext>
            </a:extLst>
          </p:cNvPr>
          <p:cNvSpPr/>
          <p:nvPr/>
        </p:nvSpPr>
        <p:spPr>
          <a:xfrm>
            <a:off x="5686427" y="4067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59" name="平行四边形 58">
            <a:extLst>
              <a:ext uri="{FF2B5EF4-FFF2-40B4-BE49-F238E27FC236}">
                <a16:creationId xmlns:a16="http://schemas.microsoft.com/office/drawing/2014/main" id="{B7F339D9-CBD5-4B19-A464-383E845F9AD0}"/>
              </a:ext>
            </a:extLst>
          </p:cNvPr>
          <p:cNvSpPr/>
          <p:nvPr/>
        </p:nvSpPr>
        <p:spPr>
          <a:xfrm>
            <a:off x="5838827" y="4219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0" name="平行四边形 59">
            <a:extLst>
              <a:ext uri="{FF2B5EF4-FFF2-40B4-BE49-F238E27FC236}">
                <a16:creationId xmlns:a16="http://schemas.microsoft.com/office/drawing/2014/main" id="{796C6B71-3411-4DCC-84CE-B6CC6E9CEBD0}"/>
              </a:ext>
            </a:extLst>
          </p:cNvPr>
          <p:cNvSpPr/>
          <p:nvPr/>
        </p:nvSpPr>
        <p:spPr>
          <a:xfrm>
            <a:off x="5991227" y="43719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1" name="平行四边形 60">
            <a:extLst>
              <a:ext uri="{FF2B5EF4-FFF2-40B4-BE49-F238E27FC236}">
                <a16:creationId xmlns:a16="http://schemas.microsoft.com/office/drawing/2014/main" id="{85191F9B-05BA-4748-93B7-7ED08B98963A}"/>
              </a:ext>
            </a:extLst>
          </p:cNvPr>
          <p:cNvSpPr/>
          <p:nvPr/>
        </p:nvSpPr>
        <p:spPr>
          <a:xfrm>
            <a:off x="6143627" y="45243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2" name="平行四边形 61">
            <a:extLst>
              <a:ext uri="{FF2B5EF4-FFF2-40B4-BE49-F238E27FC236}">
                <a16:creationId xmlns:a16="http://schemas.microsoft.com/office/drawing/2014/main" id="{7F57C282-0BC3-4DD6-9E11-BCF54425BE80}"/>
              </a:ext>
            </a:extLst>
          </p:cNvPr>
          <p:cNvSpPr/>
          <p:nvPr/>
        </p:nvSpPr>
        <p:spPr>
          <a:xfrm>
            <a:off x="6296027" y="46767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3" name="平行四边形 62">
            <a:extLst>
              <a:ext uri="{FF2B5EF4-FFF2-40B4-BE49-F238E27FC236}">
                <a16:creationId xmlns:a16="http://schemas.microsoft.com/office/drawing/2014/main" id="{8D477A24-E301-4709-A1EA-B0FA437AAFA3}"/>
              </a:ext>
            </a:extLst>
          </p:cNvPr>
          <p:cNvSpPr/>
          <p:nvPr/>
        </p:nvSpPr>
        <p:spPr>
          <a:xfrm>
            <a:off x="6448427" y="48291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sp>
        <p:nvSpPr>
          <p:cNvPr id="64" name="平行四边形 63">
            <a:extLst>
              <a:ext uri="{FF2B5EF4-FFF2-40B4-BE49-F238E27FC236}">
                <a16:creationId xmlns:a16="http://schemas.microsoft.com/office/drawing/2014/main" id="{97DB5091-49D0-4823-BAFF-067701F2118A}"/>
              </a:ext>
            </a:extLst>
          </p:cNvPr>
          <p:cNvSpPr/>
          <p:nvPr/>
        </p:nvSpPr>
        <p:spPr>
          <a:xfrm>
            <a:off x="6600827" y="4981576"/>
            <a:ext cx="1330428" cy="1000323"/>
          </a:xfrm>
          <a:prstGeom prst="parallelogram">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a:t>
            </a:r>
            <a:endParaRPr lang="en-US" altLang="zh-CN" sz="1000">
              <a:solidFill>
                <a:srgbClr val="FFFFFF"/>
              </a:solidFill>
              <a:latin typeface="Source Code Pro"/>
            </a:endParaRPr>
          </a:p>
          <a:p>
            <a:pPr algn="ctr">
              <a:defRPr/>
            </a:pPr>
            <a:r>
              <a:rPr lang="en-US" altLang="zh-CN" sz="1000">
                <a:solidFill>
                  <a:srgbClr val="FFFFFF"/>
                </a:solidFill>
                <a:latin typeface="Source Code Pro"/>
              </a:rPr>
              <a:t>Embedding</a:t>
            </a:r>
            <a:endParaRPr lang="zh-CN" altLang="en-US" sz="1000">
              <a:solidFill>
                <a:srgbClr val="FFFFFF"/>
              </a:solidFill>
              <a:latin typeface="Source Code Pro"/>
            </a:endParaRPr>
          </a:p>
        </p:txBody>
      </p:sp>
      <p:cxnSp>
        <p:nvCxnSpPr>
          <p:cNvPr id="52" name="直接箭头连接符 51">
            <a:extLst>
              <a:ext uri="{FF2B5EF4-FFF2-40B4-BE49-F238E27FC236}">
                <a16:creationId xmlns:a16="http://schemas.microsoft.com/office/drawing/2014/main" id="{36D75C1C-F255-43FE-AECE-43E72F57B63F}"/>
              </a:ext>
            </a:extLst>
          </p:cNvPr>
          <p:cNvCxnSpPr>
            <a:cxnSpLocks/>
          </p:cNvCxnSpPr>
          <p:nvPr/>
        </p:nvCxnSpPr>
        <p:spPr>
          <a:xfrm flipH="1">
            <a:off x="2943225" y="5143697"/>
            <a:ext cx="2743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8" name="矩形 67">
            <a:extLst>
              <a:ext uri="{FF2B5EF4-FFF2-40B4-BE49-F238E27FC236}">
                <a16:creationId xmlns:a16="http://schemas.microsoft.com/office/drawing/2014/main" id="{8CE7ED9F-1B52-4158-8A2C-692C76ACAD19}"/>
              </a:ext>
            </a:extLst>
          </p:cNvPr>
          <p:cNvSpPr/>
          <p:nvPr/>
        </p:nvSpPr>
        <p:spPr>
          <a:xfrm>
            <a:off x="3519488" y="4476751"/>
            <a:ext cx="1495427" cy="59055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CN" altLang="en-US" sz="1000">
                <a:solidFill>
                  <a:srgbClr val="FFFFFF"/>
                </a:solidFill>
                <a:latin typeface="Source Code Pro"/>
              </a:rPr>
              <a:t>向量数据库操作对象</a:t>
            </a:r>
            <a:r>
              <a:rPr lang="en-US" altLang="zh-CN" sz="1000" err="1">
                <a:solidFill>
                  <a:srgbClr val="FFFFFF"/>
                </a:solidFill>
                <a:latin typeface="Source Code Pro"/>
              </a:rPr>
              <a:t>EmbeddingStore</a:t>
            </a:r>
            <a:endParaRPr lang="zh-CN" altLang="en-US" sz="1000">
              <a:solidFill>
                <a:srgbClr val="FFFFFF"/>
              </a:solidFill>
              <a:latin typeface="Source Code Pro"/>
            </a:endParaRPr>
          </a:p>
        </p:txBody>
      </p:sp>
      <p:sp>
        <p:nvSpPr>
          <p:cNvPr id="54" name="流程图: 磁盘 53">
            <a:extLst>
              <a:ext uri="{FF2B5EF4-FFF2-40B4-BE49-F238E27FC236}">
                <a16:creationId xmlns:a16="http://schemas.microsoft.com/office/drawing/2014/main" id="{512102A4-DCB5-4A3F-B58D-C0A4FC369B8E}"/>
              </a:ext>
            </a:extLst>
          </p:cNvPr>
          <p:cNvSpPr/>
          <p:nvPr/>
        </p:nvSpPr>
        <p:spPr>
          <a:xfrm>
            <a:off x="1000127" y="4598343"/>
            <a:ext cx="1625703" cy="1090711"/>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ctr"/>
          <a:lstStyle/>
          <a:p>
            <a:pPr algn="ctr">
              <a:defRPr/>
            </a:pPr>
            <a:r>
              <a:rPr lang="zh-CN" altLang="en-US" sz="1000">
                <a:solidFill>
                  <a:srgbClr val="FFFFFF"/>
                </a:solidFill>
                <a:latin typeface="Source Code Pro"/>
              </a:rPr>
              <a:t>向量数据库</a:t>
            </a:r>
          </a:p>
        </p:txBody>
      </p:sp>
      <p:sp>
        <p:nvSpPr>
          <p:cNvPr id="81" name="任意多边形: 形状 80">
            <a:extLst>
              <a:ext uri="{FF2B5EF4-FFF2-40B4-BE49-F238E27FC236}">
                <a16:creationId xmlns:a16="http://schemas.microsoft.com/office/drawing/2014/main" id="{5251798D-5B03-4C40-8608-7C3102CDF91D}"/>
              </a:ext>
            </a:extLst>
          </p:cNvPr>
          <p:cNvSpPr/>
          <p:nvPr/>
        </p:nvSpPr>
        <p:spPr>
          <a:xfrm>
            <a:off x="2695575" y="1238252"/>
            <a:ext cx="8772527" cy="4886325"/>
          </a:xfrm>
          <a:custGeom>
            <a:avLst/>
            <a:gdLst>
              <a:gd name="connsiteX0" fmla="*/ 2152649 w 8591551"/>
              <a:gd name="connsiteY0" fmla="*/ 0 h 4886325"/>
              <a:gd name="connsiteX1" fmla="*/ 8591551 w 8591551"/>
              <a:gd name="connsiteY1" fmla="*/ 0 h 4886325"/>
              <a:gd name="connsiteX2" fmla="*/ 8591551 w 8591551"/>
              <a:gd name="connsiteY2" fmla="*/ 4886325 h 4886325"/>
              <a:gd name="connsiteX3" fmla="*/ 0 w 8591551"/>
              <a:gd name="connsiteY3" fmla="*/ 4886325 h 4886325"/>
              <a:gd name="connsiteX4" fmla="*/ 0 w 8591551"/>
              <a:gd name="connsiteY4" fmla="*/ 2819597 h 4886325"/>
              <a:gd name="connsiteX5" fmla="*/ 2152649 w 8591551"/>
              <a:gd name="connsiteY5" fmla="*/ 2819597 h 488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1551" h="4886325">
                <a:moveTo>
                  <a:pt x="2152649" y="0"/>
                </a:moveTo>
                <a:lnTo>
                  <a:pt x="8591551" y="0"/>
                </a:lnTo>
                <a:lnTo>
                  <a:pt x="8591551" y="4886325"/>
                </a:lnTo>
                <a:lnTo>
                  <a:pt x="0" y="4886325"/>
                </a:lnTo>
                <a:lnTo>
                  <a:pt x="0" y="2819597"/>
                </a:lnTo>
                <a:lnTo>
                  <a:pt x="2152649" y="2819597"/>
                </a:lnTo>
                <a:close/>
              </a:path>
            </a:pathLst>
          </a:cu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r>
              <a:rPr lang="en-US" altLang="zh-CN" sz="2400" err="1">
                <a:solidFill>
                  <a:srgbClr val="C00000"/>
                </a:solidFill>
                <a:latin typeface="Source Code Pro"/>
              </a:rPr>
              <a:t>EmbeddingStoreIngestor</a:t>
            </a:r>
            <a:endParaRPr lang="zh-CN" altLang="en-US" sz="2400">
              <a:solidFill>
                <a:srgbClr val="C00000"/>
              </a:solidFill>
              <a:latin typeface="Source Code Pro"/>
            </a:endParaRPr>
          </a:p>
        </p:txBody>
      </p:sp>
    </p:spTree>
    <p:extLst>
      <p:ext uri="{BB962C8B-B14F-4D97-AF65-F5344CB8AC3E}">
        <p14:creationId xmlns:p14="http://schemas.microsoft.com/office/powerpoint/2010/main" val="1199604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err="1">
                <a:solidFill>
                  <a:srgbClr val="262626"/>
                </a:solidFill>
                <a:latin typeface="阿里巴巴普惠体"/>
                <a:ea typeface="阿里巴巴普惠体"/>
              </a:rPr>
              <a:t>EmbeddingStore</a:t>
            </a:r>
            <a:r>
              <a:rPr lang="zh-CN" altLang="en-US">
                <a:solidFill>
                  <a:srgbClr val="262626"/>
                </a:solidFill>
                <a:latin typeface="阿里巴巴普惠体"/>
                <a:ea typeface="阿里巴巴普惠体"/>
              </a:rPr>
              <a:t>，用于操作向量数据库（添加、检索）</a:t>
            </a:r>
            <a:endParaRPr lang="en-US" altLang="zh-CN">
              <a:solidFill>
                <a:srgbClr val="262626"/>
              </a:solidFill>
              <a:latin typeface="阿里巴巴普惠体"/>
              <a:ea typeface="阿里巴巴普惠体"/>
            </a:endParaRPr>
          </a:p>
        </p:txBody>
      </p:sp>
      <p:sp>
        <p:nvSpPr>
          <p:cNvPr id="2" name="Rectangle 1">
            <a:extLst>
              <a:ext uri="{FF2B5EF4-FFF2-40B4-BE49-F238E27FC236}">
                <a16:creationId xmlns:a16="http://schemas.microsoft.com/office/drawing/2014/main" id="{E07BCC48-57C9-42B4-BBD6-BB752F5D27CC}"/>
              </a:ext>
            </a:extLst>
          </p:cNvPr>
          <p:cNvSpPr>
            <a:spLocks noChangeArrowheads="1"/>
          </p:cNvSpPr>
          <p:nvPr/>
        </p:nvSpPr>
        <p:spPr bwMode="auto">
          <a:xfrm>
            <a:off x="728597" y="1702802"/>
            <a:ext cx="6567555" cy="2926057"/>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33B3"/>
                </a:solidFill>
                <a:latin typeface="Arial Unicode MS"/>
                <a:ea typeface="JetBrains Mono"/>
              </a:rPr>
              <a:t>public interface </a:t>
            </a:r>
            <a:r>
              <a:rPr lang="zh-CN" altLang="zh-CN" sz="1300">
                <a:solidFill>
                  <a:srgbClr val="000000"/>
                </a:solidFill>
                <a:latin typeface="Arial Unicode MS"/>
                <a:ea typeface="JetBrains Mono"/>
              </a:rPr>
              <a:t>EmbeddingStore</a:t>
            </a:r>
            <a:r>
              <a:rPr lang="zh-CN" altLang="zh-CN" sz="1300">
                <a:solidFill>
                  <a:srgbClr val="080808"/>
                </a:solidFill>
                <a:latin typeface="Arial Unicode MS"/>
                <a:ea typeface="JetBrains Mono"/>
              </a:rPr>
              <a:t>&lt;</a:t>
            </a:r>
            <a:r>
              <a:rPr lang="zh-CN" altLang="zh-CN" sz="1300">
                <a:solidFill>
                  <a:srgbClr val="007E8A"/>
                </a:solidFill>
                <a:latin typeface="Arial Unicode MS"/>
                <a:ea typeface="JetBrains Mono"/>
              </a:rPr>
              <a:t>Embedded</a:t>
            </a:r>
            <a:r>
              <a:rPr lang="zh-CN" altLang="zh-CN" sz="1300">
                <a:solidFill>
                  <a:srgbClr val="080808"/>
                </a:solidFill>
                <a:latin typeface="Arial Unicode MS"/>
                <a:ea typeface="JetBrains Mono"/>
              </a:rPr>
              <a:t>&gt;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a:t>
            </a:r>
            <a:r>
              <a:rPr lang="zh-CN" altLang="zh-CN" sz="1300">
                <a:solidFill>
                  <a:srgbClr val="00627A"/>
                </a:solidFill>
                <a:latin typeface="Arial Unicode MS"/>
                <a:ea typeface="JetBrains Mono"/>
              </a:rPr>
              <a:t>add</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Embedding embedding</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void </a:t>
            </a:r>
            <a:r>
              <a:rPr lang="zh-CN" altLang="zh-CN" sz="1300">
                <a:solidFill>
                  <a:srgbClr val="00627A"/>
                </a:solidFill>
                <a:latin typeface="Arial Unicode MS"/>
                <a:ea typeface="JetBrains Mono"/>
              </a:rPr>
              <a:t>add</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String text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Embedding embedding</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a:t>
            </a:r>
            <a:r>
              <a:rPr lang="zh-CN" altLang="zh-CN" sz="1300">
                <a:solidFill>
                  <a:srgbClr val="00627A"/>
                </a:solidFill>
                <a:latin typeface="Arial Unicode MS"/>
                <a:ea typeface="JetBrains Mono"/>
              </a:rPr>
              <a:t>add</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Embedding embedding</a:t>
            </a:r>
            <a:r>
              <a:rPr lang="zh-CN" altLang="zh-CN" sz="1300">
                <a:solidFill>
                  <a:srgbClr val="080808"/>
                </a:solidFill>
                <a:latin typeface="Arial Unicode MS"/>
                <a:ea typeface="JetBrains Mono"/>
              </a:rPr>
              <a:t>, </a:t>
            </a:r>
            <a:r>
              <a:rPr lang="zh-CN" altLang="zh-CN" sz="1300">
                <a:solidFill>
                  <a:srgbClr val="007E8A"/>
                </a:solidFill>
                <a:latin typeface="Arial Unicode MS"/>
                <a:ea typeface="JetBrains Mono"/>
              </a:rPr>
              <a:t>Embedded </a:t>
            </a:r>
            <a:r>
              <a:rPr lang="zh-CN" altLang="zh-CN" sz="1300">
                <a:solidFill>
                  <a:srgbClr val="000000"/>
                </a:solidFill>
                <a:latin typeface="Arial Unicode MS"/>
                <a:ea typeface="JetBrains Mono"/>
              </a:rPr>
              <a:t>embedded</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List</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String</a:t>
            </a:r>
            <a:r>
              <a:rPr lang="zh-CN" altLang="zh-CN" sz="1300">
                <a:solidFill>
                  <a:srgbClr val="080808"/>
                </a:solidFill>
                <a:latin typeface="Arial Unicode MS"/>
                <a:ea typeface="JetBrains Mono"/>
              </a:rPr>
              <a:t>&gt; </a:t>
            </a:r>
            <a:r>
              <a:rPr lang="zh-CN" altLang="zh-CN" sz="1300">
                <a:solidFill>
                  <a:srgbClr val="00627A"/>
                </a:solidFill>
                <a:latin typeface="Arial Unicode MS"/>
                <a:ea typeface="JetBrains Mono"/>
              </a:rPr>
              <a:t>addAll</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List</a:t>
            </a:r>
            <a:r>
              <a:rPr lang="zh-CN" altLang="zh-CN" sz="1300">
                <a:solidFill>
                  <a:srgbClr val="080808"/>
                </a:solidFill>
                <a:latin typeface="Arial Unicode MS"/>
                <a:ea typeface="JetBrains Mono"/>
              </a:rPr>
              <a:t>&lt;</a:t>
            </a:r>
            <a:r>
              <a:rPr lang="zh-CN" altLang="zh-CN" sz="1300">
                <a:solidFill>
                  <a:srgbClr val="000000"/>
                </a:solidFill>
                <a:latin typeface="Arial Unicode MS"/>
                <a:ea typeface="JetBrains Mono"/>
              </a:rPr>
              <a:t>Embedding</a:t>
            </a:r>
            <a:r>
              <a:rPr lang="zh-CN" altLang="zh-CN" sz="1300">
                <a:solidFill>
                  <a:srgbClr val="080808"/>
                </a:solidFill>
                <a:latin typeface="Arial Unicode MS"/>
                <a:ea typeface="JetBrains Mono"/>
              </a:rPr>
              <a:t>&gt; </a:t>
            </a:r>
            <a:r>
              <a:rPr lang="zh-CN" altLang="zh-CN" sz="1300">
                <a:solidFill>
                  <a:srgbClr val="000000"/>
                </a:solidFill>
                <a:latin typeface="Arial Unicode MS"/>
                <a:ea typeface="JetBrains Mono"/>
              </a:rPr>
              <a:t>embeddings</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EmbeddingSearchResult</a:t>
            </a:r>
            <a:r>
              <a:rPr lang="zh-CN" altLang="zh-CN" sz="1300">
                <a:solidFill>
                  <a:srgbClr val="080808"/>
                </a:solidFill>
                <a:latin typeface="Arial Unicode MS"/>
                <a:ea typeface="JetBrains Mono"/>
              </a:rPr>
              <a:t>&lt;</a:t>
            </a:r>
            <a:r>
              <a:rPr lang="zh-CN" altLang="zh-CN" sz="1300">
                <a:solidFill>
                  <a:srgbClr val="007E8A"/>
                </a:solidFill>
                <a:latin typeface="Arial Unicode MS"/>
                <a:ea typeface="JetBrains Mono"/>
              </a:rPr>
              <a:t>Embedded</a:t>
            </a:r>
            <a:r>
              <a:rPr lang="zh-CN" altLang="zh-CN" sz="1300">
                <a:solidFill>
                  <a:srgbClr val="080808"/>
                </a:solidFill>
                <a:latin typeface="Arial Unicode MS"/>
                <a:ea typeface="JetBrains Mono"/>
              </a:rPr>
              <a:t>&gt; </a:t>
            </a:r>
            <a:r>
              <a:rPr lang="zh-CN" altLang="zh-CN" sz="1300">
                <a:solidFill>
                  <a:srgbClr val="00627A"/>
                </a:solidFill>
                <a:latin typeface="Arial Unicode MS"/>
                <a:ea typeface="JetBrains Mono"/>
              </a:rPr>
              <a:t>search</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EmbeddingSearchRequest request</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pic>
        <p:nvPicPr>
          <p:cNvPr id="5" name="图片 4">
            <a:extLst>
              <a:ext uri="{FF2B5EF4-FFF2-40B4-BE49-F238E27FC236}">
                <a16:creationId xmlns:a16="http://schemas.microsoft.com/office/drawing/2014/main" id="{EAAB88F6-46D5-454C-9DF9-40FB2E287B98}"/>
              </a:ext>
            </a:extLst>
          </p:cNvPr>
          <p:cNvPicPr>
            <a:picLocks noChangeAspect="1"/>
          </p:cNvPicPr>
          <p:nvPr/>
        </p:nvPicPr>
        <p:blipFill>
          <a:blip r:embed="rId2"/>
          <a:stretch>
            <a:fillRect/>
          </a:stretch>
        </p:blipFill>
        <p:spPr>
          <a:xfrm>
            <a:off x="728598" y="4940889"/>
            <a:ext cx="6567553" cy="514879"/>
          </a:xfrm>
          <a:prstGeom prst="rect">
            <a:avLst/>
          </a:prstGeom>
          <a:ln w="6350">
            <a:solidFill>
              <a:schemeClr val="bg1">
                <a:lumMod val="75000"/>
              </a:schemeClr>
            </a:solidFill>
          </a:ln>
        </p:spPr>
      </p:pic>
      <p:sp>
        <p:nvSpPr>
          <p:cNvPr id="31" name="文本框 30">
            <a:extLst>
              <a:ext uri="{FF2B5EF4-FFF2-40B4-BE49-F238E27FC236}">
                <a16:creationId xmlns:a16="http://schemas.microsoft.com/office/drawing/2014/main" id="{A7911B5C-D397-4F0B-9B88-548A619126CA}"/>
              </a:ext>
            </a:extLst>
          </p:cNvPr>
          <p:cNvSpPr txBox="1"/>
          <p:nvPr/>
        </p:nvSpPr>
        <p:spPr>
          <a:xfrm>
            <a:off x="728597" y="5598274"/>
            <a:ext cx="6205545" cy="923330"/>
          </a:xfrm>
          <a:prstGeom prst="rect">
            <a:avLst/>
          </a:prstGeom>
          <a:noFill/>
        </p:spPr>
        <p:txBody>
          <a:bodyPr wrap="none" rtlCol="0">
            <a:spAutoFit/>
          </a:bodyPr>
          <a:lstStyle/>
          <a:p>
            <a:pPr>
              <a:defRPr/>
            </a:pPr>
            <a:r>
              <a:rPr lang="zh-CN" altLang="en-US">
                <a:solidFill>
                  <a:srgbClr val="2F2F2F"/>
                </a:solidFill>
                <a:latin typeface="Source Code Pro"/>
              </a:rPr>
              <a:t>向量数据库：</a:t>
            </a:r>
            <a:br>
              <a:rPr lang="en-US" altLang="zh-CN">
                <a:solidFill>
                  <a:srgbClr val="2F2F2F"/>
                </a:solidFill>
                <a:latin typeface="Source Code Pro"/>
              </a:rPr>
            </a:br>
            <a:r>
              <a:rPr lang="en-US" altLang="zh-CN">
                <a:solidFill>
                  <a:srgbClr val="2F2F2F"/>
                </a:solidFill>
                <a:latin typeface="Source Code Pro"/>
              </a:rPr>
              <a:t>    Milvus</a:t>
            </a:r>
            <a:r>
              <a:rPr lang="zh-CN" altLang="en-US">
                <a:solidFill>
                  <a:srgbClr val="2F2F2F"/>
                </a:solidFill>
                <a:latin typeface="Source Code Pro"/>
              </a:rPr>
              <a:t>、</a:t>
            </a:r>
            <a:r>
              <a:rPr lang="en-US" altLang="zh-CN">
                <a:solidFill>
                  <a:srgbClr val="2F2F2F"/>
                </a:solidFill>
                <a:latin typeface="Source Code Pro"/>
              </a:rPr>
              <a:t>Chroma</a:t>
            </a:r>
            <a:r>
              <a:rPr lang="zh-CN" altLang="en-US">
                <a:solidFill>
                  <a:srgbClr val="2F2F2F"/>
                </a:solidFill>
                <a:latin typeface="Source Code Pro"/>
              </a:rPr>
              <a:t>、</a:t>
            </a:r>
            <a:r>
              <a:rPr lang="en-US" altLang="zh-CN">
                <a:solidFill>
                  <a:srgbClr val="2F2F2F"/>
                </a:solidFill>
                <a:latin typeface="Source Code Pro"/>
              </a:rPr>
              <a:t>Pinecone</a:t>
            </a:r>
          </a:p>
          <a:p>
            <a:pPr>
              <a:defRPr/>
            </a:pPr>
            <a:r>
              <a:rPr lang="en-US" altLang="zh-CN">
                <a:solidFill>
                  <a:srgbClr val="2F2F2F"/>
                </a:solidFill>
                <a:latin typeface="Source Code Pro"/>
              </a:rPr>
              <a:t>    </a:t>
            </a:r>
            <a:r>
              <a:rPr lang="en-US" altLang="zh-CN" err="1">
                <a:solidFill>
                  <a:srgbClr val="C00000"/>
                </a:solidFill>
                <a:latin typeface="Source Code Pro"/>
              </a:rPr>
              <a:t>RedisSearch</a:t>
            </a:r>
            <a:r>
              <a:rPr lang="en-US" altLang="zh-CN">
                <a:solidFill>
                  <a:srgbClr val="C00000"/>
                </a:solidFill>
                <a:latin typeface="Source Code Pro"/>
              </a:rPr>
              <a:t>(</a:t>
            </a:r>
            <a:r>
              <a:rPr lang="en-US" altLang="zh-CN" err="1">
                <a:solidFill>
                  <a:srgbClr val="C00000"/>
                </a:solidFill>
                <a:latin typeface="Source Code Pro"/>
              </a:rPr>
              <a:t>Reids</a:t>
            </a:r>
            <a:r>
              <a:rPr lang="en-US" altLang="zh-CN">
                <a:solidFill>
                  <a:srgbClr val="C00000"/>
                </a:solidFill>
                <a:latin typeface="Source Code Pro"/>
              </a:rPr>
              <a:t>)</a:t>
            </a:r>
            <a:r>
              <a:rPr lang="zh-CN" altLang="en-US">
                <a:solidFill>
                  <a:srgbClr val="2F2F2F"/>
                </a:solidFill>
                <a:latin typeface="Source Code Pro"/>
              </a:rPr>
              <a:t>、</a:t>
            </a:r>
            <a:r>
              <a:rPr lang="en-US" altLang="zh-CN" err="1">
                <a:solidFill>
                  <a:srgbClr val="2F2F2F"/>
                </a:solidFill>
                <a:latin typeface="Source Code Pro"/>
              </a:rPr>
              <a:t>pgvector</a:t>
            </a:r>
            <a:r>
              <a:rPr lang="en-US" altLang="zh-CN">
                <a:solidFill>
                  <a:srgbClr val="2F2F2F"/>
                </a:solidFill>
                <a:latin typeface="Source Code Pro"/>
              </a:rPr>
              <a:t>(PostgreSQL)</a:t>
            </a:r>
            <a:endParaRPr lang="zh-CN" altLang="en-US">
              <a:solidFill>
                <a:srgbClr val="2F2F2F"/>
              </a:solidFill>
              <a:latin typeface="Source Code Pro"/>
            </a:endParaRPr>
          </a:p>
        </p:txBody>
      </p:sp>
    </p:spTree>
    <p:extLst>
      <p:ext uri="{BB962C8B-B14F-4D97-AF65-F5344CB8AC3E}">
        <p14:creationId xmlns:p14="http://schemas.microsoft.com/office/powerpoint/2010/main" val="26596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1000"/>
                                        <p:tgtEl>
                                          <p:spTgt spid="31"/>
                                        </p:tgtEl>
                                      </p:cBhvr>
                                    </p:animEffect>
                                    <p:anim calcmode="lin" valueType="num">
                                      <p:cBhvr>
                                        <p:cTn id="22" dur="1000" fill="hold"/>
                                        <p:tgtEl>
                                          <p:spTgt spid="31"/>
                                        </p:tgtEl>
                                        <p:attrNameLst>
                                          <p:attrName>ppt_x</p:attrName>
                                        </p:attrNameLst>
                                      </p:cBhvr>
                                      <p:tavLst>
                                        <p:tav tm="0">
                                          <p:val>
                                            <p:strVal val="#ppt_x"/>
                                          </p:val>
                                        </p:tav>
                                        <p:tav tm="100000">
                                          <p:val>
                                            <p:strVal val="#ppt_x"/>
                                          </p:val>
                                        </p:tav>
                                      </p:tavLst>
                                    </p:anim>
                                    <p:anim calcmode="lin" valueType="num">
                                      <p:cBhvr>
                                        <p:cTn id="2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RAG</a:t>
            </a:r>
            <a:r>
              <a:rPr lang="zh-CN" altLang="en-US"/>
              <a:t>知识库</a:t>
            </a:r>
            <a:r>
              <a:rPr lang="en-US" altLang="zh-CN"/>
              <a:t>-</a:t>
            </a:r>
            <a:r>
              <a:rPr lang="zh-CN" altLang="en-US"/>
              <a:t>核心</a:t>
            </a:r>
            <a:r>
              <a:rPr lang="en-US" altLang="zh-CN"/>
              <a:t>API</a:t>
            </a:r>
            <a:endParaRPr lang="zh-CN" altLang="en-US"/>
          </a:p>
        </p:txBody>
      </p:sp>
      <p:sp>
        <p:nvSpPr>
          <p:cNvPr id="40" name="内容占位符 1">
            <a:extLst>
              <a:ext uri="{FF2B5EF4-FFF2-40B4-BE49-F238E27FC236}">
                <a16:creationId xmlns:a16="http://schemas.microsoft.com/office/drawing/2014/main" id="{C0EA1029-9063-4DA1-BF4B-4516EADBE922}"/>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en-US" altLang="zh-CN" err="1">
                <a:solidFill>
                  <a:srgbClr val="262626"/>
                </a:solidFill>
                <a:latin typeface="阿里巴巴普惠体"/>
                <a:ea typeface="阿里巴巴普惠体"/>
              </a:rPr>
              <a:t>EmbeddingStore</a:t>
            </a:r>
            <a:r>
              <a:rPr lang="zh-CN" altLang="en-US">
                <a:solidFill>
                  <a:srgbClr val="262626"/>
                </a:solidFill>
                <a:latin typeface="阿里巴巴普惠体"/>
                <a:ea typeface="阿里巴巴普惠体"/>
              </a:rPr>
              <a:t>，用于操作向量数据库（添加、检索）</a:t>
            </a:r>
            <a:endParaRPr lang="en-US" altLang="zh-CN">
              <a:solidFill>
                <a:srgbClr val="262626"/>
              </a:solidFill>
              <a:latin typeface="阿里巴巴普惠体"/>
              <a:ea typeface="阿里巴巴普惠体"/>
            </a:endParaRPr>
          </a:p>
        </p:txBody>
      </p:sp>
      <p:sp>
        <p:nvSpPr>
          <p:cNvPr id="7" name="内容占位符 1">
            <a:extLst>
              <a:ext uri="{FF2B5EF4-FFF2-40B4-BE49-F238E27FC236}">
                <a16:creationId xmlns:a16="http://schemas.microsoft.com/office/drawing/2014/main" id="{D37763AF-99F5-44FE-9E5C-2499C0FB1F2F}"/>
              </a:ext>
            </a:extLst>
          </p:cNvPr>
          <p:cNvSpPr txBox="1">
            <a:spLocks/>
          </p:cNvSpPr>
          <p:nvPr/>
        </p:nvSpPr>
        <p:spPr>
          <a:xfrm>
            <a:off x="919098" y="1366773"/>
            <a:ext cx="4072004" cy="19203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a:solidFill>
                  <a:srgbClr val="2F2F2F"/>
                </a:solidFill>
                <a:latin typeface="Source Code Pro"/>
              </a:rPr>
              <a:t>准备向量数据库</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引入依赖</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配置向量数据库信息</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注入</a:t>
            </a:r>
            <a:r>
              <a:rPr lang="en-US" altLang="zh-CN" sz="1600" err="1">
                <a:solidFill>
                  <a:srgbClr val="2F2F2F"/>
                </a:solidFill>
                <a:latin typeface="Source Code Pro"/>
              </a:rPr>
              <a:t>RedisEmbeddingStore</a:t>
            </a:r>
            <a:r>
              <a:rPr lang="zh-CN" altLang="en-US" sz="1600">
                <a:solidFill>
                  <a:srgbClr val="2F2F2F"/>
                </a:solidFill>
                <a:latin typeface="Source Code Pro"/>
              </a:rPr>
              <a:t>并使用</a:t>
            </a:r>
            <a:endParaRPr lang="en-US" altLang="zh-CN" sz="1600">
              <a:solidFill>
                <a:srgbClr val="2F2F2F"/>
              </a:solidFill>
              <a:latin typeface="Source Code Pro"/>
            </a:endParaRPr>
          </a:p>
        </p:txBody>
      </p:sp>
      <p:sp>
        <p:nvSpPr>
          <p:cNvPr id="9" name="文本框 8">
            <a:extLst>
              <a:ext uri="{FF2B5EF4-FFF2-40B4-BE49-F238E27FC236}">
                <a16:creationId xmlns:a16="http://schemas.microsoft.com/office/drawing/2014/main" id="{646B13DB-48E6-4970-B015-FAEF30408E15}"/>
              </a:ext>
            </a:extLst>
          </p:cNvPr>
          <p:cNvSpPr txBox="1"/>
          <p:nvPr/>
        </p:nvSpPr>
        <p:spPr>
          <a:xfrm>
            <a:off x="4813907" y="1543350"/>
            <a:ext cx="6822772" cy="692497"/>
          </a:xfrm>
          <a:prstGeom prst="rect">
            <a:avLst/>
          </a:prstGeom>
          <a:solidFill>
            <a:schemeClr val="accent3">
              <a:lumMod val="20000"/>
              <a:lumOff val="80000"/>
            </a:schemeClr>
          </a:solidFill>
        </p:spPr>
        <p:txBody>
          <a:bodyPr wrap="square">
            <a:spAutoFit/>
          </a:bodyPr>
          <a:lstStyle/>
          <a:p>
            <a:r>
              <a:rPr lang="zh-CN" altLang="en-US" sz="1300"/>
              <a:t>docker stop redis </a:t>
            </a:r>
            <a:r>
              <a:rPr lang="en-US" altLang="zh-CN" sz="1300"/>
              <a:t># </a:t>
            </a:r>
            <a:r>
              <a:rPr lang="zh-CN" altLang="en-US" sz="1300"/>
              <a:t>停止原有的</a:t>
            </a:r>
            <a:r>
              <a:rPr lang="en-US" altLang="zh-CN" sz="1300" err="1"/>
              <a:t>redis</a:t>
            </a:r>
            <a:r>
              <a:rPr lang="zh-CN" altLang="en-US" sz="1300"/>
              <a:t>镜像</a:t>
            </a:r>
            <a:endParaRPr lang="en-US" altLang="zh-CN" sz="1300"/>
          </a:p>
          <a:p>
            <a:r>
              <a:rPr lang="en-US" altLang="zh-CN" sz="1300"/>
              <a:t>docker rm </a:t>
            </a:r>
            <a:r>
              <a:rPr lang="en-US" altLang="zh-CN" sz="1300" err="1"/>
              <a:t>redis</a:t>
            </a:r>
            <a:r>
              <a:rPr lang="en-US" altLang="zh-CN" sz="1300"/>
              <a:t> #</a:t>
            </a:r>
            <a:r>
              <a:rPr lang="zh-CN" altLang="en-US" sz="1300"/>
              <a:t>删除原有的</a:t>
            </a:r>
            <a:r>
              <a:rPr lang="en-US" altLang="zh-CN" sz="1300" err="1"/>
              <a:t>redis</a:t>
            </a:r>
            <a:r>
              <a:rPr lang="zh-CN" altLang="en-US" sz="1300"/>
              <a:t>镜像</a:t>
            </a:r>
            <a:endParaRPr lang="en-US" altLang="zh-CN" sz="1300"/>
          </a:p>
          <a:p>
            <a:r>
              <a:rPr lang="en-US" altLang="zh-CN" sz="1300"/>
              <a:t>docker run --name </a:t>
            </a:r>
            <a:r>
              <a:rPr lang="en-US" altLang="zh-CN" sz="1300" err="1"/>
              <a:t>redis</a:t>
            </a:r>
            <a:r>
              <a:rPr lang="en-US" altLang="zh-CN" sz="1300"/>
              <a:t>-vector -d -p 6379:6379 </a:t>
            </a:r>
            <a:r>
              <a:rPr lang="en-US" altLang="zh-CN" sz="1300" err="1"/>
              <a:t>redislabs</a:t>
            </a:r>
            <a:r>
              <a:rPr lang="en-US" altLang="zh-CN" sz="1300"/>
              <a:t>/</a:t>
            </a:r>
            <a:r>
              <a:rPr lang="en-US" altLang="zh-CN" sz="1300" err="1"/>
              <a:t>redisearch</a:t>
            </a:r>
            <a:endParaRPr lang="zh-CN" altLang="en-US" sz="1300"/>
          </a:p>
        </p:txBody>
      </p:sp>
      <p:grpSp>
        <p:nvGrpSpPr>
          <p:cNvPr id="8" name="组合 7">
            <a:extLst>
              <a:ext uri="{FF2B5EF4-FFF2-40B4-BE49-F238E27FC236}">
                <a16:creationId xmlns:a16="http://schemas.microsoft.com/office/drawing/2014/main" id="{9AD49578-EEF7-47CA-9A84-F4358765F3E1}"/>
              </a:ext>
            </a:extLst>
          </p:cNvPr>
          <p:cNvGrpSpPr/>
          <p:nvPr/>
        </p:nvGrpSpPr>
        <p:grpSpPr>
          <a:xfrm>
            <a:off x="5144274" y="2304568"/>
            <a:ext cx="6492407" cy="1706136"/>
            <a:chOff x="5144271" y="2485516"/>
            <a:chExt cx="6492407" cy="1706136"/>
          </a:xfrm>
        </p:grpSpPr>
        <p:sp>
          <p:nvSpPr>
            <p:cNvPr id="11" name="矩形: 圆角 10">
              <a:extLst>
                <a:ext uri="{FF2B5EF4-FFF2-40B4-BE49-F238E27FC236}">
                  <a16:creationId xmlns:a16="http://schemas.microsoft.com/office/drawing/2014/main" id="{F32468E5-C481-4508-BAF0-BCE9DEED2CAC}"/>
                </a:ext>
              </a:extLst>
            </p:cNvPr>
            <p:cNvSpPr/>
            <p:nvPr/>
          </p:nvSpPr>
          <p:spPr>
            <a:xfrm>
              <a:off x="5144271" y="2485516"/>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2" name="任意多边形: 形状 11">
              <a:extLst>
                <a:ext uri="{FF2B5EF4-FFF2-40B4-BE49-F238E27FC236}">
                  <a16:creationId xmlns:a16="http://schemas.microsoft.com/office/drawing/2014/main" id="{F76F7306-5510-4A6E-8460-31E5223AA49C}"/>
                </a:ext>
              </a:extLst>
            </p:cNvPr>
            <p:cNvSpPr/>
            <p:nvPr/>
          </p:nvSpPr>
          <p:spPr>
            <a:xfrm>
              <a:off x="5144271" y="2507254"/>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13" name="组合 12">
              <a:extLst>
                <a:ext uri="{FF2B5EF4-FFF2-40B4-BE49-F238E27FC236}">
                  <a16:creationId xmlns:a16="http://schemas.microsoft.com/office/drawing/2014/main" id="{490E1261-769F-4E2C-853E-B03D52313235}"/>
                </a:ext>
              </a:extLst>
            </p:cNvPr>
            <p:cNvGrpSpPr/>
            <p:nvPr/>
          </p:nvGrpSpPr>
          <p:grpSpPr>
            <a:xfrm>
              <a:off x="5310023" y="2592724"/>
              <a:ext cx="771634" cy="133081"/>
              <a:chOff x="2016841" y="2587412"/>
              <a:chExt cx="730275" cy="133081"/>
            </a:xfrm>
          </p:grpSpPr>
          <p:sp>
            <p:nvSpPr>
              <p:cNvPr id="14" name="椭圆 13">
                <a:extLst>
                  <a:ext uri="{FF2B5EF4-FFF2-40B4-BE49-F238E27FC236}">
                    <a16:creationId xmlns:a16="http://schemas.microsoft.com/office/drawing/2014/main" id="{28BF2EDB-1D2F-4332-9F6D-088181727B1F}"/>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5" name="椭圆 14">
                <a:extLst>
                  <a:ext uri="{FF2B5EF4-FFF2-40B4-BE49-F238E27FC236}">
                    <a16:creationId xmlns:a16="http://schemas.microsoft.com/office/drawing/2014/main" id="{6A6B0FE8-D40E-43D1-90A2-B6AB1807F66A}"/>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16" name="椭圆 15">
                <a:extLst>
                  <a:ext uri="{FF2B5EF4-FFF2-40B4-BE49-F238E27FC236}">
                    <a16:creationId xmlns:a16="http://schemas.microsoft.com/office/drawing/2014/main" id="{AC206897-0F6B-4665-9235-08C88AFB4566}"/>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6" name="Rectangle 1">
              <a:extLst>
                <a:ext uri="{FF2B5EF4-FFF2-40B4-BE49-F238E27FC236}">
                  <a16:creationId xmlns:a16="http://schemas.microsoft.com/office/drawing/2014/main" id="{E68C943E-A02C-4641-A0C9-249B2689B140}"/>
                </a:ext>
              </a:extLst>
            </p:cNvPr>
            <p:cNvSpPr>
              <a:spLocks noChangeArrowheads="1"/>
            </p:cNvSpPr>
            <p:nvPr/>
          </p:nvSpPr>
          <p:spPr bwMode="auto">
            <a:xfrm>
              <a:off x="5310023" y="2811276"/>
              <a:ext cx="5686426"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&gt;dev.langchain4j&lt;/</a:t>
              </a:r>
              <a:r>
                <a:rPr lang="zh-CN" altLang="zh-CN" sz="1300">
                  <a:solidFill>
                    <a:srgbClr val="0033B3"/>
                  </a:solidFill>
                  <a:latin typeface="Arial Unicode MS"/>
                  <a:ea typeface="JetBrains Mono"/>
                </a:rPr>
                <a:t>groupId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&gt;langchain4j-community-redis-spring-boot-starter&lt;/</a:t>
              </a:r>
              <a:r>
                <a:rPr lang="zh-CN" altLang="zh-CN" sz="1300">
                  <a:solidFill>
                    <a:srgbClr val="0033B3"/>
                  </a:solidFill>
                  <a:latin typeface="Arial Unicode MS"/>
                  <a:ea typeface="JetBrains Mono"/>
                </a:rPr>
                <a:t>artifactId</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&gt;1.0.1-beta6&lt;/</a:t>
              </a:r>
              <a:r>
                <a:rPr lang="zh-CN" altLang="zh-CN" sz="1300">
                  <a:solidFill>
                    <a:srgbClr val="0033B3"/>
                  </a:solidFill>
                  <a:latin typeface="Arial Unicode MS"/>
                  <a:ea typeface="JetBrains Mono"/>
                </a:rPr>
                <a:t>version</a:t>
              </a:r>
              <a:r>
                <a:rPr lang="zh-CN" altLang="zh-CN" sz="1300">
                  <a:solidFill>
                    <a:srgbClr val="080808"/>
                  </a:solidFill>
                  <a:latin typeface="Arial Unicode MS"/>
                  <a:ea typeface="JetBrains Mono"/>
                </a:rPr>
                <a:t>&gt;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&lt;/</a:t>
              </a:r>
              <a:r>
                <a:rPr lang="zh-CN" altLang="zh-CN" sz="1300">
                  <a:solidFill>
                    <a:srgbClr val="0033B3"/>
                  </a:solidFill>
                  <a:latin typeface="Arial Unicode MS"/>
                  <a:ea typeface="JetBrains Mono"/>
                </a:rPr>
                <a:t>dependency</a:t>
              </a:r>
              <a:r>
                <a:rPr lang="zh-CN" altLang="zh-CN" sz="1300">
                  <a:solidFill>
                    <a:srgbClr val="080808"/>
                  </a:solidFill>
                  <a:latin typeface="Arial Unicode MS"/>
                  <a:ea typeface="JetBrains Mono"/>
                </a:rPr>
                <a:t>&gt;</a:t>
              </a:r>
              <a:endParaRPr lang="zh-CN" altLang="zh-CN" sz="2400">
                <a:latin typeface="Arial" panose="020B0604020202020204" pitchFamily="34" charset="0"/>
              </a:endParaRPr>
            </a:p>
          </p:txBody>
        </p:sp>
      </p:grpSp>
      <p:grpSp>
        <p:nvGrpSpPr>
          <p:cNvPr id="18" name="组合 17">
            <a:extLst>
              <a:ext uri="{FF2B5EF4-FFF2-40B4-BE49-F238E27FC236}">
                <a16:creationId xmlns:a16="http://schemas.microsoft.com/office/drawing/2014/main" id="{F8FD7A1A-696D-4EE3-B3CD-DED00D58529B}"/>
              </a:ext>
            </a:extLst>
          </p:cNvPr>
          <p:cNvGrpSpPr/>
          <p:nvPr/>
        </p:nvGrpSpPr>
        <p:grpSpPr>
          <a:xfrm>
            <a:off x="5144274" y="4158132"/>
            <a:ext cx="6492407" cy="1706136"/>
            <a:chOff x="5144271" y="4283597"/>
            <a:chExt cx="6492407" cy="1706136"/>
          </a:xfrm>
        </p:grpSpPr>
        <p:sp>
          <p:nvSpPr>
            <p:cNvPr id="21" name="矩形: 圆角 20">
              <a:extLst>
                <a:ext uri="{FF2B5EF4-FFF2-40B4-BE49-F238E27FC236}">
                  <a16:creationId xmlns:a16="http://schemas.microsoft.com/office/drawing/2014/main" id="{3EB4F212-ED72-495E-8D93-17E2A048AEB1}"/>
                </a:ext>
              </a:extLst>
            </p:cNvPr>
            <p:cNvSpPr/>
            <p:nvPr/>
          </p:nvSpPr>
          <p:spPr>
            <a:xfrm>
              <a:off x="5144271" y="4283597"/>
              <a:ext cx="6492407" cy="1706136"/>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2" name="任意多边形: 形状 21">
              <a:extLst>
                <a:ext uri="{FF2B5EF4-FFF2-40B4-BE49-F238E27FC236}">
                  <a16:creationId xmlns:a16="http://schemas.microsoft.com/office/drawing/2014/main" id="{61B2BB28-2986-4B16-B960-3ED5D82E80D2}"/>
                </a:ext>
              </a:extLst>
            </p:cNvPr>
            <p:cNvSpPr/>
            <p:nvPr/>
          </p:nvSpPr>
          <p:spPr>
            <a:xfrm>
              <a:off x="5144271" y="4305335"/>
              <a:ext cx="649240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23" name="组合 22">
              <a:extLst>
                <a:ext uri="{FF2B5EF4-FFF2-40B4-BE49-F238E27FC236}">
                  <a16:creationId xmlns:a16="http://schemas.microsoft.com/office/drawing/2014/main" id="{450750D0-A227-454D-9706-4761DD7979B5}"/>
                </a:ext>
              </a:extLst>
            </p:cNvPr>
            <p:cNvGrpSpPr/>
            <p:nvPr/>
          </p:nvGrpSpPr>
          <p:grpSpPr>
            <a:xfrm>
              <a:off x="5310023" y="4390805"/>
              <a:ext cx="771634" cy="133081"/>
              <a:chOff x="2016841" y="2587412"/>
              <a:chExt cx="730275" cy="133081"/>
            </a:xfrm>
          </p:grpSpPr>
          <p:sp>
            <p:nvSpPr>
              <p:cNvPr id="25" name="椭圆 24">
                <a:extLst>
                  <a:ext uri="{FF2B5EF4-FFF2-40B4-BE49-F238E27FC236}">
                    <a16:creationId xmlns:a16="http://schemas.microsoft.com/office/drawing/2014/main" id="{1DF4353D-E34E-48BD-BF4F-E5F937446733}"/>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6" name="椭圆 25">
                <a:extLst>
                  <a:ext uri="{FF2B5EF4-FFF2-40B4-BE49-F238E27FC236}">
                    <a16:creationId xmlns:a16="http://schemas.microsoft.com/office/drawing/2014/main" id="{430F0742-AF26-4726-A17C-D434F05F6EFB}"/>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7" name="椭圆 26">
                <a:extLst>
                  <a:ext uri="{FF2B5EF4-FFF2-40B4-BE49-F238E27FC236}">
                    <a16:creationId xmlns:a16="http://schemas.microsoft.com/office/drawing/2014/main" id="{EA959845-FC67-453D-B3AD-CFF54F8EC3C3}"/>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10" name="Rectangle 2">
              <a:extLst>
                <a:ext uri="{FF2B5EF4-FFF2-40B4-BE49-F238E27FC236}">
                  <a16:creationId xmlns:a16="http://schemas.microsoft.com/office/drawing/2014/main" id="{43A308A3-3B71-4571-BDE2-5D93A798018F}"/>
                </a:ext>
              </a:extLst>
            </p:cNvPr>
            <p:cNvSpPr>
              <a:spLocks noChangeArrowheads="1"/>
            </p:cNvSpPr>
            <p:nvPr/>
          </p:nvSpPr>
          <p:spPr bwMode="auto">
            <a:xfrm>
              <a:off x="5380331" y="4601874"/>
              <a:ext cx="417195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33B3"/>
                  </a:solidFill>
                  <a:latin typeface="Arial Unicode MS"/>
                  <a:ea typeface="JetBrains Mono"/>
                </a:rPr>
                <a:t>langchain4j</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community</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redis</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host</a:t>
              </a:r>
              <a:r>
                <a:rPr lang="zh-CN" altLang="zh-CN" sz="1300">
                  <a:solidFill>
                    <a:srgbClr val="080808"/>
                  </a:solidFill>
                  <a:latin typeface="Arial Unicode MS"/>
                  <a:ea typeface="JetBrains Mono"/>
                </a:rPr>
                <a:t>: localhost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port</a:t>
              </a:r>
              <a:r>
                <a:rPr lang="zh-CN" altLang="zh-CN" sz="1300">
                  <a:solidFill>
                    <a:srgbClr val="080808"/>
                  </a:solidFill>
                  <a:latin typeface="Arial Unicode MS"/>
                  <a:ea typeface="JetBrains Mono"/>
                </a:rPr>
                <a:t>: </a:t>
              </a:r>
              <a:r>
                <a:rPr lang="zh-CN" altLang="zh-CN" sz="1300">
                  <a:solidFill>
                    <a:srgbClr val="1750EB"/>
                  </a:solidFill>
                  <a:latin typeface="Arial Unicode MS"/>
                  <a:ea typeface="JetBrains Mono"/>
                </a:rPr>
                <a:t>6379</a:t>
              </a:r>
              <a:endParaRPr lang="zh-CN" altLang="zh-CN" sz="2400">
                <a:latin typeface="Arial" panose="020B0604020202020204" pitchFamily="34" charset="0"/>
              </a:endParaRPr>
            </a:p>
          </p:txBody>
        </p:sp>
      </p:grpSp>
      <p:grpSp>
        <p:nvGrpSpPr>
          <p:cNvPr id="2" name="组合 1">
            <a:extLst>
              <a:ext uri="{FF2B5EF4-FFF2-40B4-BE49-F238E27FC236}">
                <a16:creationId xmlns:a16="http://schemas.microsoft.com/office/drawing/2014/main" id="{171B6D2B-6C3F-46D6-B60B-2E52070D4926}"/>
              </a:ext>
            </a:extLst>
          </p:cNvPr>
          <p:cNvGrpSpPr/>
          <p:nvPr/>
        </p:nvGrpSpPr>
        <p:grpSpPr>
          <a:xfrm>
            <a:off x="520054" y="3287148"/>
            <a:ext cx="4449327" cy="3448105"/>
            <a:chOff x="520054" y="3545857"/>
            <a:chExt cx="4449327" cy="3448105"/>
          </a:xfrm>
        </p:grpSpPr>
        <p:sp>
          <p:nvSpPr>
            <p:cNvPr id="28" name="矩形: 圆角 27">
              <a:extLst>
                <a:ext uri="{FF2B5EF4-FFF2-40B4-BE49-F238E27FC236}">
                  <a16:creationId xmlns:a16="http://schemas.microsoft.com/office/drawing/2014/main" id="{EFD8BE52-31EA-437F-8101-8B49E556AC66}"/>
                </a:ext>
              </a:extLst>
            </p:cNvPr>
            <p:cNvSpPr/>
            <p:nvPr/>
          </p:nvSpPr>
          <p:spPr>
            <a:xfrm>
              <a:off x="520054" y="3545857"/>
              <a:ext cx="4449327" cy="3448105"/>
            </a:xfrm>
            <a:prstGeom prst="roundRect">
              <a:avLst>
                <a:gd name="adj" fmla="val 3590"/>
              </a:avLst>
            </a:prstGeom>
            <a:solidFill>
              <a:srgbClr val="F9FBF9"/>
            </a:solidFill>
            <a:ln w="3175">
              <a:noFill/>
            </a:ln>
            <a:effectLst>
              <a:outerShdw blurRad="50800" dist="38100" dir="5400000" algn="t"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29" name="任意多边形: 形状 28">
              <a:extLst>
                <a:ext uri="{FF2B5EF4-FFF2-40B4-BE49-F238E27FC236}">
                  <a16:creationId xmlns:a16="http://schemas.microsoft.com/office/drawing/2014/main" id="{BD7AB491-C8BC-4CC7-91D6-1D7BF47DDC2F}"/>
                </a:ext>
              </a:extLst>
            </p:cNvPr>
            <p:cNvSpPr/>
            <p:nvPr/>
          </p:nvSpPr>
          <p:spPr>
            <a:xfrm>
              <a:off x="520054" y="3567596"/>
              <a:ext cx="4449327" cy="297030"/>
            </a:xfrm>
            <a:custGeom>
              <a:avLst/>
              <a:gdLst>
                <a:gd name="connsiteX0" fmla="*/ 89432 w 8960426"/>
                <a:gd name="connsiteY0" fmla="*/ 0 h 243057"/>
                <a:gd name="connsiteX1" fmla="*/ 8870994 w 8960426"/>
                <a:gd name="connsiteY1" fmla="*/ 0 h 243057"/>
                <a:gd name="connsiteX2" fmla="*/ 8960426 w 8960426"/>
                <a:gd name="connsiteY2" fmla="*/ 89432 h 243057"/>
                <a:gd name="connsiteX3" fmla="*/ 8960426 w 8960426"/>
                <a:gd name="connsiteY3" fmla="*/ 243057 h 243057"/>
                <a:gd name="connsiteX4" fmla="*/ 0 w 8960426"/>
                <a:gd name="connsiteY4" fmla="*/ 243057 h 243057"/>
                <a:gd name="connsiteX5" fmla="*/ 0 w 8960426"/>
                <a:gd name="connsiteY5" fmla="*/ 89432 h 243057"/>
                <a:gd name="connsiteX6" fmla="*/ 89432 w 8960426"/>
                <a:gd name="connsiteY6" fmla="*/ 0 h 243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60426" h="243057">
                  <a:moveTo>
                    <a:pt x="89432" y="0"/>
                  </a:moveTo>
                  <a:lnTo>
                    <a:pt x="8870994" y="0"/>
                  </a:lnTo>
                  <a:cubicBezTo>
                    <a:pt x="8920386" y="0"/>
                    <a:pt x="8960426" y="40040"/>
                    <a:pt x="8960426" y="89432"/>
                  </a:cubicBezTo>
                  <a:lnTo>
                    <a:pt x="8960426" y="243057"/>
                  </a:lnTo>
                  <a:lnTo>
                    <a:pt x="0" y="243057"/>
                  </a:lnTo>
                  <a:lnTo>
                    <a:pt x="0" y="89432"/>
                  </a:lnTo>
                  <a:cubicBezTo>
                    <a:pt x="0" y="40040"/>
                    <a:pt x="40040" y="0"/>
                    <a:pt x="89432" y="0"/>
                  </a:cubicBezTo>
                  <a:close/>
                </a:path>
              </a:pathLst>
            </a:custGeom>
            <a:solidFill>
              <a:srgbClr val="F2F2F2"/>
            </a:solidFill>
            <a:ln w="3175">
              <a:noFill/>
            </a:ln>
            <a:effectLst>
              <a:outerShdw blurRad="127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216000" bIns="45720" rtlCol="0" anchor="ctr">
              <a:noAutofit/>
            </a:bodyPr>
            <a:lstStyle/>
            <a:p>
              <a:pPr algn="ctr">
                <a:defRPr/>
              </a:pPr>
              <a:endParaRPr lang="zh-CN" altLang="en-US" sz="2400">
                <a:solidFill>
                  <a:srgbClr val="FFFFFF"/>
                </a:solidFill>
                <a:latin typeface="Source Code Pro"/>
              </a:endParaRPr>
            </a:p>
          </p:txBody>
        </p:sp>
        <p:grpSp>
          <p:nvGrpSpPr>
            <p:cNvPr id="30" name="组合 29">
              <a:extLst>
                <a:ext uri="{FF2B5EF4-FFF2-40B4-BE49-F238E27FC236}">
                  <a16:creationId xmlns:a16="http://schemas.microsoft.com/office/drawing/2014/main" id="{B6DF43ED-4ACA-4F71-9E31-97A712862A31}"/>
                </a:ext>
              </a:extLst>
            </p:cNvPr>
            <p:cNvGrpSpPr/>
            <p:nvPr/>
          </p:nvGrpSpPr>
          <p:grpSpPr>
            <a:xfrm>
              <a:off x="685805" y="3653066"/>
              <a:ext cx="771634" cy="133081"/>
              <a:chOff x="2016841" y="2587412"/>
              <a:chExt cx="730275" cy="133081"/>
            </a:xfrm>
          </p:grpSpPr>
          <p:sp>
            <p:nvSpPr>
              <p:cNvPr id="33" name="椭圆 32">
                <a:extLst>
                  <a:ext uri="{FF2B5EF4-FFF2-40B4-BE49-F238E27FC236}">
                    <a16:creationId xmlns:a16="http://schemas.microsoft.com/office/drawing/2014/main" id="{A9C4901A-123A-4921-A3B8-884DB8804C39}"/>
                  </a:ext>
                </a:extLst>
              </p:cNvPr>
              <p:cNvSpPr/>
              <p:nvPr/>
            </p:nvSpPr>
            <p:spPr>
              <a:xfrm>
                <a:off x="2016841" y="2587414"/>
                <a:ext cx="133079" cy="133079"/>
              </a:xfrm>
              <a:prstGeom prst="ellipse">
                <a:avLst/>
              </a:prstGeom>
              <a:solidFill>
                <a:srgbClr val="FF5F56"/>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4" name="椭圆 33">
                <a:extLst>
                  <a:ext uri="{FF2B5EF4-FFF2-40B4-BE49-F238E27FC236}">
                    <a16:creationId xmlns:a16="http://schemas.microsoft.com/office/drawing/2014/main" id="{7E0803F4-CB17-44E0-ADB8-5BD464D965F1}"/>
                  </a:ext>
                </a:extLst>
              </p:cNvPr>
              <p:cNvSpPr/>
              <p:nvPr/>
            </p:nvSpPr>
            <p:spPr>
              <a:xfrm>
                <a:off x="2315439" y="2587413"/>
                <a:ext cx="133079" cy="133079"/>
              </a:xfrm>
              <a:prstGeom prst="ellipse">
                <a:avLst/>
              </a:prstGeom>
              <a:solidFill>
                <a:srgbClr val="FFBD2E"/>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sp>
            <p:nvSpPr>
              <p:cNvPr id="35" name="椭圆 34">
                <a:extLst>
                  <a:ext uri="{FF2B5EF4-FFF2-40B4-BE49-F238E27FC236}">
                    <a16:creationId xmlns:a16="http://schemas.microsoft.com/office/drawing/2014/main" id="{8C664202-CCC6-48B9-BF6E-EEDD3661FF9C}"/>
                  </a:ext>
                </a:extLst>
              </p:cNvPr>
              <p:cNvSpPr/>
              <p:nvPr/>
            </p:nvSpPr>
            <p:spPr>
              <a:xfrm>
                <a:off x="2614037" y="2587412"/>
                <a:ext cx="133079" cy="133079"/>
              </a:xfrm>
              <a:prstGeom prst="ellipse">
                <a:avLst/>
              </a:prstGeom>
              <a:solidFill>
                <a:srgbClr val="27C93F"/>
              </a:solidFill>
              <a:ln>
                <a:noFill/>
              </a:ln>
              <a:effectLst>
                <a:innerShdw blurRad="25400">
                  <a:prstClr val="black">
                    <a:alpha val="6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srgbClr val="FFFFFF"/>
                  </a:solidFill>
                  <a:latin typeface="Source Code Pro"/>
                </a:endParaRPr>
              </a:p>
            </p:txBody>
          </p:sp>
        </p:grpSp>
        <p:sp>
          <p:nvSpPr>
            <p:cNvPr id="31" name="Rectangle 3">
              <a:extLst>
                <a:ext uri="{FF2B5EF4-FFF2-40B4-BE49-F238E27FC236}">
                  <a16:creationId xmlns:a16="http://schemas.microsoft.com/office/drawing/2014/main" id="{D8C25848-1A21-4164-904C-5F231EFCEB70}"/>
                </a:ext>
              </a:extLst>
            </p:cNvPr>
            <p:cNvSpPr>
              <a:spLocks noChangeArrowheads="1"/>
            </p:cNvSpPr>
            <p:nvPr/>
          </p:nvSpPr>
          <p:spPr bwMode="auto">
            <a:xfrm>
              <a:off x="693115" y="3938769"/>
              <a:ext cx="3657600" cy="13656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EmbeddingStoreIngestor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.documentSplitter(</a:t>
              </a:r>
              <a:r>
                <a:rPr lang="zh-CN" altLang="zh-CN" sz="1300">
                  <a:solidFill>
                    <a:srgbClr val="000000"/>
                  </a:solidFill>
                  <a:latin typeface="Arial Unicode MS"/>
                  <a:ea typeface="JetBrains Mono"/>
                </a:rPr>
                <a:t>documentSplitter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.embeddingModel(</a:t>
              </a:r>
              <a:r>
                <a:rPr lang="zh-CN" altLang="zh-CN" sz="1300">
                  <a:solidFill>
                    <a:srgbClr val="871094"/>
                  </a:solidFill>
                  <a:latin typeface="Arial Unicode MS"/>
                  <a:ea typeface="JetBrains Mono"/>
                </a:rPr>
                <a:t>embeddingModel</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sp>
          <p:nvSpPr>
            <p:cNvPr id="32" name="Rectangle 4">
              <a:extLst>
                <a:ext uri="{FF2B5EF4-FFF2-40B4-BE49-F238E27FC236}">
                  <a16:creationId xmlns:a16="http://schemas.microsoft.com/office/drawing/2014/main" id="{AB259D98-53BB-46D3-80B2-2C1E63BE7365}"/>
                </a:ext>
              </a:extLst>
            </p:cNvPr>
            <p:cNvSpPr>
              <a:spLocks noChangeArrowheads="1"/>
            </p:cNvSpPr>
            <p:nvPr/>
          </p:nvSpPr>
          <p:spPr bwMode="auto">
            <a:xfrm>
              <a:off x="726453" y="5368261"/>
              <a:ext cx="3590925" cy="162570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000000"/>
                  </a:solidFill>
                  <a:latin typeface="Arial Unicode MS"/>
                  <a:ea typeface="JetBrains Mono"/>
                </a:rPr>
                <a:t>EmbeddingStoreContentRetriever</a:t>
              </a:r>
              <a:r>
                <a:rPr lang="zh-CN" altLang="zh-CN" sz="1300">
                  <a:solidFill>
                    <a:srgbClr val="080808"/>
                  </a:solidFill>
                  <a:latin typeface="Arial Unicode MS"/>
                  <a:ea typeface="JetBrains Mono"/>
                </a:rPr>
                <a:t>.</a:t>
              </a:r>
              <a:r>
                <a:rPr lang="zh-CN" altLang="zh-CN" sz="1300" i="1">
                  <a:solidFill>
                    <a:srgbClr val="080808"/>
                  </a:solidFill>
                  <a:latin typeface="Arial Unicode MS"/>
                  <a:ea typeface="JetBrains Mono"/>
                </a:rPr>
                <a:t>builder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.embeddingStore(</a:t>
              </a:r>
              <a:r>
                <a:rPr lang="zh-CN" altLang="zh-CN" sz="1300">
                  <a:solidFill>
                    <a:srgbClr val="000000"/>
                  </a:solidFill>
                  <a:latin typeface="Arial Unicode MS"/>
                  <a:ea typeface="JetBrains Mono"/>
                </a:rPr>
                <a:t>store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.embeddingModel(</a:t>
              </a:r>
              <a:r>
                <a:rPr lang="zh-CN" altLang="zh-CN" sz="1300">
                  <a:solidFill>
                    <a:srgbClr val="871094"/>
                  </a:solidFill>
                  <a:latin typeface="Arial Unicode MS"/>
                  <a:ea typeface="JetBrains Mono"/>
                </a:rPr>
                <a:t>embeddingModel</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.maxResults(</a:t>
              </a:r>
              <a:r>
                <a:rPr lang="zh-CN" altLang="zh-CN" sz="1300">
                  <a:solidFill>
                    <a:srgbClr val="1750EB"/>
                  </a:solidFill>
                  <a:latin typeface="Arial Unicode MS"/>
                  <a:ea typeface="JetBrains Mono"/>
                </a:rPr>
                <a:t>3</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.minScore(</a:t>
              </a:r>
              <a:r>
                <a:rPr lang="zh-CN" altLang="zh-CN" sz="1300">
                  <a:solidFill>
                    <a:srgbClr val="1750EB"/>
                  </a:solidFill>
                  <a:latin typeface="Arial Unicode MS"/>
                  <a:ea typeface="JetBrains Mono"/>
                </a:rPr>
                <a:t>0.6</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.build();</a:t>
              </a:r>
              <a:endParaRPr lang="zh-CN" altLang="zh-CN" sz="2400">
                <a:latin typeface="Arial" panose="020B0604020202020204" pitchFamily="34" charset="0"/>
              </a:endParaRPr>
            </a:p>
          </p:txBody>
        </p:sp>
      </p:grpSp>
      <p:sp>
        <p:nvSpPr>
          <p:cNvPr id="36" name="矩形 35">
            <a:extLst>
              <a:ext uri="{FF2B5EF4-FFF2-40B4-BE49-F238E27FC236}">
                <a16:creationId xmlns:a16="http://schemas.microsoft.com/office/drawing/2014/main" id="{A2B716D6-B4D9-4E99-8733-B0E4F16192C7}"/>
              </a:ext>
            </a:extLst>
          </p:cNvPr>
          <p:cNvSpPr/>
          <p:nvPr/>
        </p:nvSpPr>
        <p:spPr>
          <a:xfrm>
            <a:off x="1001314" y="5386991"/>
            <a:ext cx="2884104" cy="283124"/>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37" name="矩形 36">
            <a:extLst>
              <a:ext uri="{FF2B5EF4-FFF2-40B4-BE49-F238E27FC236}">
                <a16:creationId xmlns:a16="http://schemas.microsoft.com/office/drawing/2014/main" id="{AF82D278-881F-465E-A36E-57C46F1D744C}"/>
              </a:ext>
            </a:extLst>
          </p:cNvPr>
          <p:cNvSpPr/>
          <p:nvPr/>
        </p:nvSpPr>
        <p:spPr>
          <a:xfrm>
            <a:off x="1001314" y="4007603"/>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74566139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1000"/>
                                        <p:tgtEl>
                                          <p:spTgt spid="36"/>
                                        </p:tgtEl>
                                      </p:cBhvr>
                                    </p:animEffect>
                                    <p:anim calcmode="lin" valueType="num">
                                      <p:cBhvr>
                                        <p:cTn id="39" dur="1000" fill="hold"/>
                                        <p:tgtEl>
                                          <p:spTgt spid="36"/>
                                        </p:tgtEl>
                                        <p:attrNameLst>
                                          <p:attrName>ppt_x</p:attrName>
                                        </p:attrNameLst>
                                      </p:cBhvr>
                                      <p:tavLst>
                                        <p:tav tm="0">
                                          <p:val>
                                            <p:strVal val="#ppt_x"/>
                                          </p:val>
                                        </p:tav>
                                        <p:tav tm="100000">
                                          <p:val>
                                            <p:strVal val="#ppt_x"/>
                                          </p:val>
                                        </p:tav>
                                      </p:tavLst>
                                    </p:anim>
                                    <p:anim calcmode="lin" valueType="num">
                                      <p:cBhvr>
                                        <p:cTn id="40" dur="1000" fill="hold"/>
                                        <p:tgtEl>
                                          <p:spTgt spid="3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1000"/>
                                        <p:tgtEl>
                                          <p:spTgt spid="37"/>
                                        </p:tgtEl>
                                      </p:cBhvr>
                                    </p:animEffect>
                                    <p:anim calcmode="lin" valueType="num">
                                      <p:cBhvr>
                                        <p:cTn id="44" dur="1000" fill="hold"/>
                                        <p:tgtEl>
                                          <p:spTgt spid="37"/>
                                        </p:tgtEl>
                                        <p:attrNameLst>
                                          <p:attrName>ppt_x</p:attrName>
                                        </p:attrNameLst>
                                      </p:cBhvr>
                                      <p:tavLst>
                                        <p:tav tm="0">
                                          <p:val>
                                            <p:strVal val="#ppt_x"/>
                                          </p:val>
                                        </p:tav>
                                        <p:tav tm="100000">
                                          <p:val>
                                            <p:strVal val="#ppt_x"/>
                                          </p:val>
                                        </p:tav>
                                      </p:tavLst>
                                    </p:anim>
                                    <p:anim calcmode="lin" valueType="num">
                                      <p:cBhvr>
                                        <p:cTn id="4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36"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a:t>LangChain4j</a:t>
            </a:r>
            <a:endParaRPr lang="zh-CN" altLang="en-US"/>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03</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a:t>会话功能</a:t>
            </a:r>
            <a:endParaRPr lang="en-US" altLang="zh-CN"/>
          </a:p>
          <a:p>
            <a:r>
              <a:rPr lang="en-US" altLang="zh-CN"/>
              <a:t>RAG</a:t>
            </a:r>
            <a:r>
              <a:rPr lang="zh-CN" altLang="en-US"/>
              <a:t>知识库</a:t>
            </a:r>
            <a:endParaRPr lang="en-US" altLang="zh-CN"/>
          </a:p>
          <a:p>
            <a:r>
              <a:rPr lang="en-US" altLang="zh-CN"/>
              <a:t>Tools</a:t>
            </a:r>
            <a:r>
              <a:rPr lang="zh-CN" altLang="en-US"/>
              <a:t>工具</a:t>
            </a:r>
            <a:endParaRPr lang="en-US" altLang="zh-CN"/>
          </a:p>
        </p:txBody>
      </p:sp>
    </p:spTree>
    <p:custDataLst>
      <p:custData r:id="rId1"/>
    </p:custDataLst>
    <p:extLst>
      <p:ext uri="{BB962C8B-B14F-4D97-AF65-F5344CB8AC3E}">
        <p14:creationId xmlns:p14="http://schemas.microsoft.com/office/powerpoint/2010/main" val="324002025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2" end="2"/>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a:t>LangChain4j</a:t>
            </a:r>
            <a:endParaRPr lang="zh-CN" altLang="en-US"/>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03</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a:t>会话功能</a:t>
            </a:r>
            <a:endParaRPr lang="en-US" altLang="zh-CN"/>
          </a:p>
          <a:p>
            <a:r>
              <a:rPr lang="en-US" altLang="zh-CN"/>
              <a:t>RAG</a:t>
            </a:r>
            <a:r>
              <a:rPr lang="zh-CN" altLang="en-US"/>
              <a:t>知识库</a:t>
            </a:r>
            <a:endParaRPr lang="en-US" altLang="zh-CN"/>
          </a:p>
          <a:p>
            <a:r>
              <a:rPr lang="en-US" altLang="zh-CN"/>
              <a:t>Tools</a:t>
            </a:r>
            <a:r>
              <a:rPr lang="zh-CN" altLang="en-US"/>
              <a:t>工具</a:t>
            </a:r>
            <a:endParaRPr lang="en-US" altLang="zh-CN"/>
          </a:p>
          <a:p>
            <a:pPr lvl="1"/>
            <a:r>
              <a:rPr lang="zh-CN" altLang="en-US" sz="1400"/>
              <a:t>准备工作</a:t>
            </a:r>
            <a:endParaRPr lang="en-US" altLang="zh-CN" sz="1400"/>
          </a:p>
          <a:p>
            <a:pPr lvl="1"/>
            <a:r>
              <a:rPr lang="zh-CN" altLang="en-US" sz="1400"/>
              <a:t>原理</a:t>
            </a:r>
            <a:endParaRPr lang="en-US" altLang="zh-CN" sz="1400"/>
          </a:p>
          <a:p>
            <a:pPr lvl="1"/>
            <a:r>
              <a:rPr lang="zh-CN" altLang="en-US" sz="1400"/>
              <a:t>实现</a:t>
            </a:r>
            <a:endParaRPr lang="en-US" altLang="zh-CN" sz="1400"/>
          </a:p>
          <a:p>
            <a:pPr lvl="1"/>
            <a:endParaRPr lang="en-US" altLang="zh-CN"/>
          </a:p>
        </p:txBody>
      </p:sp>
    </p:spTree>
    <p:custDataLst>
      <p:custData r:id="rId1"/>
    </p:custDataLst>
    <p:extLst>
      <p:ext uri="{BB962C8B-B14F-4D97-AF65-F5344CB8AC3E}">
        <p14:creationId xmlns:p14="http://schemas.microsoft.com/office/powerpoint/2010/main" val="3518986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4">
                                            <p:txEl>
                                              <p:pRg st="3" end="3"/>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Tools</a:t>
            </a:r>
            <a:r>
              <a:rPr lang="zh-CN" altLang="en-US"/>
              <a:t>工具</a:t>
            </a:r>
            <a:r>
              <a:rPr lang="en-US" altLang="zh-CN"/>
              <a:t>-</a:t>
            </a:r>
            <a:r>
              <a:rPr lang="zh-CN" altLang="en-US"/>
              <a:t>准备工作</a:t>
            </a:r>
          </a:p>
        </p:txBody>
      </p:sp>
      <p:pic>
        <p:nvPicPr>
          <p:cNvPr id="4" name="图片 3">
            <a:extLst>
              <a:ext uri="{FF2B5EF4-FFF2-40B4-BE49-F238E27FC236}">
                <a16:creationId xmlns:a16="http://schemas.microsoft.com/office/drawing/2014/main" id="{9371FF65-C340-4F1A-8B8F-EC085FFCDEBB}"/>
              </a:ext>
            </a:extLst>
          </p:cNvPr>
          <p:cNvPicPr>
            <a:picLocks noChangeAspect="1"/>
          </p:cNvPicPr>
          <p:nvPr/>
        </p:nvPicPr>
        <p:blipFill>
          <a:blip r:embed="rId2"/>
          <a:stretch>
            <a:fillRect/>
          </a:stretch>
        </p:blipFill>
        <p:spPr>
          <a:xfrm>
            <a:off x="798603" y="990602"/>
            <a:ext cx="5297399" cy="5690055"/>
          </a:xfrm>
          <a:prstGeom prst="rect">
            <a:avLst/>
          </a:prstGeom>
        </p:spPr>
      </p:pic>
      <p:pic>
        <p:nvPicPr>
          <p:cNvPr id="17" name="图片 16">
            <a:extLst>
              <a:ext uri="{FF2B5EF4-FFF2-40B4-BE49-F238E27FC236}">
                <a16:creationId xmlns:a16="http://schemas.microsoft.com/office/drawing/2014/main" id="{3F5A24C7-B776-432C-A5B1-ED1C3FD0EE34}"/>
              </a:ext>
            </a:extLst>
          </p:cNvPr>
          <p:cNvPicPr>
            <a:picLocks noChangeAspect="1"/>
          </p:cNvPicPr>
          <p:nvPr/>
        </p:nvPicPr>
        <p:blipFill>
          <a:blip r:embed="rId3"/>
          <a:stretch>
            <a:fillRect/>
          </a:stretch>
        </p:blipFill>
        <p:spPr>
          <a:xfrm>
            <a:off x="798604" y="3823551"/>
            <a:ext cx="10747497" cy="462340"/>
          </a:xfrm>
          <a:prstGeom prst="rect">
            <a:avLst/>
          </a:prstGeom>
          <a:ln w="6350">
            <a:solidFill>
              <a:schemeClr val="bg1">
                <a:lumMod val="75000"/>
              </a:schemeClr>
            </a:solidFill>
          </a:ln>
        </p:spPr>
      </p:pic>
      <p:pic>
        <p:nvPicPr>
          <p:cNvPr id="20" name="图片 19">
            <a:extLst>
              <a:ext uri="{FF2B5EF4-FFF2-40B4-BE49-F238E27FC236}">
                <a16:creationId xmlns:a16="http://schemas.microsoft.com/office/drawing/2014/main" id="{C495C128-7F86-4781-BD6C-70645A196305}"/>
              </a:ext>
            </a:extLst>
          </p:cNvPr>
          <p:cNvPicPr>
            <a:picLocks noChangeAspect="1"/>
          </p:cNvPicPr>
          <p:nvPr/>
        </p:nvPicPr>
        <p:blipFill>
          <a:blip r:embed="rId4"/>
          <a:stretch>
            <a:fillRect/>
          </a:stretch>
        </p:blipFill>
        <p:spPr>
          <a:xfrm>
            <a:off x="798603" y="3257553"/>
            <a:ext cx="5297399" cy="2261503"/>
          </a:xfrm>
          <a:prstGeom prst="rect">
            <a:avLst/>
          </a:prstGeom>
        </p:spPr>
      </p:pic>
      <p:pic>
        <p:nvPicPr>
          <p:cNvPr id="30" name="图片 29">
            <a:extLst>
              <a:ext uri="{FF2B5EF4-FFF2-40B4-BE49-F238E27FC236}">
                <a16:creationId xmlns:a16="http://schemas.microsoft.com/office/drawing/2014/main" id="{FA3422C7-8AAC-416D-936A-8982AE0353DD}"/>
              </a:ext>
            </a:extLst>
          </p:cNvPr>
          <p:cNvPicPr>
            <a:picLocks noChangeAspect="1"/>
          </p:cNvPicPr>
          <p:nvPr/>
        </p:nvPicPr>
        <p:blipFill>
          <a:blip r:embed="rId5"/>
          <a:stretch>
            <a:fillRect/>
          </a:stretch>
        </p:blipFill>
        <p:spPr>
          <a:xfrm>
            <a:off x="798604" y="5751796"/>
            <a:ext cx="10747497" cy="255893"/>
          </a:xfrm>
          <a:prstGeom prst="rect">
            <a:avLst/>
          </a:prstGeom>
          <a:ln w="6350">
            <a:solidFill>
              <a:schemeClr val="bg1">
                <a:lumMod val="75000"/>
              </a:schemeClr>
            </a:solidFill>
          </a:ln>
        </p:spPr>
      </p:pic>
      <p:sp>
        <p:nvSpPr>
          <p:cNvPr id="31" name="文本框 30">
            <a:extLst>
              <a:ext uri="{FF2B5EF4-FFF2-40B4-BE49-F238E27FC236}">
                <a16:creationId xmlns:a16="http://schemas.microsoft.com/office/drawing/2014/main" id="{BB45DEDF-5E7E-47E5-B2CD-09A74CF8D096}"/>
              </a:ext>
            </a:extLst>
          </p:cNvPr>
          <p:cNvSpPr txBox="1"/>
          <p:nvPr/>
        </p:nvSpPr>
        <p:spPr>
          <a:xfrm>
            <a:off x="6096002" y="5149721"/>
            <a:ext cx="4166525" cy="300210"/>
          </a:xfrm>
          <a:prstGeom prst="rect">
            <a:avLst/>
          </a:prstGeom>
          <a:noFill/>
        </p:spPr>
        <p:txBody>
          <a:bodyPr wrap="none" rtlCol="0">
            <a:spAutoFit/>
          </a:bodyPr>
          <a:lstStyle/>
          <a:p>
            <a:r>
              <a:rPr lang="zh-CN" altLang="en-US" sz="1351" b="1">
                <a:solidFill>
                  <a:srgbClr val="C00000"/>
                </a:solidFill>
              </a:rPr>
              <a:t>获取用户信息，通过一对一电话沟通的方式促成报名</a:t>
            </a:r>
          </a:p>
        </p:txBody>
      </p:sp>
      <p:sp>
        <p:nvSpPr>
          <p:cNvPr id="32" name="流程图: 磁盘 31">
            <a:extLst>
              <a:ext uri="{FF2B5EF4-FFF2-40B4-BE49-F238E27FC236}">
                <a16:creationId xmlns:a16="http://schemas.microsoft.com/office/drawing/2014/main" id="{90C98F78-A48F-4609-9D82-311A4A62ACC7}"/>
              </a:ext>
            </a:extLst>
          </p:cNvPr>
          <p:cNvSpPr/>
          <p:nvPr/>
        </p:nvSpPr>
        <p:spPr>
          <a:xfrm>
            <a:off x="8066318" y="2515047"/>
            <a:ext cx="2024743" cy="2261503"/>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err="1"/>
              <a:t>Mysql</a:t>
            </a:r>
            <a:endParaRPr lang="en-US" altLang="zh-CN" sz="1400"/>
          </a:p>
          <a:p>
            <a:pPr algn="ctr"/>
            <a:endParaRPr lang="en-US" altLang="zh-CN" sz="1400"/>
          </a:p>
          <a:p>
            <a:pPr algn="ctr"/>
            <a:r>
              <a:rPr lang="en-US" altLang="zh-CN" sz="1400" err="1"/>
              <a:t>reservattion</a:t>
            </a:r>
            <a:endParaRPr lang="zh-CN" altLang="en-US" sz="1400"/>
          </a:p>
        </p:txBody>
      </p:sp>
    </p:spTree>
    <p:extLst>
      <p:ext uri="{BB962C8B-B14F-4D97-AF65-F5344CB8AC3E}">
        <p14:creationId xmlns:p14="http://schemas.microsoft.com/office/powerpoint/2010/main" val="110944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xit" presetSubtype="32" fill="hold" nodeType="clickEffect">
                                  <p:stCondLst>
                                    <p:cond delay="0"/>
                                  </p:stCondLst>
                                  <p:childTnLst>
                                    <p:anim calcmode="lin" valueType="num">
                                      <p:cBhvr>
                                        <p:cTn id="20" dur="500"/>
                                        <p:tgtEl>
                                          <p:spTgt spid="17"/>
                                        </p:tgtEl>
                                        <p:attrNameLst>
                                          <p:attrName>ppt_w</p:attrName>
                                        </p:attrNameLst>
                                      </p:cBhvr>
                                      <p:tavLst>
                                        <p:tav tm="0">
                                          <p:val>
                                            <p:strVal val="ppt_w"/>
                                          </p:val>
                                        </p:tav>
                                        <p:tav tm="100000">
                                          <p:val>
                                            <p:fltVal val="0"/>
                                          </p:val>
                                        </p:tav>
                                      </p:tavLst>
                                    </p:anim>
                                    <p:anim calcmode="lin" valueType="num">
                                      <p:cBhvr>
                                        <p:cTn id="21" dur="500"/>
                                        <p:tgtEl>
                                          <p:spTgt spid="17"/>
                                        </p:tgtEl>
                                        <p:attrNameLst>
                                          <p:attrName>ppt_h</p:attrName>
                                        </p:attrNameLst>
                                      </p:cBhvr>
                                      <p:tavLst>
                                        <p:tav tm="0">
                                          <p:val>
                                            <p:strVal val="ppt_h"/>
                                          </p:val>
                                        </p:tav>
                                        <p:tav tm="100000">
                                          <p:val>
                                            <p:fltVal val="0"/>
                                          </p:val>
                                        </p:tav>
                                      </p:tavLst>
                                    </p:anim>
                                    <p:set>
                                      <p:cBhvr>
                                        <p:cTn id="22" dur="1" fill="hold">
                                          <p:stCondLst>
                                            <p:cond delay="499"/>
                                          </p:stCondLst>
                                        </p:cTn>
                                        <p:tgtEl>
                                          <p:spTgt spid="17"/>
                                        </p:tgtEl>
                                        <p:attrNameLst>
                                          <p:attrName>style.visibility</p:attrName>
                                        </p:attrNameLst>
                                      </p:cBhvr>
                                      <p:to>
                                        <p:strVal val="hidden"/>
                                      </p:to>
                                    </p:set>
                                  </p:childTnLst>
                                </p:cTn>
                              </p:par>
                              <p:par>
                                <p:cTn id="23" presetID="42"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1000"/>
                                        <p:tgtEl>
                                          <p:spTgt spid="30"/>
                                        </p:tgtEl>
                                      </p:cBhvr>
                                    </p:animEffect>
                                    <p:anim calcmode="lin" valueType="num">
                                      <p:cBhvr>
                                        <p:cTn id="33" dur="1000" fill="hold"/>
                                        <p:tgtEl>
                                          <p:spTgt spid="30"/>
                                        </p:tgtEl>
                                        <p:attrNameLst>
                                          <p:attrName>ppt_x</p:attrName>
                                        </p:attrNameLst>
                                      </p:cBhvr>
                                      <p:tavLst>
                                        <p:tav tm="0">
                                          <p:val>
                                            <p:strVal val="#ppt_x"/>
                                          </p:val>
                                        </p:tav>
                                        <p:tav tm="100000">
                                          <p:val>
                                            <p:strVal val="#ppt_x"/>
                                          </p:val>
                                        </p:tav>
                                      </p:tavLst>
                                    </p:anim>
                                    <p:anim calcmode="lin" valueType="num">
                                      <p:cBhvr>
                                        <p:cTn id="3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xit" presetSubtype="32" fill="hold" nodeType="clickEffect">
                                  <p:stCondLst>
                                    <p:cond delay="0"/>
                                  </p:stCondLst>
                                  <p:childTnLst>
                                    <p:anim calcmode="lin" valueType="num">
                                      <p:cBhvr>
                                        <p:cTn id="38" dur="500"/>
                                        <p:tgtEl>
                                          <p:spTgt spid="30"/>
                                        </p:tgtEl>
                                        <p:attrNameLst>
                                          <p:attrName>ppt_w</p:attrName>
                                        </p:attrNameLst>
                                      </p:cBhvr>
                                      <p:tavLst>
                                        <p:tav tm="0">
                                          <p:val>
                                            <p:strVal val="ppt_w"/>
                                          </p:val>
                                        </p:tav>
                                        <p:tav tm="100000">
                                          <p:val>
                                            <p:fltVal val="0"/>
                                          </p:val>
                                        </p:tav>
                                      </p:tavLst>
                                    </p:anim>
                                    <p:anim calcmode="lin" valueType="num">
                                      <p:cBhvr>
                                        <p:cTn id="39" dur="500"/>
                                        <p:tgtEl>
                                          <p:spTgt spid="30"/>
                                        </p:tgtEl>
                                        <p:attrNameLst>
                                          <p:attrName>ppt_h</p:attrName>
                                        </p:attrNameLst>
                                      </p:cBhvr>
                                      <p:tavLst>
                                        <p:tav tm="0">
                                          <p:val>
                                            <p:strVal val="ppt_h"/>
                                          </p:val>
                                        </p:tav>
                                        <p:tav tm="100000">
                                          <p:val>
                                            <p:fltVal val="0"/>
                                          </p:val>
                                        </p:tav>
                                      </p:tavLst>
                                    </p:anim>
                                    <p:set>
                                      <p:cBhvr>
                                        <p:cTn id="40" dur="1" fill="hold">
                                          <p:stCondLst>
                                            <p:cond delay="499"/>
                                          </p:stCondLst>
                                        </p:cTn>
                                        <p:tgtEl>
                                          <p:spTgt spid="30"/>
                                        </p:tgtEl>
                                        <p:attrNameLst>
                                          <p:attrName>style.visibility</p:attrName>
                                        </p:attrNameLst>
                                      </p:cBhvr>
                                      <p:to>
                                        <p:strVal val="hidden"/>
                                      </p:to>
                                    </p:set>
                                  </p:childTnLst>
                                </p:cTn>
                              </p:par>
                              <p:par>
                                <p:cTn id="41" presetID="23" presetClass="entr" presetSubtype="32"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 fill="hold"/>
                                        <p:tgtEl>
                                          <p:spTgt spid="31"/>
                                        </p:tgtEl>
                                        <p:attrNameLst>
                                          <p:attrName>ppt_w</p:attrName>
                                        </p:attrNameLst>
                                      </p:cBhvr>
                                      <p:tavLst>
                                        <p:tav tm="0">
                                          <p:val>
                                            <p:strVal val="4*#ppt_w"/>
                                          </p:val>
                                        </p:tav>
                                        <p:tav tm="100000">
                                          <p:val>
                                            <p:strVal val="#ppt_w"/>
                                          </p:val>
                                        </p:tav>
                                      </p:tavLst>
                                    </p:anim>
                                    <p:anim calcmode="lin" valueType="num">
                                      <p:cBhvr>
                                        <p:cTn id="44" dur="500" fill="hold"/>
                                        <p:tgtEl>
                                          <p:spTgt spid="31"/>
                                        </p:tgtEl>
                                        <p:attrNameLst>
                                          <p:attrName>ppt_h</p:attrName>
                                        </p:attrNameLst>
                                      </p:cBhvr>
                                      <p:tavLst>
                                        <p:tav tm="0">
                                          <p:val>
                                            <p:strVal val="4*#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 calcmode="lin" valueType="num">
                                      <p:cBhvr>
                                        <p:cTn id="49" dur="500" fill="hold"/>
                                        <p:tgtEl>
                                          <p:spTgt spid="32"/>
                                        </p:tgtEl>
                                        <p:attrNameLst>
                                          <p:attrName>ppt_w</p:attrName>
                                        </p:attrNameLst>
                                      </p:cBhvr>
                                      <p:tavLst>
                                        <p:tav tm="0">
                                          <p:val>
                                            <p:fltVal val="0"/>
                                          </p:val>
                                        </p:tav>
                                        <p:tav tm="100000">
                                          <p:val>
                                            <p:strVal val="#ppt_w"/>
                                          </p:val>
                                        </p:tav>
                                      </p:tavLst>
                                    </p:anim>
                                    <p:anim calcmode="lin" valueType="num">
                                      <p:cBhvr>
                                        <p:cTn id="50" dur="500" fill="hold"/>
                                        <p:tgtEl>
                                          <p:spTgt spid="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9BE638A-E35C-484F-A601-4A01FA335EE5}"/>
              </a:ext>
            </a:extLst>
          </p:cNvPr>
          <p:cNvSpPr>
            <a:spLocks noChangeArrowheads="1"/>
          </p:cNvSpPr>
          <p:nvPr/>
        </p:nvSpPr>
        <p:spPr bwMode="auto">
          <a:xfrm>
            <a:off x="3688240" y="3366883"/>
            <a:ext cx="4191789" cy="3093154"/>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&gt;org.projectlombok&lt;/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&gt;lombok&lt;/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br>
              <a:rPr kumimoji="0" lang="zh-CN" altLang="zh-CN" sz="1300" b="0" i="1" u="none" strike="noStrike" cap="none" normalizeH="0" baseline="0">
                <a:ln>
                  <a:noFill/>
                </a:ln>
                <a:solidFill>
                  <a:srgbClr val="686671"/>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&gt;org.mybatis.spring.boot&lt;/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&gt;mybatis-spring-boot-starter&lt;/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version</a:t>
            </a:r>
            <a:r>
              <a:rPr kumimoji="0" lang="zh-CN" altLang="zh-CN" sz="1300" b="0" i="0" u="none" strike="noStrike" cap="none" normalizeH="0" baseline="0">
                <a:ln>
                  <a:noFill/>
                </a:ln>
                <a:solidFill>
                  <a:srgbClr val="080808"/>
                </a:solidFill>
                <a:effectLst/>
                <a:latin typeface="Arial Unicode MS"/>
                <a:ea typeface="JetBrains Mono"/>
              </a:rPr>
              <a:t>&gt;3.0.3&lt;/</a:t>
            </a:r>
            <a:r>
              <a:rPr kumimoji="0" lang="zh-CN" altLang="zh-CN" sz="1300" b="0" i="0" u="none" strike="noStrike" cap="none" normalizeH="0" baseline="0">
                <a:ln>
                  <a:noFill/>
                </a:ln>
                <a:solidFill>
                  <a:srgbClr val="0033B3"/>
                </a:solidFill>
                <a:effectLst/>
                <a:latin typeface="Arial Unicode MS"/>
                <a:ea typeface="JetBrains Mono"/>
              </a:rPr>
              <a:t>version</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br>
              <a:rPr kumimoji="0" lang="zh-CN" altLang="zh-CN" sz="1300" b="0" i="1" u="none" strike="noStrike" cap="none" normalizeH="0" baseline="0">
                <a:ln>
                  <a:noFill/>
                </a:ln>
                <a:solidFill>
                  <a:srgbClr val="686671"/>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&gt;com.mysql&lt;/</a:t>
            </a:r>
            <a:r>
              <a:rPr kumimoji="0" lang="zh-CN" altLang="zh-CN" sz="1300" b="0" i="0" u="none" strike="noStrike" cap="none" normalizeH="0" baseline="0">
                <a:ln>
                  <a:noFill/>
                </a:ln>
                <a:solidFill>
                  <a:srgbClr val="0033B3"/>
                </a:solidFill>
                <a:effectLst/>
                <a:latin typeface="Arial Unicode MS"/>
                <a:ea typeface="JetBrains Mono"/>
              </a:rPr>
              <a:t>groupId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&gt;mysql-connector-j&lt;/</a:t>
            </a:r>
            <a:r>
              <a:rPr kumimoji="0" lang="zh-CN" altLang="zh-CN" sz="1300" b="0" i="0" u="none" strike="noStrike" cap="none" normalizeH="0" baseline="0">
                <a:ln>
                  <a:noFill/>
                </a:ln>
                <a:solidFill>
                  <a:srgbClr val="0033B3"/>
                </a:solidFill>
                <a:effectLst/>
                <a:latin typeface="Arial Unicode MS"/>
                <a:ea typeface="JetBrains Mono"/>
              </a:rPr>
              <a:t>artifactId</a:t>
            </a:r>
            <a:r>
              <a:rPr kumimoji="0" lang="zh-CN" altLang="zh-CN" sz="1300" b="0" i="0" u="none" strike="noStrike" cap="none" normalizeH="0" baseline="0">
                <a:ln>
                  <a:noFill/>
                </a:ln>
                <a:solidFill>
                  <a:srgbClr val="080808"/>
                </a:solidFill>
                <a:effectLst/>
                <a:latin typeface="Arial Unicode MS"/>
                <a:ea typeface="JetBrains Mono"/>
              </a:rPr>
              <a:t>&gt;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&lt;/</a:t>
            </a:r>
            <a:r>
              <a:rPr kumimoji="0" lang="zh-CN" altLang="zh-CN" sz="1300" b="0" i="0" u="none" strike="noStrike" cap="none" normalizeH="0" baseline="0">
                <a:ln>
                  <a:noFill/>
                </a:ln>
                <a:solidFill>
                  <a:srgbClr val="0033B3"/>
                </a:solidFill>
                <a:effectLst/>
                <a:latin typeface="Arial Unicode MS"/>
                <a:ea typeface="JetBrains Mono"/>
              </a:rPr>
              <a:t>dependency</a:t>
            </a:r>
            <a:r>
              <a:rPr kumimoji="0" lang="zh-CN" altLang="zh-CN" sz="1300" b="0" i="0" u="none" strike="noStrike" cap="none" normalizeH="0" baseline="0">
                <a:ln>
                  <a:noFill/>
                </a:ln>
                <a:solidFill>
                  <a:srgbClr val="080808"/>
                </a:solidFill>
                <a:effectLst/>
                <a:latin typeface="Arial Unicode MS"/>
                <a:ea typeface="JetBrains Mono"/>
              </a:rPr>
              <a:t>&gt;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AFB1F07-6D41-4DE1-A115-6847A5031123}"/>
              </a:ext>
            </a:extLst>
          </p:cNvPr>
          <p:cNvSpPr>
            <a:spLocks noChangeArrowheads="1"/>
          </p:cNvSpPr>
          <p:nvPr/>
        </p:nvSpPr>
        <p:spPr bwMode="auto">
          <a:xfrm>
            <a:off x="7946797" y="3366883"/>
            <a:ext cx="4128940" cy="2893100"/>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a:ln>
                  <a:noFill/>
                </a:ln>
                <a:solidFill>
                  <a:srgbClr val="0033B3"/>
                </a:solidFill>
                <a:effectLst/>
                <a:latin typeface="Arial Unicode MS"/>
                <a:ea typeface="JetBrains Mono"/>
              </a:rPr>
              <a:t>spring</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datasource</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username</a:t>
            </a:r>
            <a:r>
              <a:rPr kumimoji="0" lang="zh-CN" altLang="zh-CN" sz="1300" b="0" i="0" u="none" strike="noStrike" cap="none" normalizeH="0" baseline="0">
                <a:ln>
                  <a:noFill/>
                </a:ln>
                <a:solidFill>
                  <a:srgbClr val="080808"/>
                </a:solidFill>
                <a:effectLst/>
                <a:latin typeface="Arial Unicode MS"/>
                <a:ea typeface="JetBrains Mono"/>
              </a:rPr>
              <a:t>: root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password</a:t>
            </a:r>
            <a:r>
              <a:rPr kumimoji="0" lang="zh-CN" altLang="zh-CN" sz="1300" b="0" i="0" u="none" strike="noStrike" cap="none" normalizeH="0" baseline="0">
                <a:ln>
                  <a:noFill/>
                </a:ln>
                <a:solidFill>
                  <a:srgbClr val="080808"/>
                </a:solidFill>
                <a:effectLst/>
                <a:latin typeface="Arial Unicode MS"/>
                <a:ea typeface="JetBrains Mono"/>
              </a:rPr>
              <a:t>: 1234</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url</a:t>
            </a:r>
            <a:r>
              <a:rPr kumimoji="0" lang="zh-CN" altLang="zh-CN" sz="1300" b="0" i="0" u="none" strike="noStrike" cap="none" normalizeH="0" baseline="0">
                <a:ln>
                  <a:noFill/>
                </a:ln>
                <a:solidFill>
                  <a:srgbClr val="080808"/>
                </a:solidFill>
                <a:effectLst/>
                <a:latin typeface="Arial Unicode MS"/>
                <a:ea typeface="JetBrains Mono"/>
              </a:rPr>
              <a:t>: jdbc:mysql://localhost:3307/gk?useUnicode=true&amp;characterEncoding=utf-8&amp;useSSL=false&amp;serverTimezone=Asia/Shanghai&amp;allowPublicKeyRetrieval=true</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driver-class-name</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0000"/>
                </a:solidFill>
                <a:effectLst/>
                <a:latin typeface="Arial Unicode MS"/>
                <a:ea typeface="JetBrains Mono"/>
              </a:rPr>
              <a:t>com</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mysql</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cj</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jdbc</a:t>
            </a:r>
            <a:r>
              <a:rPr kumimoji="0" lang="zh-CN" altLang="zh-CN" sz="1300" b="0" i="0" u="none" strike="noStrike" cap="none" normalizeH="0" baseline="0">
                <a:ln>
                  <a:noFill/>
                </a:ln>
                <a:solidFill>
                  <a:srgbClr val="080808"/>
                </a:solidFill>
                <a:effectLst/>
                <a:latin typeface="Arial Unicode MS"/>
                <a:ea typeface="JetBrains Mono"/>
              </a:rPr>
              <a:t>.</a:t>
            </a:r>
            <a:r>
              <a:rPr kumimoji="0" lang="zh-CN" altLang="zh-CN" sz="1300" b="0" i="0" u="none" strike="noStrike" cap="none" normalizeH="0" baseline="0">
                <a:ln>
                  <a:noFill/>
                </a:ln>
                <a:solidFill>
                  <a:srgbClr val="000000"/>
                </a:solidFill>
                <a:effectLst/>
                <a:latin typeface="Arial Unicode MS"/>
                <a:ea typeface="JetBrains Mono"/>
              </a:rPr>
              <a:t>Driver</a:t>
            </a:r>
            <a:endParaRPr kumimoji="0" lang="en-US" altLang="zh-CN" sz="1300" b="0" i="0" u="none" strike="noStrike" cap="none" normalizeH="0" baseline="0">
              <a:ln>
                <a:noFill/>
              </a:ln>
              <a:solidFill>
                <a:srgbClr val="000000"/>
              </a:solidFill>
              <a:effectLst/>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300" b="0" i="0" u="none" strike="noStrike" cap="none" normalizeH="0" baseline="0">
                <a:ln>
                  <a:noFill/>
                </a:ln>
                <a:solidFill>
                  <a:srgbClr val="000000"/>
                </a:solidFill>
                <a:effectLst/>
                <a:latin typeface="Arial Unicode MS"/>
                <a:ea typeface="JetBrains Mono"/>
              </a:rPr>
            </a:br>
            <a:r>
              <a:rPr kumimoji="0" lang="zh-CN" altLang="zh-CN" sz="1300" b="0" i="0" u="none" strike="noStrike" cap="none" normalizeH="0" baseline="0">
                <a:ln>
                  <a:noFill/>
                </a:ln>
                <a:solidFill>
                  <a:srgbClr val="0033B3"/>
                </a:solidFill>
                <a:effectLst/>
                <a:latin typeface="Arial Unicode MS"/>
                <a:ea typeface="JetBrains Mono"/>
              </a:rPr>
              <a:t>mybatis</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configuration</a:t>
            </a:r>
            <a:r>
              <a:rPr kumimoji="0" lang="zh-CN" altLang="zh-CN" sz="1300" b="0" i="0" u="none" strike="noStrike" cap="none" normalizeH="0" baseline="0">
                <a:ln>
                  <a:noFill/>
                </a:ln>
                <a:solidFill>
                  <a:srgbClr val="080808"/>
                </a:solidFill>
                <a:effectLst/>
                <a:latin typeface="Arial Unicode MS"/>
                <a:ea typeface="JetBrains Mono"/>
              </a:rPr>
              <a:t>:</a:t>
            </a:r>
            <a:br>
              <a:rPr kumimoji="0" lang="zh-CN" altLang="zh-CN" sz="1300" b="0" i="0" u="none" strike="noStrike" cap="none" normalizeH="0" baseline="0">
                <a:ln>
                  <a:noFill/>
                </a:ln>
                <a:solidFill>
                  <a:srgbClr val="080808"/>
                </a:solidFill>
                <a:effectLst/>
                <a:latin typeface="Arial Unicode MS"/>
                <a:ea typeface="JetBrains Mono"/>
              </a:rPr>
            </a:b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map-underscore-to-camel-case</a:t>
            </a:r>
            <a:r>
              <a:rPr kumimoji="0" lang="zh-CN" altLang="zh-CN" sz="1300" b="0" i="0" u="none" strike="noStrike" cap="none" normalizeH="0" baseline="0">
                <a:ln>
                  <a:noFill/>
                </a:ln>
                <a:solidFill>
                  <a:srgbClr val="080808"/>
                </a:solidFill>
                <a:effectLst/>
                <a:latin typeface="Arial Unicode MS"/>
                <a:ea typeface="JetBrains Mono"/>
              </a:rPr>
              <a:t>: </a:t>
            </a:r>
            <a:r>
              <a:rPr kumimoji="0" lang="zh-CN" altLang="zh-CN" sz="1300" b="0" i="0" u="none" strike="noStrike" cap="none" normalizeH="0" baseline="0">
                <a:ln>
                  <a:noFill/>
                </a:ln>
                <a:solidFill>
                  <a:srgbClr val="0033B3"/>
                </a:solidFill>
                <a:effectLst/>
                <a:latin typeface="Arial Unicode MS"/>
                <a:ea typeface="JetBrains Mono"/>
              </a:rPr>
              <a:t>true</a:t>
            </a:r>
            <a:endParaRPr kumimoji="0" lang="en-US" altLang="zh-CN" sz="1300" b="0" i="0" u="none" strike="noStrike" cap="none" normalizeH="0" baseline="0">
              <a:ln>
                <a:noFill/>
              </a:ln>
              <a:solidFill>
                <a:srgbClr val="0033B3"/>
              </a:solidFill>
              <a:effectLst/>
              <a:latin typeface="Arial Unicode MS"/>
              <a:ea typeface="JetBrains Mono"/>
            </a:endParaRPr>
          </a:p>
        </p:txBody>
      </p:sp>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Tools</a:t>
            </a:r>
            <a:r>
              <a:rPr lang="zh-CN" altLang="en-US"/>
              <a:t>工具</a:t>
            </a:r>
            <a:r>
              <a:rPr lang="en-US" altLang="zh-CN"/>
              <a:t>-</a:t>
            </a:r>
            <a:r>
              <a:rPr lang="zh-CN" altLang="en-US"/>
              <a:t>准备工作</a:t>
            </a:r>
          </a:p>
        </p:txBody>
      </p:sp>
      <p:sp>
        <p:nvSpPr>
          <p:cNvPr id="9" name="内容占位符 1">
            <a:extLst>
              <a:ext uri="{FF2B5EF4-FFF2-40B4-BE49-F238E27FC236}">
                <a16:creationId xmlns:a16="http://schemas.microsoft.com/office/drawing/2014/main" id="{AA07DFB3-EAF9-4DCB-B3C3-C524A713A649}"/>
              </a:ext>
            </a:extLst>
          </p:cNvPr>
          <p:cNvSpPr txBox="1">
            <a:spLocks/>
          </p:cNvSpPr>
          <p:nvPr/>
        </p:nvSpPr>
        <p:spPr>
          <a:xfrm>
            <a:off x="576200" y="956243"/>
            <a:ext cx="11060481" cy="5498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54">
              <a:lnSpc>
                <a:spcPct val="150000"/>
              </a:lnSpc>
              <a:buNone/>
              <a:defRPr/>
            </a:pPr>
            <a:r>
              <a:rPr lang="zh-CN" altLang="en-US">
                <a:solidFill>
                  <a:srgbClr val="262626"/>
                </a:solidFill>
                <a:latin typeface="阿里巴巴普惠体"/>
                <a:ea typeface="阿里巴巴普惠体"/>
              </a:rPr>
              <a:t>准备工作：开发一个预约信息服务，可以读写</a:t>
            </a:r>
            <a:r>
              <a:rPr lang="en-US" altLang="zh-CN" err="1">
                <a:solidFill>
                  <a:srgbClr val="262626"/>
                </a:solidFill>
                <a:latin typeface="阿里巴巴普惠体"/>
                <a:ea typeface="阿里巴巴普惠体"/>
              </a:rPr>
              <a:t>MySql</a:t>
            </a:r>
            <a:r>
              <a:rPr lang="zh-CN" altLang="en-US">
                <a:solidFill>
                  <a:srgbClr val="262626"/>
                </a:solidFill>
                <a:latin typeface="阿里巴巴普惠体"/>
                <a:ea typeface="阿里巴巴普惠体"/>
              </a:rPr>
              <a:t>中预约表中的信息</a:t>
            </a:r>
            <a:endParaRPr lang="en-US" altLang="zh-CN">
              <a:solidFill>
                <a:srgbClr val="262626"/>
              </a:solidFill>
              <a:latin typeface="阿里巴巴普惠体"/>
              <a:ea typeface="阿里巴巴普惠体"/>
            </a:endParaRPr>
          </a:p>
        </p:txBody>
      </p:sp>
      <p:sp>
        <p:nvSpPr>
          <p:cNvPr id="10" name="内容占位符 1">
            <a:extLst>
              <a:ext uri="{FF2B5EF4-FFF2-40B4-BE49-F238E27FC236}">
                <a16:creationId xmlns:a16="http://schemas.microsoft.com/office/drawing/2014/main" id="{40AB60DF-2AA3-4BFA-88DF-89C96C1A3917}"/>
              </a:ext>
            </a:extLst>
          </p:cNvPr>
          <p:cNvSpPr txBox="1">
            <a:spLocks/>
          </p:cNvSpPr>
          <p:nvPr/>
        </p:nvSpPr>
        <p:spPr>
          <a:xfrm>
            <a:off x="919097" y="1622925"/>
            <a:ext cx="3471931" cy="35146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a:solidFill>
                  <a:srgbClr val="2F2F2F"/>
                </a:solidFill>
                <a:latin typeface="Source Code Pro"/>
              </a:rPr>
              <a:t>准备数据库环境</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引入依赖</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配置连接信息</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准备实体类</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开发</a:t>
            </a:r>
            <a:r>
              <a:rPr lang="en-US" altLang="zh-CN" sz="1600">
                <a:solidFill>
                  <a:srgbClr val="2F2F2F"/>
                </a:solidFill>
                <a:latin typeface="Source Code Pro"/>
              </a:rPr>
              <a:t>Mapper</a:t>
            </a:r>
          </a:p>
          <a:p>
            <a:pPr marL="342882" indent="-342882" defTabSz="914354">
              <a:lnSpc>
                <a:spcPct val="150000"/>
              </a:lnSpc>
              <a:buFont typeface="+mj-lt"/>
              <a:buAutoNum type="arabicPeriod"/>
              <a:defRPr/>
            </a:pPr>
            <a:r>
              <a:rPr lang="zh-CN" altLang="en-US" sz="1600">
                <a:solidFill>
                  <a:srgbClr val="2F2F2F"/>
                </a:solidFill>
                <a:latin typeface="Source Code Pro"/>
              </a:rPr>
              <a:t>开发</a:t>
            </a:r>
            <a:r>
              <a:rPr lang="en-US" altLang="zh-CN" sz="1600">
                <a:solidFill>
                  <a:srgbClr val="2F2F2F"/>
                </a:solidFill>
                <a:latin typeface="Source Code Pro"/>
              </a:rPr>
              <a:t>Service</a:t>
            </a:r>
          </a:p>
          <a:p>
            <a:pPr marL="342882" indent="-342882" defTabSz="914354">
              <a:lnSpc>
                <a:spcPct val="150000"/>
              </a:lnSpc>
              <a:buFont typeface="+mj-lt"/>
              <a:buAutoNum type="arabicPeriod"/>
              <a:defRPr/>
            </a:pPr>
            <a:r>
              <a:rPr lang="zh-CN" altLang="en-US" sz="1600">
                <a:solidFill>
                  <a:srgbClr val="2F2F2F"/>
                </a:solidFill>
                <a:latin typeface="Source Code Pro"/>
              </a:rPr>
              <a:t>完成测试</a:t>
            </a:r>
            <a:endParaRPr lang="en-US" altLang="zh-CN" sz="1600">
              <a:solidFill>
                <a:srgbClr val="2F2F2F"/>
              </a:solidFill>
              <a:latin typeface="Source Code Pro"/>
            </a:endParaRPr>
          </a:p>
        </p:txBody>
      </p:sp>
      <p:sp>
        <p:nvSpPr>
          <p:cNvPr id="12" name="文本框 11">
            <a:extLst>
              <a:ext uri="{FF2B5EF4-FFF2-40B4-BE49-F238E27FC236}">
                <a16:creationId xmlns:a16="http://schemas.microsoft.com/office/drawing/2014/main" id="{AA31449D-3C7F-4456-BE7B-E127D7532C44}"/>
              </a:ext>
            </a:extLst>
          </p:cNvPr>
          <p:cNvSpPr txBox="1"/>
          <p:nvPr/>
        </p:nvSpPr>
        <p:spPr>
          <a:xfrm>
            <a:off x="3688241" y="1727166"/>
            <a:ext cx="7407111" cy="292388"/>
          </a:xfrm>
          <a:prstGeom prst="rect">
            <a:avLst/>
          </a:prstGeom>
          <a:solidFill>
            <a:schemeClr val="accent3">
              <a:lumMod val="20000"/>
              <a:lumOff val="80000"/>
            </a:schemeClr>
          </a:solidFill>
        </p:spPr>
        <p:txBody>
          <a:bodyPr wrap="square">
            <a:spAutoFit/>
          </a:bodyPr>
          <a:lstStyle/>
          <a:p>
            <a:r>
              <a:rPr lang="zh-CN" altLang="en-US" sz="1300"/>
              <a:t>docker run --name mysql -d -p 3307:3306 -e MYSQL_ROOT_PASSWORD=1234 mysql</a:t>
            </a:r>
          </a:p>
        </p:txBody>
      </p:sp>
      <p:pic>
        <p:nvPicPr>
          <p:cNvPr id="7" name="图片 6">
            <a:extLst>
              <a:ext uri="{FF2B5EF4-FFF2-40B4-BE49-F238E27FC236}">
                <a16:creationId xmlns:a16="http://schemas.microsoft.com/office/drawing/2014/main" id="{397001AA-8976-4D20-99CD-B968D1A9890B}"/>
              </a:ext>
            </a:extLst>
          </p:cNvPr>
          <p:cNvPicPr>
            <a:picLocks noChangeAspect="1"/>
          </p:cNvPicPr>
          <p:nvPr/>
        </p:nvPicPr>
        <p:blipFill>
          <a:blip r:embed="rId2"/>
          <a:stretch>
            <a:fillRect/>
          </a:stretch>
        </p:blipFill>
        <p:spPr>
          <a:xfrm>
            <a:off x="3688240" y="2123792"/>
            <a:ext cx="5934075" cy="1000125"/>
          </a:xfrm>
          <a:prstGeom prst="rect">
            <a:avLst/>
          </a:prstGeom>
          <a:ln w="6350">
            <a:solidFill>
              <a:schemeClr val="bg1">
                <a:lumMod val="75000"/>
              </a:schemeClr>
            </a:solidFill>
          </a:ln>
        </p:spPr>
      </p:pic>
      <p:pic>
        <p:nvPicPr>
          <p:cNvPr id="4" name="图片 3">
            <a:extLst>
              <a:ext uri="{FF2B5EF4-FFF2-40B4-BE49-F238E27FC236}">
                <a16:creationId xmlns:a16="http://schemas.microsoft.com/office/drawing/2014/main" id="{87BD4B13-F26E-4BAC-9908-66DEF3A01369}"/>
              </a:ext>
            </a:extLst>
          </p:cNvPr>
          <p:cNvPicPr>
            <a:picLocks noChangeAspect="1"/>
          </p:cNvPicPr>
          <p:nvPr/>
        </p:nvPicPr>
        <p:blipFill>
          <a:blip r:embed="rId3"/>
          <a:stretch>
            <a:fillRect/>
          </a:stretch>
        </p:blipFill>
        <p:spPr>
          <a:xfrm>
            <a:off x="3688240" y="3679877"/>
            <a:ext cx="2752725" cy="2171700"/>
          </a:xfrm>
          <a:prstGeom prst="rect">
            <a:avLst/>
          </a:prstGeom>
        </p:spPr>
      </p:pic>
    </p:spTree>
    <p:extLst>
      <p:ext uri="{BB962C8B-B14F-4D97-AF65-F5344CB8AC3E}">
        <p14:creationId xmlns:p14="http://schemas.microsoft.com/office/powerpoint/2010/main" val="300898751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1000"/>
                                        <p:tgtEl>
                                          <p:spTgt spid="4"/>
                                        </p:tgtEl>
                                      </p:cBhvr>
                                    </p:animEffect>
                                    <p:anim calcmode="lin" valueType="num">
                                      <p:cBhvr>
                                        <p:cTn id="40" dur="1000" fill="hold"/>
                                        <p:tgtEl>
                                          <p:spTgt spid="4"/>
                                        </p:tgtEl>
                                        <p:attrNameLst>
                                          <p:attrName>ppt_x</p:attrName>
                                        </p:attrNameLst>
                                      </p:cBhvr>
                                      <p:tavLst>
                                        <p:tav tm="0">
                                          <p:val>
                                            <p:strVal val="#ppt_x"/>
                                          </p:val>
                                        </p:tav>
                                        <p:tav tm="100000">
                                          <p:val>
                                            <p:strVal val="#ppt_x"/>
                                          </p:val>
                                        </p:tav>
                                      </p:tavLst>
                                    </p:anim>
                                    <p:anim calcmode="lin" valueType="num">
                                      <p:cBhvr>
                                        <p:cTn id="4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a:t>LangChain4j</a:t>
            </a:r>
            <a:endParaRPr lang="zh-CN" altLang="en-US"/>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03</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a:t>会话功能</a:t>
            </a:r>
            <a:endParaRPr lang="en-US" altLang="zh-CN"/>
          </a:p>
          <a:p>
            <a:r>
              <a:rPr lang="en-US" altLang="zh-CN"/>
              <a:t>RAG</a:t>
            </a:r>
            <a:r>
              <a:rPr lang="zh-CN" altLang="en-US"/>
              <a:t>知识库</a:t>
            </a:r>
            <a:endParaRPr lang="en-US" altLang="zh-CN"/>
          </a:p>
          <a:p>
            <a:r>
              <a:rPr lang="en-US" altLang="zh-CN"/>
              <a:t>Tools</a:t>
            </a:r>
            <a:r>
              <a:rPr lang="zh-CN" altLang="en-US"/>
              <a:t>工具</a:t>
            </a:r>
            <a:endParaRPr lang="en-US" altLang="zh-CN"/>
          </a:p>
          <a:p>
            <a:pPr lvl="1"/>
            <a:r>
              <a:rPr lang="zh-CN" altLang="en-US" sz="1400"/>
              <a:t>准备工作</a:t>
            </a:r>
            <a:endParaRPr lang="en-US" altLang="zh-CN" sz="1400"/>
          </a:p>
          <a:p>
            <a:pPr lvl="1"/>
            <a:r>
              <a:rPr lang="zh-CN" altLang="en-US" sz="1400"/>
              <a:t>原理</a:t>
            </a:r>
            <a:endParaRPr lang="en-US" altLang="zh-CN" sz="1400"/>
          </a:p>
          <a:p>
            <a:pPr lvl="1"/>
            <a:r>
              <a:rPr lang="zh-CN" altLang="en-US" sz="1400"/>
              <a:t>实现</a:t>
            </a:r>
            <a:endParaRPr lang="en-US" altLang="zh-CN" sz="1400"/>
          </a:p>
          <a:p>
            <a:pPr lvl="1"/>
            <a:endParaRPr lang="en-US" altLang="zh-CN"/>
          </a:p>
        </p:txBody>
      </p:sp>
    </p:spTree>
    <p:custDataLst>
      <p:custData r:id="rId1"/>
    </p:custDataLst>
    <p:extLst>
      <p:ext uri="{BB962C8B-B14F-4D97-AF65-F5344CB8AC3E}">
        <p14:creationId xmlns:p14="http://schemas.microsoft.com/office/powerpoint/2010/main" val="1273959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Tools</a:t>
            </a:r>
            <a:r>
              <a:rPr lang="zh-CN" altLang="en-US"/>
              <a:t>工具</a:t>
            </a:r>
            <a:r>
              <a:rPr lang="en-US" altLang="zh-CN"/>
              <a:t>-</a:t>
            </a:r>
            <a:r>
              <a:rPr lang="zh-CN" altLang="en-US"/>
              <a:t>原理</a:t>
            </a:r>
          </a:p>
        </p:txBody>
      </p:sp>
      <p:sp>
        <p:nvSpPr>
          <p:cNvPr id="2" name="Rectangle 1">
            <a:extLst>
              <a:ext uri="{FF2B5EF4-FFF2-40B4-BE49-F238E27FC236}">
                <a16:creationId xmlns:a16="http://schemas.microsoft.com/office/drawing/2014/main" id="{DE46F000-D945-4380-B8C2-A41F4219063C}"/>
              </a:ext>
            </a:extLst>
          </p:cNvPr>
          <p:cNvSpPr>
            <a:spLocks noChangeArrowheads="1"/>
          </p:cNvSpPr>
          <p:nvPr/>
        </p:nvSpPr>
        <p:spPr bwMode="auto">
          <a:xfrm>
            <a:off x="7025072" y="2079425"/>
            <a:ext cx="4364611" cy="3446200"/>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30000"/>
              </a:lnSpc>
              <a:spcBef>
                <a:spcPct val="0"/>
              </a:spcBef>
              <a:spcAft>
                <a:spcPct val="0"/>
              </a:spcAft>
            </a:pPr>
            <a:r>
              <a:rPr lang="zh-CN" altLang="zh-CN" sz="1300">
                <a:solidFill>
                  <a:srgbClr val="9E880D"/>
                </a:solidFill>
                <a:latin typeface="Arial Unicode MS"/>
                <a:ea typeface="JetBrains Mono"/>
              </a:rPr>
              <a:t>@Service</a:t>
            </a:r>
            <a:br>
              <a:rPr lang="zh-CN" altLang="zh-CN" sz="1300">
                <a:solidFill>
                  <a:srgbClr val="9E880D"/>
                </a:solidFill>
                <a:latin typeface="Arial Unicode MS"/>
                <a:ea typeface="JetBrains Mono"/>
              </a:rPr>
            </a:br>
            <a:r>
              <a:rPr lang="zh-CN" altLang="zh-CN" sz="1300">
                <a:solidFill>
                  <a:srgbClr val="0033B3"/>
                </a:solidFill>
                <a:latin typeface="Arial Unicode MS"/>
                <a:ea typeface="JetBrains Mono"/>
              </a:rPr>
              <a:t>public class </a:t>
            </a:r>
            <a:r>
              <a:rPr lang="zh-CN" altLang="zh-CN" sz="1300">
                <a:solidFill>
                  <a:srgbClr val="000000"/>
                </a:solidFill>
                <a:latin typeface="Arial Unicode MS"/>
                <a:ea typeface="JetBrains Mono"/>
              </a:rPr>
              <a:t>ReservationService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@Autowired</a:t>
            </a:r>
            <a:br>
              <a:rPr lang="zh-CN" altLang="zh-CN" sz="1300">
                <a:solidFill>
                  <a:srgbClr val="9E880D"/>
                </a:solidFill>
                <a:latin typeface="Arial Unicode MS"/>
                <a:ea typeface="JetBrains Mono"/>
              </a:rPr>
            </a:br>
            <a:r>
              <a:rPr lang="zh-CN" altLang="zh-CN" sz="1300">
                <a:solidFill>
                  <a:srgbClr val="9E880D"/>
                </a:solidFill>
                <a:latin typeface="Arial Unicode MS"/>
                <a:ea typeface="JetBrains Mono"/>
              </a:rPr>
              <a:t>    </a:t>
            </a:r>
            <a:r>
              <a:rPr lang="zh-CN" altLang="zh-CN" sz="1300">
                <a:solidFill>
                  <a:srgbClr val="0033B3"/>
                </a:solidFill>
                <a:latin typeface="Arial Unicode MS"/>
                <a:ea typeface="JetBrains Mono"/>
              </a:rPr>
              <a:t>private </a:t>
            </a:r>
            <a:r>
              <a:rPr lang="zh-CN" altLang="zh-CN" sz="1300">
                <a:solidFill>
                  <a:srgbClr val="000000"/>
                </a:solidFill>
                <a:latin typeface="Arial Unicode MS"/>
                <a:ea typeface="JetBrains Mono"/>
              </a:rPr>
              <a:t>ReservationMapper </a:t>
            </a:r>
            <a:r>
              <a:rPr lang="zh-CN" altLang="zh-CN" sz="1300">
                <a:solidFill>
                  <a:srgbClr val="871094"/>
                </a:solidFill>
                <a:latin typeface="Arial Unicode MS"/>
                <a:ea typeface="JetBrains Mono"/>
              </a:rPr>
              <a:t>reservationMapper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public void </a:t>
            </a:r>
            <a:r>
              <a:rPr lang="zh-CN" altLang="zh-CN" sz="1300">
                <a:solidFill>
                  <a:srgbClr val="00627A"/>
                </a:solidFill>
                <a:latin typeface="Arial Unicode MS"/>
                <a:ea typeface="JetBrains Mono"/>
              </a:rPr>
              <a:t>insert</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Reservation reservation</a:t>
            </a: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871094"/>
                </a:solidFill>
                <a:latin typeface="Arial Unicode MS"/>
                <a:ea typeface="JetBrains Mono"/>
              </a:rPr>
              <a:t>reservationMapper</a:t>
            </a:r>
            <a:r>
              <a:rPr lang="zh-CN" altLang="zh-CN" sz="1300">
                <a:solidFill>
                  <a:srgbClr val="080808"/>
                </a:solidFill>
                <a:latin typeface="Arial Unicode MS"/>
                <a:ea typeface="JetBrains Mono"/>
              </a:rPr>
              <a:t>.insert(</a:t>
            </a:r>
            <a:r>
              <a:rPr lang="zh-CN" altLang="zh-CN" sz="1300">
                <a:solidFill>
                  <a:srgbClr val="000000"/>
                </a:solidFill>
                <a:latin typeface="Arial Unicode MS"/>
                <a:ea typeface="JetBrains Mono"/>
              </a:rPr>
              <a:t>reservation</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public </a:t>
            </a:r>
            <a:r>
              <a:rPr lang="zh-CN" altLang="zh-CN" sz="1300">
                <a:solidFill>
                  <a:srgbClr val="000000"/>
                </a:solidFill>
                <a:latin typeface="Arial Unicode MS"/>
                <a:ea typeface="JetBrains Mono"/>
              </a:rPr>
              <a:t>Reservation </a:t>
            </a:r>
            <a:r>
              <a:rPr lang="zh-CN" altLang="zh-CN" sz="1300">
                <a:solidFill>
                  <a:srgbClr val="00627A"/>
                </a:solidFill>
                <a:latin typeface="Arial Unicode MS"/>
                <a:ea typeface="JetBrains Mono"/>
              </a:rPr>
              <a:t>findByPhone</a:t>
            </a:r>
            <a:r>
              <a:rPr lang="zh-CN" altLang="zh-CN" sz="1300">
                <a:solidFill>
                  <a:srgbClr val="080808"/>
                </a:solidFill>
                <a:latin typeface="Arial Unicode MS"/>
                <a:ea typeface="JetBrains Mono"/>
              </a:rPr>
              <a:t>(</a:t>
            </a:r>
            <a:r>
              <a:rPr lang="zh-CN" altLang="zh-CN" sz="1300">
                <a:solidFill>
                  <a:srgbClr val="000000"/>
                </a:solidFill>
                <a:latin typeface="Arial Unicode MS"/>
                <a:ea typeface="JetBrains Mono"/>
              </a:rPr>
              <a:t>String phone</a:t>
            </a: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0033B3"/>
                </a:solidFill>
                <a:latin typeface="Arial Unicode MS"/>
                <a:ea typeface="JetBrains Mono"/>
              </a:rPr>
              <a:t>return </a:t>
            </a:r>
            <a:r>
              <a:rPr lang="zh-CN" altLang="zh-CN" sz="1300">
                <a:solidFill>
                  <a:srgbClr val="871094"/>
                </a:solidFill>
                <a:latin typeface="Arial Unicode MS"/>
                <a:ea typeface="JetBrains Mono"/>
              </a:rPr>
              <a:t>reservationMapper</a:t>
            </a:r>
            <a:r>
              <a:rPr lang="zh-CN" altLang="zh-CN" sz="1300">
                <a:solidFill>
                  <a:srgbClr val="080808"/>
                </a:solidFill>
                <a:latin typeface="Arial Unicode MS"/>
                <a:ea typeface="JetBrains Mono"/>
              </a:rPr>
              <a:t>.findByPhone(</a:t>
            </a:r>
            <a:r>
              <a:rPr lang="zh-CN" altLang="zh-CN" sz="1300">
                <a:solidFill>
                  <a:srgbClr val="000000"/>
                </a:solidFill>
                <a:latin typeface="Arial Unicode MS"/>
                <a:ea typeface="JetBrains Mono"/>
              </a:rPr>
              <a:t>phone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pic>
        <p:nvPicPr>
          <p:cNvPr id="5" name="图片 4">
            <a:extLst>
              <a:ext uri="{FF2B5EF4-FFF2-40B4-BE49-F238E27FC236}">
                <a16:creationId xmlns:a16="http://schemas.microsoft.com/office/drawing/2014/main" id="{4D691138-A2B1-4EB8-9405-5D40E346FC93}"/>
              </a:ext>
            </a:extLst>
          </p:cNvPr>
          <p:cNvPicPr>
            <a:picLocks noChangeAspect="1"/>
          </p:cNvPicPr>
          <p:nvPr/>
        </p:nvPicPr>
        <p:blipFill>
          <a:blip r:embed="rId2"/>
          <a:stretch>
            <a:fillRect/>
          </a:stretch>
        </p:blipFill>
        <p:spPr>
          <a:xfrm>
            <a:off x="702707" y="989817"/>
            <a:ext cx="5247239" cy="5625417"/>
          </a:xfrm>
          <a:prstGeom prst="rect">
            <a:avLst/>
          </a:prstGeom>
        </p:spPr>
      </p:pic>
      <p:cxnSp>
        <p:nvCxnSpPr>
          <p:cNvPr id="11" name="直接箭头连接符 10">
            <a:extLst>
              <a:ext uri="{FF2B5EF4-FFF2-40B4-BE49-F238E27FC236}">
                <a16:creationId xmlns:a16="http://schemas.microsoft.com/office/drawing/2014/main" id="{89BC30CB-88BD-4EC0-81F5-B76DA92E47C1}"/>
              </a:ext>
            </a:extLst>
          </p:cNvPr>
          <p:cNvCxnSpPr>
            <a:stCxn id="5" idx="3"/>
          </p:cNvCxnSpPr>
          <p:nvPr/>
        </p:nvCxnSpPr>
        <p:spPr>
          <a:xfrm flipV="1">
            <a:off x="5949947" y="3802525"/>
            <a:ext cx="1075127"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文本框 12">
            <a:extLst>
              <a:ext uri="{FF2B5EF4-FFF2-40B4-BE49-F238E27FC236}">
                <a16:creationId xmlns:a16="http://schemas.microsoft.com/office/drawing/2014/main" id="{8AA71FE8-6C55-4494-9DE8-6F29A3842123}"/>
              </a:ext>
            </a:extLst>
          </p:cNvPr>
          <p:cNvSpPr txBox="1"/>
          <p:nvPr/>
        </p:nvSpPr>
        <p:spPr>
          <a:xfrm>
            <a:off x="7025071" y="5938888"/>
            <a:ext cx="1851789" cy="300210"/>
          </a:xfrm>
          <a:prstGeom prst="rect">
            <a:avLst/>
          </a:prstGeom>
          <a:noFill/>
        </p:spPr>
        <p:txBody>
          <a:bodyPr wrap="none" rtlCol="0">
            <a:spAutoFit/>
          </a:bodyPr>
          <a:lstStyle/>
          <a:p>
            <a:r>
              <a:rPr lang="en-US" altLang="zh-CN" sz="1351" b="1">
                <a:solidFill>
                  <a:srgbClr val="C00000"/>
                </a:solidFill>
              </a:rPr>
              <a:t>Function Calling</a:t>
            </a:r>
            <a:endParaRPr lang="zh-CN" altLang="en-US" sz="1351" b="1">
              <a:solidFill>
                <a:srgbClr val="C00000"/>
              </a:solidFill>
            </a:endParaRPr>
          </a:p>
        </p:txBody>
      </p:sp>
    </p:spTree>
    <p:extLst>
      <p:ext uri="{BB962C8B-B14F-4D97-AF65-F5344CB8AC3E}">
        <p14:creationId xmlns:p14="http://schemas.microsoft.com/office/powerpoint/2010/main" val="897500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32"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strVal val="4*#ppt_w"/>
                                          </p:val>
                                        </p:tav>
                                        <p:tav tm="100000">
                                          <p:val>
                                            <p:strVal val="#ppt_w"/>
                                          </p:val>
                                        </p:tav>
                                      </p:tavLst>
                                    </p:anim>
                                    <p:anim calcmode="lin" valueType="num">
                                      <p:cBhvr>
                                        <p:cTn id="17" dur="500" fill="hold"/>
                                        <p:tgtEl>
                                          <p:spTgt spid="1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Tools</a:t>
            </a:r>
            <a:r>
              <a:rPr lang="zh-CN" altLang="en-US"/>
              <a:t>工具</a:t>
            </a:r>
            <a:r>
              <a:rPr lang="en-US" altLang="zh-CN"/>
              <a:t>-</a:t>
            </a:r>
            <a:r>
              <a:rPr lang="zh-CN" altLang="en-US"/>
              <a:t>原理</a:t>
            </a:r>
          </a:p>
        </p:txBody>
      </p:sp>
      <p:pic>
        <p:nvPicPr>
          <p:cNvPr id="7" name="图片 6">
            <a:extLst>
              <a:ext uri="{FF2B5EF4-FFF2-40B4-BE49-F238E27FC236}">
                <a16:creationId xmlns:a16="http://schemas.microsoft.com/office/drawing/2014/main" id="{0220F2E8-0CC5-4BBF-B929-52B69174421B}"/>
              </a:ext>
            </a:extLst>
          </p:cNvPr>
          <p:cNvPicPr>
            <a:picLocks noChangeAspect="1"/>
          </p:cNvPicPr>
          <p:nvPr/>
        </p:nvPicPr>
        <p:blipFill>
          <a:blip r:embed="rId2"/>
          <a:stretch>
            <a:fillRect/>
          </a:stretch>
        </p:blipFill>
        <p:spPr>
          <a:xfrm>
            <a:off x="1869005" y="1219201"/>
            <a:ext cx="8313479" cy="4900247"/>
          </a:xfrm>
          <a:prstGeom prst="rect">
            <a:avLst/>
          </a:prstGeom>
        </p:spPr>
      </p:pic>
      <p:sp>
        <p:nvSpPr>
          <p:cNvPr id="4" name="矩形 3">
            <a:extLst>
              <a:ext uri="{FF2B5EF4-FFF2-40B4-BE49-F238E27FC236}">
                <a16:creationId xmlns:a16="http://schemas.microsoft.com/office/drawing/2014/main" id="{105B0303-FD5D-483F-86A2-08E2894DF647}"/>
              </a:ext>
            </a:extLst>
          </p:cNvPr>
          <p:cNvSpPr/>
          <p:nvPr/>
        </p:nvSpPr>
        <p:spPr>
          <a:xfrm>
            <a:off x="5469935" y="1875935"/>
            <a:ext cx="1252135" cy="716437"/>
          </a:xfrm>
          <a:prstGeom prst="rect">
            <a:avLst/>
          </a:prstGeom>
          <a:ln>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marL="285737" indent="-285737">
              <a:buFont typeface="Wingdings" panose="05000000000000000000" pitchFamily="2" charset="2"/>
              <a:buChar char="l"/>
            </a:pPr>
            <a:r>
              <a:rPr lang="zh-CN" altLang="en-US" sz="1400">
                <a:solidFill>
                  <a:schemeClr val="bg1"/>
                </a:solidFill>
              </a:rPr>
              <a:t>方法名称</a:t>
            </a:r>
            <a:endParaRPr lang="en-US" altLang="zh-CN" sz="1400">
              <a:solidFill>
                <a:schemeClr val="bg1"/>
              </a:solidFill>
            </a:endParaRPr>
          </a:p>
          <a:p>
            <a:pPr marL="285737" indent="-285737">
              <a:buFont typeface="Wingdings" panose="05000000000000000000" pitchFamily="2" charset="2"/>
              <a:buChar char="l"/>
            </a:pPr>
            <a:r>
              <a:rPr lang="zh-CN" altLang="en-US" sz="1400">
                <a:solidFill>
                  <a:schemeClr val="bg1"/>
                </a:solidFill>
              </a:rPr>
              <a:t>方法作用</a:t>
            </a:r>
            <a:endParaRPr lang="en-US" altLang="zh-CN" sz="1400">
              <a:solidFill>
                <a:schemeClr val="bg1"/>
              </a:solidFill>
            </a:endParaRPr>
          </a:p>
          <a:p>
            <a:pPr marL="285737" indent="-285737">
              <a:buFont typeface="Wingdings" panose="05000000000000000000" pitchFamily="2" charset="2"/>
              <a:buChar char="l"/>
            </a:pPr>
            <a:r>
              <a:rPr lang="zh-CN" altLang="en-US" sz="1400">
                <a:solidFill>
                  <a:schemeClr val="bg1"/>
                </a:solidFill>
              </a:rPr>
              <a:t>方法入参</a:t>
            </a:r>
            <a:endParaRPr lang="en-US" altLang="zh-CN" sz="1400">
              <a:solidFill>
                <a:schemeClr val="bg1"/>
              </a:solidFill>
            </a:endParaRPr>
          </a:p>
        </p:txBody>
      </p:sp>
      <p:sp>
        <p:nvSpPr>
          <p:cNvPr id="2" name="矩形 1">
            <a:extLst>
              <a:ext uri="{FF2B5EF4-FFF2-40B4-BE49-F238E27FC236}">
                <a16:creationId xmlns:a16="http://schemas.microsoft.com/office/drawing/2014/main" id="{C5462098-9BE0-4013-8110-D12DDF20DFA6}"/>
              </a:ext>
            </a:extLst>
          </p:cNvPr>
          <p:cNvSpPr/>
          <p:nvPr/>
        </p:nvSpPr>
        <p:spPr>
          <a:xfrm>
            <a:off x="1773044" y="3000757"/>
            <a:ext cx="8642195" cy="2976298"/>
          </a:xfrm>
          <a:prstGeom prst="rect">
            <a:avLst/>
          </a:prstGeom>
          <a:solidFill>
            <a:schemeClr val="bg1">
              <a:lumMod val="75000"/>
              <a:alpha val="44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4059712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D1135-21CD-AF82-9564-FB34E8C85157}"/>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52B00D3-51C0-8319-EA36-CD4DE36AFAC5}"/>
              </a:ext>
            </a:extLst>
          </p:cNvPr>
          <p:cNvSpPr>
            <a:spLocks noGrp="1"/>
          </p:cNvSpPr>
          <p:nvPr>
            <p:ph type="body" sz="quarter" idx="11"/>
          </p:nvPr>
        </p:nvSpPr>
        <p:spPr/>
        <p:txBody>
          <a:bodyPr/>
          <a:lstStyle/>
          <a:p>
            <a:r>
              <a:rPr lang="en-US" altLang="zh-CN"/>
              <a:t>LangChain4j</a:t>
            </a:r>
            <a:endParaRPr lang="zh-CN" altLang="en-US"/>
          </a:p>
        </p:txBody>
      </p:sp>
      <p:sp>
        <p:nvSpPr>
          <p:cNvPr id="3" name="文本占位符 2">
            <a:extLst>
              <a:ext uri="{FF2B5EF4-FFF2-40B4-BE49-F238E27FC236}">
                <a16:creationId xmlns:a16="http://schemas.microsoft.com/office/drawing/2014/main" id="{51FF1756-6C67-61FF-45ED-FA2397F839B0}"/>
              </a:ext>
            </a:extLst>
          </p:cNvPr>
          <p:cNvSpPr>
            <a:spLocks noGrp="1"/>
          </p:cNvSpPr>
          <p:nvPr>
            <p:ph type="body" sz="quarter" idx="12"/>
          </p:nvPr>
        </p:nvSpPr>
        <p:spPr/>
        <p:txBody>
          <a:bodyPr/>
          <a:lstStyle/>
          <a:p>
            <a:pPr marL="0" indent="0" algn="ctr">
              <a:lnSpc>
                <a:spcPct val="100000"/>
              </a:lnSpc>
              <a:buNone/>
            </a:pPr>
            <a:r>
              <a:rPr lang="en-US" altLang="zh-CN" sz="3600">
                <a:solidFill>
                  <a:schemeClr val="bg1"/>
                </a:solidFill>
                <a:latin typeface="+mj-ea"/>
                <a:ea typeface="+mj-ea"/>
              </a:rPr>
              <a:t>03</a:t>
            </a:r>
            <a:endParaRPr lang="zh-CN" altLang="en-US" sz="3600">
              <a:solidFill>
                <a:schemeClr val="bg1"/>
              </a:solidFill>
              <a:latin typeface="+mj-ea"/>
              <a:ea typeface="+mj-ea"/>
            </a:endParaRPr>
          </a:p>
        </p:txBody>
      </p:sp>
      <p:sp>
        <p:nvSpPr>
          <p:cNvPr id="4" name="文本占位符 3">
            <a:extLst>
              <a:ext uri="{FF2B5EF4-FFF2-40B4-BE49-F238E27FC236}">
                <a16:creationId xmlns:a16="http://schemas.microsoft.com/office/drawing/2014/main" id="{ECB88397-4C32-7E1B-58B1-5250B9BB5075}"/>
              </a:ext>
            </a:extLst>
          </p:cNvPr>
          <p:cNvSpPr>
            <a:spLocks noGrp="1"/>
          </p:cNvSpPr>
          <p:nvPr>
            <p:ph type="body" sz="quarter" idx="10"/>
          </p:nvPr>
        </p:nvSpPr>
        <p:spPr>
          <a:xfrm>
            <a:off x="6351440" y="2924829"/>
            <a:ext cx="3692525" cy="3721071"/>
          </a:xfrm>
        </p:spPr>
        <p:txBody>
          <a:bodyPr/>
          <a:lstStyle/>
          <a:p>
            <a:r>
              <a:rPr lang="zh-CN" altLang="en-US"/>
              <a:t>会话功能</a:t>
            </a:r>
            <a:endParaRPr lang="en-US" altLang="zh-CN"/>
          </a:p>
          <a:p>
            <a:r>
              <a:rPr lang="en-US" altLang="zh-CN"/>
              <a:t>RAG</a:t>
            </a:r>
            <a:r>
              <a:rPr lang="zh-CN" altLang="en-US"/>
              <a:t>知识库</a:t>
            </a:r>
            <a:endParaRPr lang="en-US" altLang="zh-CN"/>
          </a:p>
          <a:p>
            <a:r>
              <a:rPr lang="en-US" altLang="zh-CN"/>
              <a:t>Tools</a:t>
            </a:r>
            <a:r>
              <a:rPr lang="zh-CN" altLang="en-US"/>
              <a:t>工具</a:t>
            </a:r>
            <a:endParaRPr lang="en-US" altLang="zh-CN"/>
          </a:p>
          <a:p>
            <a:pPr lvl="1"/>
            <a:r>
              <a:rPr lang="zh-CN" altLang="en-US" sz="1400"/>
              <a:t>准备工作</a:t>
            </a:r>
            <a:endParaRPr lang="en-US" altLang="zh-CN" sz="1400"/>
          </a:p>
          <a:p>
            <a:pPr lvl="1"/>
            <a:r>
              <a:rPr lang="zh-CN" altLang="en-US" sz="1400"/>
              <a:t>原理</a:t>
            </a:r>
            <a:endParaRPr lang="en-US" altLang="zh-CN" sz="1400"/>
          </a:p>
          <a:p>
            <a:pPr lvl="1"/>
            <a:r>
              <a:rPr lang="zh-CN" altLang="en-US" sz="1400"/>
              <a:t>实现</a:t>
            </a:r>
            <a:endParaRPr lang="en-US" altLang="zh-CN" sz="1400"/>
          </a:p>
          <a:p>
            <a:pPr lvl="1"/>
            <a:endParaRPr lang="en-US" altLang="zh-CN"/>
          </a:p>
        </p:txBody>
      </p:sp>
    </p:spTree>
    <p:custDataLst>
      <p:custData r:id="rId1"/>
    </p:custDataLst>
    <p:extLst>
      <p:ext uri="{BB962C8B-B14F-4D97-AF65-F5344CB8AC3E}">
        <p14:creationId xmlns:p14="http://schemas.microsoft.com/office/powerpoint/2010/main" val="1462120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2" fill="hold" nodeType="withEffect">
                                  <p:stCondLst>
                                    <p:cond delay="0"/>
                                  </p:stCondLst>
                                  <p:childTnLst>
                                    <p:animClr clrSpc="rgb" dir="cw">
                                      <p:cBhvr override="childStyle">
                                        <p:cTn id="6" dur="2000" fill="hold"/>
                                        <p:tgtEl>
                                          <p:spTgt spid="4">
                                            <p:txEl>
                                              <p:pRg st="5" end="5"/>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204F-FA93-1543-C80A-54C33E523A5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BBAFAAE-06C0-F529-D70F-F66EBA7A2B9B}"/>
              </a:ext>
            </a:extLst>
          </p:cNvPr>
          <p:cNvSpPr>
            <a:spLocks noGrp="1"/>
          </p:cNvSpPr>
          <p:nvPr>
            <p:ph type="title"/>
          </p:nvPr>
        </p:nvSpPr>
        <p:spPr/>
        <p:txBody>
          <a:bodyPr/>
          <a:lstStyle/>
          <a:p>
            <a:r>
              <a:rPr lang="en-US" altLang="zh-CN"/>
              <a:t>Tools</a:t>
            </a:r>
            <a:r>
              <a:rPr lang="zh-CN" altLang="en-US"/>
              <a:t>工具</a:t>
            </a:r>
            <a:r>
              <a:rPr lang="en-US" altLang="zh-CN"/>
              <a:t>-</a:t>
            </a:r>
            <a:r>
              <a:rPr lang="zh-CN" altLang="en-US"/>
              <a:t>实现</a:t>
            </a:r>
          </a:p>
        </p:txBody>
      </p:sp>
      <p:sp>
        <p:nvSpPr>
          <p:cNvPr id="5" name="内容占位符 1">
            <a:extLst>
              <a:ext uri="{FF2B5EF4-FFF2-40B4-BE49-F238E27FC236}">
                <a16:creationId xmlns:a16="http://schemas.microsoft.com/office/drawing/2014/main" id="{6560EC62-C7CE-4C60-91E6-D83A12251EF6}"/>
              </a:ext>
            </a:extLst>
          </p:cNvPr>
          <p:cNvSpPr txBox="1">
            <a:spLocks/>
          </p:cNvSpPr>
          <p:nvPr/>
        </p:nvSpPr>
        <p:spPr>
          <a:xfrm>
            <a:off x="576196" y="1057320"/>
            <a:ext cx="2035029" cy="9694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882" indent="-342882" defTabSz="914354">
              <a:lnSpc>
                <a:spcPct val="150000"/>
              </a:lnSpc>
              <a:buFont typeface="+mj-lt"/>
              <a:buAutoNum type="arabicPeriod"/>
              <a:defRPr/>
            </a:pPr>
            <a:r>
              <a:rPr lang="zh-CN" altLang="en-US" sz="1600">
                <a:solidFill>
                  <a:srgbClr val="2F2F2F"/>
                </a:solidFill>
                <a:latin typeface="Source Code Pro"/>
              </a:rPr>
              <a:t>准备工具方法</a:t>
            </a:r>
            <a:endParaRPr lang="en-US" altLang="zh-CN" sz="1600">
              <a:solidFill>
                <a:srgbClr val="2F2F2F"/>
              </a:solidFill>
              <a:latin typeface="Source Code Pro"/>
            </a:endParaRPr>
          </a:p>
          <a:p>
            <a:pPr marL="342882" indent="-342882" defTabSz="914354">
              <a:lnSpc>
                <a:spcPct val="150000"/>
              </a:lnSpc>
              <a:buFont typeface="+mj-lt"/>
              <a:buAutoNum type="arabicPeriod"/>
              <a:defRPr/>
            </a:pPr>
            <a:r>
              <a:rPr lang="zh-CN" altLang="en-US" sz="1600">
                <a:solidFill>
                  <a:srgbClr val="2F2F2F"/>
                </a:solidFill>
                <a:latin typeface="Source Code Pro"/>
              </a:rPr>
              <a:t>配置工具方法</a:t>
            </a:r>
            <a:endParaRPr lang="en-US" altLang="zh-CN" sz="1600">
              <a:solidFill>
                <a:srgbClr val="2F2F2F"/>
              </a:solidFill>
              <a:latin typeface="Source Code Pro"/>
            </a:endParaRPr>
          </a:p>
        </p:txBody>
      </p:sp>
      <p:sp>
        <p:nvSpPr>
          <p:cNvPr id="2" name="Rectangle 1">
            <a:extLst>
              <a:ext uri="{FF2B5EF4-FFF2-40B4-BE49-F238E27FC236}">
                <a16:creationId xmlns:a16="http://schemas.microsoft.com/office/drawing/2014/main" id="{F218A71A-41BD-4BEF-8BE1-FCFEA0D50DA9}"/>
              </a:ext>
            </a:extLst>
          </p:cNvPr>
          <p:cNvSpPr>
            <a:spLocks noChangeArrowheads="1"/>
          </p:cNvSpPr>
          <p:nvPr/>
        </p:nvSpPr>
        <p:spPr bwMode="auto">
          <a:xfrm>
            <a:off x="999243" y="2026763"/>
            <a:ext cx="9596487" cy="4631524"/>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lnSpc>
                <a:spcPct val="120000"/>
              </a:lnSpc>
              <a:spcBef>
                <a:spcPct val="0"/>
              </a:spcBef>
              <a:spcAft>
                <a:spcPct val="0"/>
              </a:spcAft>
            </a:pPr>
            <a:r>
              <a:rPr lang="zh-CN" altLang="zh-CN" sz="1300">
                <a:solidFill>
                  <a:srgbClr val="9E880D"/>
                </a:solidFill>
                <a:latin typeface="Arial Unicode MS"/>
                <a:ea typeface="JetBrains Mono"/>
              </a:rPr>
              <a:t>@Component</a:t>
            </a:r>
            <a:br>
              <a:rPr lang="zh-CN" altLang="zh-CN" sz="1300">
                <a:solidFill>
                  <a:srgbClr val="9E880D"/>
                </a:solidFill>
                <a:latin typeface="Arial Unicode MS"/>
                <a:ea typeface="JetBrains Mono"/>
              </a:rPr>
            </a:br>
            <a:r>
              <a:rPr lang="zh-CN" altLang="zh-CN" sz="1300">
                <a:solidFill>
                  <a:srgbClr val="0033B3"/>
                </a:solidFill>
                <a:latin typeface="Arial Unicode MS"/>
                <a:ea typeface="JetBrains Mono"/>
              </a:rPr>
              <a:t>public class </a:t>
            </a:r>
            <a:r>
              <a:rPr lang="zh-CN" altLang="zh-CN" sz="1300">
                <a:solidFill>
                  <a:srgbClr val="000000"/>
                </a:solidFill>
                <a:latin typeface="Arial Unicode MS"/>
                <a:ea typeface="JetBrains Mono"/>
              </a:rPr>
              <a:t>ReservationTool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9E880D"/>
                </a:solidFill>
                <a:latin typeface="Arial Unicode MS"/>
                <a:ea typeface="JetBrains Mono"/>
              </a:rPr>
              <a:t>@Autowired</a:t>
            </a:r>
            <a:br>
              <a:rPr lang="zh-CN" altLang="zh-CN" sz="1300">
                <a:solidFill>
                  <a:srgbClr val="9E880D"/>
                </a:solidFill>
                <a:latin typeface="Arial Unicode MS"/>
                <a:ea typeface="JetBrains Mono"/>
              </a:rPr>
            </a:br>
            <a:r>
              <a:rPr lang="zh-CN" altLang="zh-CN" sz="1300">
                <a:solidFill>
                  <a:srgbClr val="9E880D"/>
                </a:solidFill>
                <a:latin typeface="Arial Unicode MS"/>
                <a:ea typeface="JetBrains Mono"/>
              </a:rPr>
              <a:t>    </a:t>
            </a:r>
            <a:r>
              <a:rPr lang="en-US" altLang="zh-CN" sz="1300">
                <a:solidFill>
                  <a:srgbClr val="9E880D"/>
                </a:solidFill>
                <a:latin typeface="Arial Unicode MS"/>
                <a:ea typeface="JetBrains Mono"/>
              </a:rPr>
              <a:t>   </a:t>
            </a:r>
            <a:r>
              <a:rPr lang="zh-CN" altLang="zh-CN" sz="1300">
                <a:solidFill>
                  <a:srgbClr val="0033B3"/>
                </a:solidFill>
                <a:latin typeface="Arial Unicode MS"/>
                <a:ea typeface="JetBrains Mono"/>
              </a:rPr>
              <a:t>private </a:t>
            </a:r>
            <a:r>
              <a:rPr lang="zh-CN" altLang="zh-CN" sz="1300">
                <a:solidFill>
                  <a:srgbClr val="000000"/>
                </a:solidFill>
                <a:latin typeface="Arial Unicode MS"/>
                <a:ea typeface="JetBrains Mono"/>
              </a:rPr>
              <a:t>ReservationService </a:t>
            </a:r>
            <a:r>
              <a:rPr lang="zh-CN" altLang="zh-CN" sz="1300">
                <a:solidFill>
                  <a:srgbClr val="871094"/>
                </a:solidFill>
                <a:latin typeface="Arial Unicode MS"/>
                <a:ea typeface="JetBrains Mono"/>
              </a:rPr>
              <a:t>reservationService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9E880D"/>
                </a:solidFill>
                <a:latin typeface="Arial Unicode MS"/>
                <a:ea typeface="JetBrains Mono"/>
              </a:rPr>
              <a:t>@Tool</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添加志愿指导服务预约</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a:t>
            </a:r>
            <a:br>
              <a:rPr lang="zh-CN" altLang="zh-CN" sz="1300" i="1">
                <a:solidFill>
                  <a:srgbClr val="686671"/>
                </a:solidFill>
                <a:latin typeface="宋体" panose="02010600030101010101" pitchFamily="2" charset="-122"/>
                <a:ea typeface="宋体" panose="02010600030101010101" pitchFamily="2" charset="-122"/>
              </a:rPr>
            </a:br>
            <a:r>
              <a:rPr lang="zh-CN" altLang="zh-CN" sz="1300" i="1">
                <a:solidFill>
                  <a:srgbClr val="686671"/>
                </a:solidFill>
                <a:latin typeface="宋体" panose="02010600030101010101" pitchFamily="2" charset="-122"/>
                <a:ea typeface="宋体" panose="02010600030101010101" pitchFamily="2" charset="-122"/>
              </a:rPr>
              <a:t>    </a:t>
            </a:r>
            <a:r>
              <a:rPr lang="zh-CN" altLang="zh-CN" sz="1300">
                <a:solidFill>
                  <a:srgbClr val="0033B3"/>
                </a:solidFill>
                <a:latin typeface="Arial Unicode MS"/>
                <a:ea typeface="JetBrains Mono"/>
              </a:rPr>
              <a:t>public void </a:t>
            </a:r>
            <a:r>
              <a:rPr lang="zh-CN" altLang="zh-CN" sz="1300">
                <a:solidFill>
                  <a:srgbClr val="00627A"/>
                </a:solidFill>
                <a:latin typeface="Arial Unicode MS"/>
                <a:ea typeface="JetBrains Mono"/>
              </a:rPr>
              <a:t>addReservation</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考生姓名</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name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考生性别</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gender</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考生电话</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phone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沟通时间</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LocalDateTime communicationTime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考生所在省份</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province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考生预估分数</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Integer estimatedScore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871094"/>
                </a:solidFill>
                <a:latin typeface="Arial Unicode MS"/>
                <a:ea typeface="JetBrains Mono"/>
              </a:rPr>
              <a:t>reservationService</a:t>
            </a:r>
            <a:r>
              <a:rPr lang="zh-CN" altLang="zh-CN" sz="1300">
                <a:solidFill>
                  <a:srgbClr val="080808"/>
                </a:solidFill>
                <a:latin typeface="Arial Unicode MS"/>
                <a:ea typeface="JetBrains Mono"/>
              </a:rPr>
              <a:t>.insert(</a:t>
            </a:r>
            <a:r>
              <a:rPr lang="zh-CN" altLang="zh-CN" sz="1300">
                <a:solidFill>
                  <a:srgbClr val="0033B3"/>
                </a:solidFill>
                <a:latin typeface="Arial Unicode MS"/>
                <a:ea typeface="JetBrains Mono"/>
              </a:rPr>
              <a:t>new </a:t>
            </a:r>
            <a:r>
              <a:rPr lang="zh-CN" altLang="zh-CN" sz="1300">
                <a:solidFill>
                  <a:srgbClr val="080808"/>
                </a:solidFill>
                <a:latin typeface="Arial Unicode MS"/>
                <a:ea typeface="JetBrains Mono"/>
              </a:rPr>
              <a:t>Reservation(</a:t>
            </a:r>
            <a:r>
              <a:rPr lang="zh-CN" altLang="zh-CN" sz="1300">
                <a:solidFill>
                  <a:srgbClr val="0033B3"/>
                </a:solidFill>
                <a:latin typeface="Arial Unicode MS"/>
                <a:ea typeface="JetBrains Mono"/>
              </a:rPr>
              <a:t>null</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name</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gender</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phone</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communicationTime</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province</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estimatedScore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9E880D"/>
                </a:solidFill>
                <a:latin typeface="Arial Unicode MS"/>
                <a:ea typeface="JetBrains Mono"/>
              </a:rPr>
              <a:t>@Tool</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根据考生电话查询考生预约详情</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a:t>
            </a:r>
            <a:br>
              <a:rPr lang="zh-CN" altLang="zh-CN" sz="1300" i="1">
                <a:solidFill>
                  <a:srgbClr val="686671"/>
                </a:solidFill>
                <a:latin typeface="宋体" panose="02010600030101010101" pitchFamily="2" charset="-122"/>
                <a:ea typeface="宋体" panose="02010600030101010101" pitchFamily="2" charset="-122"/>
              </a:rPr>
            </a:br>
            <a:r>
              <a:rPr lang="zh-CN" altLang="zh-CN" sz="1300" i="1">
                <a:solidFill>
                  <a:srgbClr val="686671"/>
                </a:solidFill>
                <a:latin typeface="宋体" panose="02010600030101010101" pitchFamily="2" charset="-122"/>
                <a:ea typeface="宋体" panose="02010600030101010101" pitchFamily="2" charset="-122"/>
              </a:rPr>
              <a:t>    </a:t>
            </a:r>
            <a:r>
              <a:rPr lang="zh-CN" altLang="zh-CN" sz="1300">
                <a:solidFill>
                  <a:srgbClr val="0033B3"/>
                </a:solidFill>
                <a:latin typeface="Arial Unicode MS"/>
                <a:ea typeface="JetBrains Mono"/>
              </a:rPr>
              <a:t>public </a:t>
            </a:r>
            <a:r>
              <a:rPr lang="zh-CN" altLang="zh-CN" sz="1300">
                <a:solidFill>
                  <a:srgbClr val="000000"/>
                </a:solidFill>
                <a:latin typeface="Arial Unicode MS"/>
                <a:ea typeface="JetBrains Mono"/>
              </a:rPr>
              <a:t>Reservation </a:t>
            </a:r>
            <a:r>
              <a:rPr lang="zh-CN" altLang="zh-CN" sz="1300">
                <a:solidFill>
                  <a:srgbClr val="00627A"/>
                </a:solidFill>
                <a:latin typeface="Arial Unicode MS"/>
                <a:ea typeface="JetBrains Mono"/>
              </a:rPr>
              <a:t>findReservation</a:t>
            </a:r>
            <a:r>
              <a:rPr lang="zh-CN" altLang="zh-CN" sz="1300">
                <a:solidFill>
                  <a:srgbClr val="080808"/>
                </a:solidFill>
                <a:latin typeface="Arial Unicode MS"/>
                <a:ea typeface="JetBrains Mono"/>
              </a:rPr>
              <a:t>(</a:t>
            </a:r>
            <a:r>
              <a:rPr lang="zh-CN" altLang="zh-CN" sz="1300">
                <a:solidFill>
                  <a:srgbClr val="9E880D"/>
                </a:solidFill>
                <a:latin typeface="Arial Unicode MS"/>
                <a:ea typeface="JetBrains Mono"/>
              </a:rPr>
              <a:t>@P</a:t>
            </a:r>
            <a:r>
              <a:rPr lang="zh-CN" altLang="zh-CN" sz="1300">
                <a:solidFill>
                  <a:srgbClr val="080808"/>
                </a:solidFill>
                <a:latin typeface="Arial Unicode MS"/>
                <a:ea typeface="JetBrains Mono"/>
              </a:rPr>
              <a:t>(</a:t>
            </a:r>
            <a:r>
              <a:rPr lang="zh-CN" altLang="zh-CN" sz="1300">
                <a:solidFill>
                  <a:srgbClr val="067D17"/>
                </a:solidFill>
                <a:latin typeface="Arial Unicode MS"/>
                <a:ea typeface="JetBrains Mono"/>
              </a:rPr>
              <a:t>"</a:t>
            </a:r>
            <a:r>
              <a:rPr lang="zh-CN" altLang="zh-CN" sz="1300">
                <a:solidFill>
                  <a:srgbClr val="067D17"/>
                </a:solidFill>
                <a:latin typeface="宋体" panose="02010600030101010101" pitchFamily="2" charset="-122"/>
                <a:ea typeface="宋体" panose="02010600030101010101" pitchFamily="2" charset="-122"/>
              </a:rPr>
              <a:t>考生电话</a:t>
            </a:r>
            <a:r>
              <a:rPr lang="zh-CN" altLang="zh-CN" sz="1300">
                <a:solidFill>
                  <a:srgbClr val="067D17"/>
                </a:solidFill>
                <a:latin typeface="Arial Unicode MS"/>
                <a:ea typeface="JetBrains Mono"/>
              </a:rPr>
              <a:t>"</a:t>
            </a:r>
            <a:r>
              <a:rPr lang="zh-CN" altLang="zh-CN" sz="1300">
                <a:solidFill>
                  <a:srgbClr val="080808"/>
                </a:solidFill>
                <a:latin typeface="Arial Unicode MS"/>
                <a:ea typeface="JetBrains Mono"/>
              </a:rPr>
              <a:t>) </a:t>
            </a:r>
            <a:r>
              <a:rPr lang="zh-CN" altLang="zh-CN" sz="1300">
                <a:solidFill>
                  <a:srgbClr val="000000"/>
                </a:solidFill>
                <a:latin typeface="Arial Unicode MS"/>
                <a:ea typeface="JetBrains Mono"/>
              </a:rPr>
              <a:t>String phone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0033B3"/>
                </a:solidFill>
                <a:latin typeface="Arial Unicode MS"/>
                <a:ea typeface="JetBrains Mono"/>
              </a:rPr>
              <a:t>return </a:t>
            </a:r>
            <a:r>
              <a:rPr lang="zh-CN" altLang="zh-CN" sz="1300">
                <a:solidFill>
                  <a:srgbClr val="871094"/>
                </a:solidFill>
                <a:latin typeface="Arial Unicode MS"/>
                <a:ea typeface="JetBrains Mono"/>
              </a:rPr>
              <a:t>reservationService</a:t>
            </a:r>
            <a:r>
              <a:rPr lang="zh-CN" altLang="zh-CN" sz="1300">
                <a:solidFill>
                  <a:srgbClr val="080808"/>
                </a:solidFill>
                <a:latin typeface="Arial Unicode MS"/>
                <a:ea typeface="JetBrains Mono"/>
              </a:rPr>
              <a:t>.findByPhone(</a:t>
            </a:r>
            <a:r>
              <a:rPr lang="zh-CN" altLang="zh-CN" sz="1300">
                <a:solidFill>
                  <a:srgbClr val="000000"/>
                </a:solidFill>
                <a:latin typeface="Arial Unicode MS"/>
                <a:ea typeface="JetBrains Mono"/>
              </a:rPr>
              <a:t>phone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a:t>
            </a:r>
            <a:r>
              <a:rPr lang="en-US" altLang="zh-CN" sz="1300">
                <a:solidFill>
                  <a:srgbClr val="080808"/>
                </a:solidFill>
                <a:latin typeface="Arial Unicode MS"/>
                <a:ea typeface="JetBrains Mono"/>
              </a:rPr>
              <a:t>   </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sp>
        <p:nvSpPr>
          <p:cNvPr id="6" name="Rectangle 2">
            <a:extLst>
              <a:ext uri="{FF2B5EF4-FFF2-40B4-BE49-F238E27FC236}">
                <a16:creationId xmlns:a16="http://schemas.microsoft.com/office/drawing/2014/main" id="{52D6C594-7454-47C6-9075-BE486736E8DB}"/>
              </a:ext>
            </a:extLst>
          </p:cNvPr>
          <p:cNvSpPr>
            <a:spLocks noChangeArrowheads="1"/>
          </p:cNvSpPr>
          <p:nvPr/>
        </p:nvSpPr>
        <p:spPr bwMode="auto">
          <a:xfrm>
            <a:off x="3091992" y="1057323"/>
            <a:ext cx="7503736" cy="892552"/>
          </a:xfrm>
          <a:prstGeom prst="rect">
            <a:avLst/>
          </a:prstGeom>
          <a:solidFill>
            <a:schemeClr val="accent3">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zh-CN" sz="1300">
                <a:solidFill>
                  <a:srgbClr val="9E880D"/>
                </a:solidFill>
                <a:latin typeface="Arial Unicode MS"/>
                <a:ea typeface="JetBrains Mono"/>
              </a:rPr>
              <a:t>@AiService</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wiringMode = </a:t>
            </a:r>
            <a:r>
              <a:rPr lang="zh-CN" altLang="zh-CN" sz="1300">
                <a:solidFill>
                  <a:srgbClr val="000000"/>
                </a:solidFill>
                <a:latin typeface="Arial Unicode MS"/>
                <a:ea typeface="JetBrains Mono"/>
              </a:rPr>
              <a:t>AiServiceWiringMode</a:t>
            </a:r>
            <a:r>
              <a:rPr lang="zh-CN" altLang="zh-CN" sz="1300">
                <a:solidFill>
                  <a:srgbClr val="080808"/>
                </a:solidFill>
                <a:latin typeface="Arial Unicode MS"/>
                <a:ea typeface="JetBrains Mono"/>
              </a:rPr>
              <a:t>.</a:t>
            </a:r>
            <a:r>
              <a:rPr lang="zh-CN" altLang="zh-CN" sz="1300" i="1">
                <a:solidFill>
                  <a:srgbClr val="871094"/>
                </a:solidFill>
                <a:latin typeface="Arial Unicode MS"/>
                <a:ea typeface="JetBrains Mono"/>
              </a:rPr>
              <a:t>EXPLICIT</a:t>
            </a:r>
            <a:r>
              <a:rPr lang="zh-CN" altLang="zh-CN" sz="1300">
                <a:solidFill>
                  <a:srgbClr val="080808"/>
                </a:solidFill>
                <a:latin typeface="Arial Unicode MS"/>
                <a:ea typeface="JetBrains Mono"/>
              </a:rPr>
              <a:t>,</a:t>
            </a:r>
            <a:br>
              <a:rPr lang="zh-CN" altLang="zh-CN" sz="1300">
                <a:solidFill>
                  <a:srgbClr val="080808"/>
                </a:solidFill>
                <a:latin typeface="Arial Unicode MS"/>
                <a:ea typeface="JetBrains Mono"/>
              </a:rPr>
            </a:br>
            <a:r>
              <a:rPr lang="zh-CN" altLang="zh-CN" sz="1300">
                <a:solidFill>
                  <a:srgbClr val="080808"/>
                </a:solidFill>
                <a:latin typeface="Arial Unicode MS"/>
                <a:ea typeface="JetBrains Mono"/>
              </a:rPr>
              <a:t>        tools = </a:t>
            </a:r>
            <a:r>
              <a:rPr lang="zh-CN" altLang="zh-CN" sz="1300">
                <a:solidFill>
                  <a:srgbClr val="067D17"/>
                </a:solidFill>
                <a:latin typeface="Arial Unicode MS"/>
                <a:ea typeface="JetBrains Mono"/>
              </a:rPr>
              <a:t>"reservationTool"</a:t>
            </a:r>
            <a:br>
              <a:rPr lang="zh-CN" altLang="zh-CN" sz="1300">
                <a:solidFill>
                  <a:srgbClr val="067D17"/>
                </a:solidFill>
                <a:latin typeface="Arial Unicode MS"/>
                <a:ea typeface="JetBrains Mono"/>
              </a:rPr>
            </a:br>
            <a:r>
              <a:rPr lang="zh-CN" altLang="zh-CN" sz="1300">
                <a:solidFill>
                  <a:srgbClr val="080808"/>
                </a:solidFill>
                <a:latin typeface="Arial Unicode MS"/>
                <a:ea typeface="JetBrains Mono"/>
              </a:rPr>
              <a:t>)</a:t>
            </a:r>
            <a:endParaRPr lang="zh-CN" altLang="zh-CN" sz="2400">
              <a:latin typeface="Arial" panose="020B0604020202020204" pitchFamily="34" charset="0"/>
            </a:endParaRPr>
          </a:p>
        </p:txBody>
      </p:sp>
      <p:sp>
        <p:nvSpPr>
          <p:cNvPr id="7" name="矩形 6">
            <a:extLst>
              <a:ext uri="{FF2B5EF4-FFF2-40B4-BE49-F238E27FC236}">
                <a16:creationId xmlns:a16="http://schemas.microsoft.com/office/drawing/2014/main" id="{6930871B-666D-481E-857C-EF0F4494EE4D}"/>
              </a:ext>
            </a:extLst>
          </p:cNvPr>
          <p:cNvSpPr/>
          <p:nvPr/>
        </p:nvSpPr>
        <p:spPr>
          <a:xfrm>
            <a:off x="1359532" y="3041494"/>
            <a:ext cx="288410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8" name="矩形 7">
            <a:extLst>
              <a:ext uri="{FF2B5EF4-FFF2-40B4-BE49-F238E27FC236}">
                <a16:creationId xmlns:a16="http://schemas.microsoft.com/office/drawing/2014/main" id="{03E3F785-C039-4C8F-90A2-6362E2483356}"/>
              </a:ext>
            </a:extLst>
          </p:cNvPr>
          <p:cNvSpPr/>
          <p:nvPr/>
        </p:nvSpPr>
        <p:spPr>
          <a:xfrm>
            <a:off x="1387813" y="5428046"/>
            <a:ext cx="3137054" cy="248653"/>
          </a:xfrm>
          <a:prstGeom prst="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
        <p:nvSpPr>
          <p:cNvPr id="9" name="矩形 8">
            <a:extLst>
              <a:ext uri="{FF2B5EF4-FFF2-40B4-BE49-F238E27FC236}">
                <a16:creationId xmlns:a16="http://schemas.microsoft.com/office/drawing/2014/main" id="{52B168B8-B426-4E61-B5B6-7F5ECA311F90}"/>
              </a:ext>
            </a:extLst>
          </p:cNvPr>
          <p:cNvSpPr/>
          <p:nvPr/>
        </p:nvSpPr>
        <p:spPr>
          <a:xfrm>
            <a:off x="1514288" y="3507825"/>
            <a:ext cx="2884104" cy="248653"/>
          </a:xfrm>
          <a:prstGeom prst="rect">
            <a:avLst/>
          </a:prstGeom>
          <a:noFill/>
          <a:ln w="22225">
            <a:solidFill>
              <a:srgbClr val="F38D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p>
        </p:txBody>
      </p:sp>
    </p:spTree>
    <p:extLst>
      <p:ext uri="{BB962C8B-B14F-4D97-AF65-F5344CB8AC3E}">
        <p14:creationId xmlns:p14="http://schemas.microsoft.com/office/powerpoint/2010/main" val="3169839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Lst>
    <p:extLst>
      <p:ext uri="{BB962C8B-B14F-4D97-AF65-F5344CB8AC3E}">
        <p14:creationId xmlns:p14="http://schemas.microsoft.com/office/powerpoint/2010/main" val="3960987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3D1810A4-91CF-6749-7B81-4E5C7755F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935306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f6b6247-00f9-4185-bb3e-6a09396f8e3b"/>
</p:tagLst>
</file>

<file path=ppt/theme/theme1.xml><?xml version="1.0" encoding="utf-8"?>
<a:theme xmlns:a="http://schemas.openxmlformats.org/drawingml/2006/main" name="内容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封面">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章节目录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小结思考模板2">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小结思考模板2">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自定义 1">
      <a:majorFont>
        <a:latin typeface="Source Code Pro Black"/>
        <a:ea typeface="阿里巴巴普惠体"/>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章节目录模板">
  <a:themeElements>
    <a:clrScheme name="科技浅蓝">
      <a:dk1>
        <a:srgbClr val="2F2F2F"/>
      </a:dk1>
      <a:lt1>
        <a:srgbClr val="FFFFFF"/>
      </a:lt1>
      <a:dk2>
        <a:srgbClr val="778495"/>
      </a:dk2>
      <a:lt2>
        <a:srgbClr val="F0F0F0"/>
      </a:lt2>
      <a:accent1>
        <a:srgbClr val="15A0FA"/>
      </a:accent1>
      <a:accent2>
        <a:srgbClr val="9361E3"/>
      </a:accent2>
      <a:accent3>
        <a:srgbClr val="30C7F8"/>
      </a:accent3>
      <a:accent4>
        <a:srgbClr val="5877EE"/>
      </a:accent4>
      <a:accent5>
        <a:srgbClr val="71DDFA"/>
      </a:accent5>
      <a:accent6>
        <a:srgbClr val="2248B9"/>
      </a:accent6>
      <a:hlink>
        <a:srgbClr val="F84D4D"/>
      </a:hlink>
      <a:folHlink>
        <a:srgbClr val="979797"/>
      </a:folHlink>
    </a:clrScheme>
    <a:fontScheme name="传智播客">
      <a:majorFont>
        <a:latin typeface="Source Code Pro Black"/>
        <a:ea typeface="阿里巴巴普惠体 Heavy"/>
        <a:cs typeface=""/>
      </a:majorFont>
      <a:minorFont>
        <a:latin typeface="Source Code Pro"/>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item1.xml><?xml version="1.0" encoding="utf-8"?>
<xseqc xmlns:xsi="http://www.w3.org/2001/XMLSchema-instance" xmlns:xsd="http://www.w3.org/2001/XMLSchema">
  <sldid>-1</sldid>
</xseqc>
</file>

<file path=customXml/item2.xml><?xml version="1.0" encoding="utf-8"?>
<xseqc xmlns:xsi="http://www.w3.org/2001/XMLSchema-instance" xmlns:xsd="http://www.w3.org/2001/XMLSchema">
  <sldid>-1</sldid>
</xseqc>
</file>

<file path=customXml/item3.xml><?xml version="1.0" encoding="utf-8"?>
<xseqc xmlns:xsi="http://www.w3.org/2001/XMLSchema-instance" xmlns:xsd="http://www.w3.org/2001/XMLSchema">
  <sldid>-1</sldid>
</xseqc>
</file>

<file path=customXml/item4.xml><?xml version="1.0" encoding="utf-8"?>
<xseqc xmlns:xsi="http://www.w3.org/2001/XMLSchema-instance" xmlns:xsd="http://www.w3.org/2001/XMLSchema">
  <sldid>-1</sldid>
</xseqc>
</file>

<file path=customXml/item5.xml><?xml version="1.0" encoding="utf-8"?>
<xseqc xmlns:xsi="http://www.w3.org/2001/XMLSchema-instance" xmlns:xsd="http://www.w3.org/2001/XMLSchema">
  <sldid>-1</sldid>
</xseqc>
</file>

<file path=customXml/item6.xml><?xml version="1.0" encoding="utf-8"?>
<xseqc xmlns:xsi="http://www.w3.org/2001/XMLSchema-instance" xmlns:xsd="http://www.w3.org/2001/XMLSchema">
  <sldid>-1</sldid>
</xseqc>
</file>

<file path=customXml/item7.xml><?xml version="1.0" encoding="utf-8"?>
<xseqc xmlns:xsi="http://www.w3.org/2001/XMLSchema-instance" xmlns:xsd="http://www.w3.org/2001/XMLSchema">
  <sldid>-1</sldid>
</xseqc>
</file>

<file path=customXml/item8.xml><?xml version="1.0" encoding="utf-8"?>
<xseqc xmlns:xsi="http://www.w3.org/2001/XMLSchema-instance" xmlns:xsd="http://www.w3.org/2001/XMLSchema">
  <sldid>-1</sldid>
</xseqc>
</file>

<file path=customXml/item9.xml><?xml version="1.0" encoding="utf-8"?>
<xseqc xmlns:xsi="http://www.w3.org/2001/XMLSchema-instance" xmlns:xsd="http://www.w3.org/2001/XMLSchema">
  <sldid>-1</sldid>
</xseqc>
</file>

<file path=customXml/item10.xml><?xml version="1.0" encoding="utf-8"?>
<xseqc xmlns:xsi="http://www.w3.org/2001/XMLSchema-instance" xmlns:xsd="http://www.w3.org/2001/XMLSchema">
  <sldid>-1</sldid>
</xseqc>
</file>

<file path=customXml/item11.xml><?xml version="1.0" encoding="utf-8"?>
<xseqc xmlns:xsi="http://www.w3.org/2001/XMLSchema-instance" xmlns:xsd="http://www.w3.org/2001/XMLSchema">
  <sldid>-1</sldid>
</xseqc>
</file>

<file path=customXml/item12.xml><?xml version="1.0" encoding="utf-8"?>
<xseqc xmlns:xsi="http://www.w3.org/2001/XMLSchema-instance" xmlns:xsd="http://www.w3.org/2001/XMLSchema">
  <sldid>-1</sldid>
</xseqc>
</file>

<file path=customXml/item13.xml><?xml version="1.0" encoding="utf-8"?>
<xseqc xmlns:xsi="http://www.w3.org/2001/XMLSchema-instance" xmlns:xsd="http://www.w3.org/2001/XMLSchema">
  <sldid>-1</sldid>
</xseqc>
</file>

<file path=customXml/item14.xml><?xml version="1.0" encoding="utf-8"?>
<xseqc xmlns:xsi="http://www.w3.org/2001/XMLSchema-instance" xmlns:xsd="http://www.w3.org/2001/XMLSchema">
  <sldid>-1</sldid>
</xseqc>
</file>

<file path=customXml/item15.xml><?xml version="1.0" encoding="utf-8"?>
<xseqc xmlns:xsi="http://www.w3.org/2001/XMLSchema-instance" xmlns:xsd="http://www.w3.org/2001/XMLSchema">
  <sldid>-1</sldid>
</xseqc>
</file>

<file path=customXml/item16.xml><?xml version="1.0" encoding="utf-8"?>
<xseqc xmlns:xsi="http://www.w3.org/2001/XMLSchema-instance" xmlns:xsd="http://www.w3.org/2001/XMLSchema">
  <sldid>-1</sldid>
</xseqc>
</file>

<file path=customXml/item17.xml><?xml version="1.0" encoding="utf-8"?>
<xseqc xmlns:xsi="http://www.w3.org/2001/XMLSchema-instance" xmlns:xsd="http://www.w3.org/2001/XMLSchema">
  <sldid>-1</sldid>
</xseqc>
</file>

<file path=customXml/item18.xml><?xml version="1.0" encoding="utf-8"?>
<xseqc xmlns:xsi="http://www.w3.org/2001/XMLSchema-instance" xmlns:xsd="http://www.w3.org/2001/XMLSchema">
  <sldid>-1</sldid>
</xseqc>
</file>

<file path=customXml/item19.xml><?xml version="1.0" encoding="utf-8"?>
<xseqc xmlns:xsi="http://www.w3.org/2001/XMLSchema-instance" xmlns:xsd="http://www.w3.org/2001/XMLSchema">
  <sldid>-1</sldid>
</xseqc>
</file>

<file path=customXml/item20.xml><?xml version="1.0" encoding="utf-8"?>
<xseqc xmlns:xsi="http://www.w3.org/2001/XMLSchema-instance" xmlns:xsd="http://www.w3.org/2001/XMLSchema">
  <sldid>-1</sldid>
</xseqc>
</file>

<file path=customXml/item21.xml><?xml version="1.0" encoding="utf-8"?>
<xseqc xmlns:xsi="http://www.w3.org/2001/XMLSchema-instance" xmlns:xsd="http://www.w3.org/2001/XMLSchema">
  <sldid>-1</sldid>
</xseqc>
</file>

<file path=customXml/item22.xml><?xml version="1.0" encoding="utf-8"?>
<xseqc xmlns:xsi="http://www.w3.org/2001/XMLSchema-instance" xmlns:xsd="http://www.w3.org/2001/XMLSchema">
  <sldid>-1</sldid>
</xseqc>
</file>

<file path=customXml/item23.xml><?xml version="1.0" encoding="utf-8"?>
<xseqc xmlns:xsi="http://www.w3.org/2001/XMLSchema-instance" xmlns:xsd="http://www.w3.org/2001/XMLSchema">
  <sldid>-1</sldid>
</xseqc>
</file>

<file path=customXml/item24.xml><?xml version="1.0" encoding="utf-8"?>
<xseqc xmlns:xsi="http://www.w3.org/2001/XMLSchema-instance" xmlns:xsd="http://www.w3.org/2001/XMLSchema">
  <sldid>-1</sldid>
</xseqc>
</file>

<file path=customXml/item25.xml><?xml version="1.0" encoding="utf-8"?>
<xseqc xmlns:xsi="http://www.w3.org/2001/XMLSchema-instance" xmlns:xsd="http://www.w3.org/2001/XMLSchema">
  <sldid>-1</sldid>
</xseqc>
</file>

<file path=customXml/item26.xml><?xml version="1.0" encoding="utf-8"?>
<xseqc xmlns:xsi="http://www.w3.org/2001/XMLSchema-instance" xmlns:xsd="http://www.w3.org/2001/XMLSchema">
  <sldid>-1</sldid>
</xseqc>
</file>

<file path=customXml/item27.xml><?xml version="1.0" encoding="utf-8"?>
<xseqc xmlns:xsi="http://www.w3.org/2001/XMLSchema-instance" xmlns:xsd="http://www.w3.org/2001/XMLSchema">
  <sldid>-1</sldid>
</xseqc>
</file>

<file path=customXml/item28.xml><?xml version="1.0" encoding="utf-8"?>
<xseqc xmlns:xsi="http://www.w3.org/2001/XMLSchema-instance" xmlns:xsd="http://www.w3.org/2001/XMLSchema">
  <sldid>-1</sldid>
</xseqc>
</file>

<file path=customXml/item29.xml><?xml version="1.0" encoding="utf-8"?>
<xseqc xmlns:xsi="http://www.w3.org/2001/XMLSchema-instance" xmlns:xsd="http://www.w3.org/2001/XMLSchema">
  <sldid>-1</sldid>
</xseqc>
</file>

<file path=customXml/item30.xml><?xml version="1.0" encoding="utf-8"?>
<xseqc xmlns:xsi="http://www.w3.org/2001/XMLSchema-instance" xmlns:xsd="http://www.w3.org/2001/XMLSchema">
  <sldid>-1</sldid>
</xseqc>
</file>

<file path=customXml/item31.xml><?xml version="1.0" encoding="utf-8"?>
<xseqc xmlns:xsi="http://www.w3.org/2001/XMLSchema-instance" xmlns:xsd="http://www.w3.org/2001/XMLSchema">
  <sldid>-1</sldid>
</xseqc>
</file>

<file path=customXml/item32.xml><?xml version="1.0" encoding="utf-8"?>
<xseqc xmlns:xsi="http://www.w3.org/2001/XMLSchema-instance" xmlns:xsd="http://www.w3.org/2001/XMLSchema">
  <sldid>-1</sldid>
</xseqc>
</file>

<file path=customXml/item33.xml><?xml version="1.0" encoding="utf-8"?>
<xseqc xmlns:xsi="http://www.w3.org/2001/XMLSchema-instance" xmlns:xsd="http://www.w3.org/2001/XMLSchema">
  <sldid>-1</sldid>
</xseqc>
</file>

<file path=customXml/item34.xml><?xml version="1.0" encoding="utf-8"?>
<xseqc xmlns:xsi="http://www.w3.org/2001/XMLSchema-instance" xmlns:xsd="http://www.w3.org/2001/XMLSchema">
  <sldid>-1</sldid>
</xseqc>
</file>

<file path=customXml/item35.xml><?xml version="1.0" encoding="utf-8"?>
<xseqc xmlns:xsi="http://www.w3.org/2001/XMLSchema-instance" xmlns:xsd="http://www.w3.org/2001/XMLSchema">
  <sldid>-1</sldid>
</xseqc>
</file>

<file path=customXml/item36.xml><?xml version="1.0" encoding="utf-8"?>
<xseqc xmlns:xsi="http://www.w3.org/2001/XMLSchema-instance" xmlns:xsd="http://www.w3.org/2001/XMLSchema">
  <sldid>-1</sldid>
</xseqc>
</file>

<file path=customXml/item37.xml><?xml version="1.0" encoding="utf-8"?>
<xseqc xmlns:xsi="http://www.w3.org/2001/XMLSchema-instance" xmlns:xsd="http://www.w3.org/2001/XMLSchema">
  <sldid>-1</sldid>
</xseqc>
</file>

<file path=customXml/item38.xml><?xml version="1.0" encoding="utf-8"?>
<xseqc xmlns:xsi="http://www.w3.org/2001/XMLSchema-instance" xmlns:xsd="http://www.w3.org/2001/XMLSchema">
  <sldid>-1</sldid>
</xseqc>
</file>

<file path=customXml/item39.xml><?xml version="1.0" encoding="utf-8"?>
<xseqc xmlns:xsi="http://www.w3.org/2001/XMLSchema-instance" xmlns:xsd="http://www.w3.org/2001/XMLSchema">
  <sldid>-1</sldid>
</xseqc>
</file>

<file path=customXml/item40.xml><?xml version="1.0" encoding="utf-8"?>
<xseqc xmlns:xsi="http://www.w3.org/2001/XMLSchema-instance" xmlns:xsd="http://www.w3.org/2001/XMLSchema">
  <sldid>-1</sldid>
</xseqc>
</file>

<file path=customXml/item41.xml><?xml version="1.0" encoding="utf-8"?>
<xseqc xmlns:xsi="http://www.w3.org/2001/XMLSchema-instance" xmlns:xsd="http://www.w3.org/2001/XMLSchema">
  <sldid>-1</sldid>
</xseqc>
</file>

<file path=customXml/item42.xml><?xml version="1.0" encoding="utf-8"?>
<xseqc xmlns:xsi="http://www.w3.org/2001/XMLSchema-instance" xmlns:xsd="http://www.w3.org/2001/XMLSchema">
  <sldid>-1</sldid>
</xseqc>
</file>

<file path=customXml/item43.xml><?xml version="1.0" encoding="utf-8"?>
<xseqc xmlns:xsi="http://www.w3.org/2001/XMLSchema-instance" xmlns:xsd="http://www.w3.org/2001/XMLSchema">
  <sldid>-1</sldid>
</xseqc>
</file>

<file path=customXml/item44.xml><?xml version="1.0" encoding="utf-8"?>
<xseqc xmlns:xsi="http://www.w3.org/2001/XMLSchema-instance" xmlns:xsd="http://www.w3.org/2001/XMLSchema">
  <sldid>-1</sldid>
</xseqc>
</file>

<file path=customXml/itemProps1.xml><?xml version="1.0" encoding="utf-8"?>
<ds:datastoreItem xmlns:ds="http://schemas.openxmlformats.org/officeDocument/2006/customXml" ds:itemID="{1F88A9CD-8645-4D27-B77A-E93F287D7D74}">
  <ds:schemaRefs>
    <ds:schemaRef ds:uri="http://www.w3.org/2001/XMLSchema"/>
  </ds:schemaRefs>
</ds:datastoreItem>
</file>

<file path=customXml/itemProps2.xml><?xml version="1.0" encoding="utf-8"?>
<ds:datastoreItem xmlns:ds="http://schemas.openxmlformats.org/officeDocument/2006/customXml" ds:itemID="{E9E03008-3048-42B7-B90D-937760CB7682}">
  <ds:schemaRefs>
    <ds:schemaRef ds:uri="http://www.w3.org/2001/XMLSchema"/>
  </ds:schemaRefs>
</ds:datastoreItem>
</file>

<file path=customXml/itemProps3.xml><?xml version="1.0" encoding="utf-8"?>
<ds:datastoreItem xmlns:ds="http://schemas.openxmlformats.org/officeDocument/2006/customXml" ds:itemID="{05D50E80-D4FB-47FF-BF6F-F446DAD858F7}">
  <ds:schemaRefs>
    <ds:schemaRef ds:uri="http://www.w3.org/2001/XMLSchema"/>
  </ds:schemaRefs>
</ds:datastoreItem>
</file>

<file path=customXml/itemProps4.xml><?xml version="1.0" encoding="utf-8"?>
<ds:datastoreItem xmlns:ds="http://schemas.openxmlformats.org/officeDocument/2006/customXml" ds:itemID="{D5417909-B6A2-4455-A2E7-0F86CF8AC845}">
  <ds:schemaRefs>
    <ds:schemaRef ds:uri="http://www.w3.org/2001/XMLSchema"/>
  </ds:schemaRefs>
</ds:datastoreItem>
</file>

<file path=customXml/itemProps5.xml><?xml version="1.0" encoding="utf-8"?>
<ds:datastoreItem xmlns:ds="http://schemas.openxmlformats.org/officeDocument/2006/customXml" ds:itemID="{0752C967-3DC2-4445-ACCB-CF75D1EED170}">
  <ds:schemaRefs>
    <ds:schemaRef ds:uri="http://www.w3.org/2001/XMLSchema"/>
  </ds:schemaRefs>
</ds:datastoreItem>
</file>

<file path=customXml/itemProps6.xml><?xml version="1.0" encoding="utf-8"?>
<ds:datastoreItem xmlns:ds="http://schemas.openxmlformats.org/officeDocument/2006/customXml" ds:itemID="{D766ED0F-229F-4F99-9596-773CE95A9B62}">
  <ds:schemaRefs>
    <ds:schemaRef ds:uri="http://www.w3.org/2001/XMLSchema"/>
  </ds:schemaRefs>
</ds:datastoreItem>
</file>

<file path=customXml/itemProps7.xml><?xml version="1.0" encoding="utf-8"?>
<ds:datastoreItem xmlns:ds="http://schemas.openxmlformats.org/officeDocument/2006/customXml" ds:itemID="{A3CCC9BE-35B6-42C6-87EE-D58612E568C6}">
  <ds:schemaRefs>
    <ds:schemaRef ds:uri="http://www.w3.org/2001/XMLSchema"/>
  </ds:schemaRefs>
</ds:datastoreItem>
</file>

<file path=customXml/itemProps8.xml><?xml version="1.0" encoding="utf-8"?>
<ds:datastoreItem xmlns:ds="http://schemas.openxmlformats.org/officeDocument/2006/customXml" ds:itemID="{239102B5-2526-492C-9A99-B8D4E2FDDFA9}">
  <ds:schemaRefs>
    <ds:schemaRef ds:uri="http://www.w3.org/2001/XMLSchema"/>
  </ds:schemaRefs>
</ds:datastoreItem>
</file>

<file path=customXml/itemProps9.xml><?xml version="1.0" encoding="utf-8"?>
<ds:datastoreItem xmlns:ds="http://schemas.openxmlformats.org/officeDocument/2006/customXml" ds:itemID="{607A6DAD-18DD-45FA-B10E-3AA1395976A0}">
  <ds:schemaRefs>
    <ds:schemaRef ds:uri="http://www.w3.org/2001/XMLSchema"/>
  </ds:schemaRefs>
</ds:datastoreItem>
</file>

<file path=customXml/itemProps10.xml><?xml version="1.0" encoding="utf-8"?>
<ds:datastoreItem xmlns:ds="http://schemas.openxmlformats.org/officeDocument/2006/customXml" ds:itemID="{34F601EE-F39C-4BF4-9561-E0500A894890}">
  <ds:schemaRefs>
    <ds:schemaRef ds:uri="http://www.w3.org/2001/XMLSchema"/>
  </ds:schemaRefs>
</ds:datastoreItem>
</file>

<file path=customXml/itemProps11.xml><?xml version="1.0" encoding="utf-8"?>
<ds:datastoreItem xmlns:ds="http://schemas.openxmlformats.org/officeDocument/2006/customXml" ds:itemID="{05D401DC-2225-4053-BA05-E7910A9CE826}">
  <ds:schemaRefs>
    <ds:schemaRef ds:uri="http://www.w3.org/2001/XMLSchema"/>
  </ds:schemaRefs>
</ds:datastoreItem>
</file>

<file path=customXml/itemProps12.xml><?xml version="1.0" encoding="utf-8"?>
<ds:datastoreItem xmlns:ds="http://schemas.openxmlformats.org/officeDocument/2006/customXml" ds:itemID="{16B0053F-67CA-4307-8A89-BCBD713F5467}">
  <ds:schemaRefs>
    <ds:schemaRef ds:uri="http://www.w3.org/2001/XMLSchema"/>
  </ds:schemaRefs>
</ds:datastoreItem>
</file>

<file path=customXml/itemProps13.xml><?xml version="1.0" encoding="utf-8"?>
<ds:datastoreItem xmlns:ds="http://schemas.openxmlformats.org/officeDocument/2006/customXml" ds:itemID="{1F01A20A-75F7-4B1B-AA96-D5EABC8E6529}">
  <ds:schemaRefs>
    <ds:schemaRef ds:uri="http://www.w3.org/2001/XMLSchema"/>
  </ds:schemaRefs>
</ds:datastoreItem>
</file>

<file path=customXml/itemProps14.xml><?xml version="1.0" encoding="utf-8"?>
<ds:datastoreItem xmlns:ds="http://schemas.openxmlformats.org/officeDocument/2006/customXml" ds:itemID="{E324AA31-F317-420E-BF75-2EC62B754ADE}">
  <ds:schemaRefs>
    <ds:schemaRef ds:uri="http://www.w3.org/2001/XMLSchema"/>
  </ds:schemaRefs>
</ds:datastoreItem>
</file>

<file path=customXml/itemProps15.xml><?xml version="1.0" encoding="utf-8"?>
<ds:datastoreItem xmlns:ds="http://schemas.openxmlformats.org/officeDocument/2006/customXml" ds:itemID="{C6669488-84D4-4E78-83B8-C3065F8AD7E5}">
  <ds:schemaRefs>
    <ds:schemaRef ds:uri="http://www.w3.org/2001/XMLSchema"/>
  </ds:schemaRefs>
</ds:datastoreItem>
</file>

<file path=customXml/itemProps16.xml><?xml version="1.0" encoding="utf-8"?>
<ds:datastoreItem xmlns:ds="http://schemas.openxmlformats.org/officeDocument/2006/customXml" ds:itemID="{16EDB576-6134-4D7C-8F49-83715B00475C}">
  <ds:schemaRefs>
    <ds:schemaRef ds:uri="http://www.w3.org/2001/XMLSchema"/>
  </ds:schemaRefs>
</ds:datastoreItem>
</file>

<file path=customXml/itemProps17.xml><?xml version="1.0" encoding="utf-8"?>
<ds:datastoreItem xmlns:ds="http://schemas.openxmlformats.org/officeDocument/2006/customXml" ds:itemID="{AFDCA49D-C383-4B41-867D-8144DD803CE1}">
  <ds:schemaRefs>
    <ds:schemaRef ds:uri="http://www.w3.org/2001/XMLSchema"/>
  </ds:schemaRefs>
</ds:datastoreItem>
</file>

<file path=customXml/itemProps18.xml><?xml version="1.0" encoding="utf-8"?>
<ds:datastoreItem xmlns:ds="http://schemas.openxmlformats.org/officeDocument/2006/customXml" ds:itemID="{3372621E-177A-43AE-A6F5-B307E2056C66}">
  <ds:schemaRefs>
    <ds:schemaRef ds:uri="http://www.w3.org/2001/XMLSchema"/>
  </ds:schemaRefs>
</ds:datastoreItem>
</file>

<file path=customXml/itemProps19.xml><?xml version="1.0" encoding="utf-8"?>
<ds:datastoreItem xmlns:ds="http://schemas.openxmlformats.org/officeDocument/2006/customXml" ds:itemID="{81177E11-6975-479F-909A-B41408E347F8}">
  <ds:schemaRefs>
    <ds:schemaRef ds:uri="http://www.w3.org/2001/XMLSchema"/>
  </ds:schemaRefs>
</ds:datastoreItem>
</file>

<file path=customXml/itemProps20.xml><?xml version="1.0" encoding="utf-8"?>
<ds:datastoreItem xmlns:ds="http://schemas.openxmlformats.org/officeDocument/2006/customXml" ds:itemID="{6E32EF03-F4E2-4E91-94C7-23CAEF0516CB}">
  <ds:schemaRefs>
    <ds:schemaRef ds:uri="http://www.w3.org/2001/XMLSchema"/>
  </ds:schemaRefs>
</ds:datastoreItem>
</file>

<file path=customXml/itemProps21.xml><?xml version="1.0" encoding="utf-8"?>
<ds:datastoreItem xmlns:ds="http://schemas.openxmlformats.org/officeDocument/2006/customXml" ds:itemID="{483AD7B7-2C92-4058-B933-87DC7B33B742}">
  <ds:schemaRefs>
    <ds:schemaRef ds:uri="http://www.w3.org/2001/XMLSchema"/>
  </ds:schemaRefs>
</ds:datastoreItem>
</file>

<file path=customXml/itemProps22.xml><?xml version="1.0" encoding="utf-8"?>
<ds:datastoreItem xmlns:ds="http://schemas.openxmlformats.org/officeDocument/2006/customXml" ds:itemID="{11099D1E-20A8-4D51-8E0D-9E64BDC30E43}">
  <ds:schemaRefs>
    <ds:schemaRef ds:uri="http://www.w3.org/2001/XMLSchema"/>
  </ds:schemaRefs>
</ds:datastoreItem>
</file>

<file path=customXml/itemProps23.xml><?xml version="1.0" encoding="utf-8"?>
<ds:datastoreItem xmlns:ds="http://schemas.openxmlformats.org/officeDocument/2006/customXml" ds:itemID="{EE3D1159-6EEF-47E7-A6EC-20C9D3426B0E}">
  <ds:schemaRefs>
    <ds:schemaRef ds:uri="http://www.w3.org/2001/XMLSchema"/>
  </ds:schemaRefs>
</ds:datastoreItem>
</file>

<file path=customXml/itemProps24.xml><?xml version="1.0" encoding="utf-8"?>
<ds:datastoreItem xmlns:ds="http://schemas.openxmlformats.org/officeDocument/2006/customXml" ds:itemID="{A3D7D831-0989-4B97-9803-41F302A24622}">
  <ds:schemaRefs>
    <ds:schemaRef ds:uri="http://www.w3.org/2001/XMLSchema"/>
  </ds:schemaRefs>
</ds:datastoreItem>
</file>

<file path=customXml/itemProps25.xml><?xml version="1.0" encoding="utf-8"?>
<ds:datastoreItem xmlns:ds="http://schemas.openxmlformats.org/officeDocument/2006/customXml" ds:itemID="{5EAB5989-ED16-4FEF-AF2C-7275CB0D26CF}">
  <ds:schemaRefs>
    <ds:schemaRef ds:uri="http://www.w3.org/2001/XMLSchema"/>
  </ds:schemaRefs>
</ds:datastoreItem>
</file>

<file path=customXml/itemProps26.xml><?xml version="1.0" encoding="utf-8"?>
<ds:datastoreItem xmlns:ds="http://schemas.openxmlformats.org/officeDocument/2006/customXml" ds:itemID="{C4ADD56E-F171-4C05-8CDB-582FF14D28E6}">
  <ds:schemaRefs>
    <ds:schemaRef ds:uri="http://www.w3.org/2001/XMLSchema"/>
  </ds:schemaRefs>
</ds:datastoreItem>
</file>

<file path=customXml/itemProps27.xml><?xml version="1.0" encoding="utf-8"?>
<ds:datastoreItem xmlns:ds="http://schemas.openxmlformats.org/officeDocument/2006/customXml" ds:itemID="{B863E077-8FB4-421D-8B12-4DB0EAD5FFF7}">
  <ds:schemaRefs>
    <ds:schemaRef ds:uri="http://www.w3.org/2001/XMLSchema"/>
  </ds:schemaRefs>
</ds:datastoreItem>
</file>

<file path=customXml/itemProps28.xml><?xml version="1.0" encoding="utf-8"?>
<ds:datastoreItem xmlns:ds="http://schemas.openxmlformats.org/officeDocument/2006/customXml" ds:itemID="{3554CC43-4EE8-46EF-9158-42D252AFEB30}">
  <ds:schemaRefs>
    <ds:schemaRef ds:uri="http://www.w3.org/2001/XMLSchema"/>
  </ds:schemaRefs>
</ds:datastoreItem>
</file>

<file path=customXml/itemProps29.xml><?xml version="1.0" encoding="utf-8"?>
<ds:datastoreItem xmlns:ds="http://schemas.openxmlformats.org/officeDocument/2006/customXml" ds:itemID="{CA7BBCE6-55E2-4E11-9F52-FC8A306C7F98}">
  <ds:schemaRefs>
    <ds:schemaRef ds:uri="http://www.w3.org/2001/XMLSchema"/>
  </ds:schemaRefs>
</ds:datastoreItem>
</file>

<file path=customXml/itemProps30.xml><?xml version="1.0" encoding="utf-8"?>
<ds:datastoreItem xmlns:ds="http://schemas.openxmlformats.org/officeDocument/2006/customXml" ds:itemID="{4DD127CB-C889-4B5B-ACB6-7B9784835D2D}">
  <ds:schemaRefs>
    <ds:schemaRef ds:uri="http://www.w3.org/2001/XMLSchema"/>
  </ds:schemaRefs>
</ds:datastoreItem>
</file>

<file path=customXml/itemProps31.xml><?xml version="1.0" encoding="utf-8"?>
<ds:datastoreItem xmlns:ds="http://schemas.openxmlformats.org/officeDocument/2006/customXml" ds:itemID="{1EAB012A-321A-4948-B745-6F15DA296E53}">
  <ds:schemaRefs>
    <ds:schemaRef ds:uri="http://www.w3.org/2001/XMLSchema"/>
  </ds:schemaRefs>
</ds:datastoreItem>
</file>

<file path=customXml/itemProps32.xml><?xml version="1.0" encoding="utf-8"?>
<ds:datastoreItem xmlns:ds="http://schemas.openxmlformats.org/officeDocument/2006/customXml" ds:itemID="{F6F6FEDD-26BE-4A47-974D-228AD671BCD4}">
  <ds:schemaRefs>
    <ds:schemaRef ds:uri="http://www.w3.org/2001/XMLSchema"/>
  </ds:schemaRefs>
</ds:datastoreItem>
</file>

<file path=customXml/itemProps33.xml><?xml version="1.0" encoding="utf-8"?>
<ds:datastoreItem xmlns:ds="http://schemas.openxmlformats.org/officeDocument/2006/customXml" ds:itemID="{BDE43DFA-6469-4339-B221-40DF41184650}">
  <ds:schemaRefs>
    <ds:schemaRef ds:uri="http://www.w3.org/2001/XMLSchema"/>
  </ds:schemaRefs>
</ds:datastoreItem>
</file>

<file path=customXml/itemProps34.xml><?xml version="1.0" encoding="utf-8"?>
<ds:datastoreItem xmlns:ds="http://schemas.openxmlformats.org/officeDocument/2006/customXml" ds:itemID="{BC1E1DA2-60DC-4D55-AD87-BDE06EF7DFA7}">
  <ds:schemaRefs>
    <ds:schemaRef ds:uri="http://www.w3.org/2001/XMLSchema"/>
  </ds:schemaRefs>
</ds:datastoreItem>
</file>

<file path=customXml/itemProps35.xml><?xml version="1.0" encoding="utf-8"?>
<ds:datastoreItem xmlns:ds="http://schemas.openxmlformats.org/officeDocument/2006/customXml" ds:itemID="{B3FF309A-21F9-4B72-BD90-F6E150E93F99}">
  <ds:schemaRefs>
    <ds:schemaRef ds:uri="http://www.w3.org/2001/XMLSchema"/>
  </ds:schemaRefs>
</ds:datastoreItem>
</file>

<file path=customXml/itemProps36.xml><?xml version="1.0" encoding="utf-8"?>
<ds:datastoreItem xmlns:ds="http://schemas.openxmlformats.org/officeDocument/2006/customXml" ds:itemID="{5D6CD323-56A7-4DBB-A564-C56CFE58E6B5}">
  <ds:schemaRefs>
    <ds:schemaRef ds:uri="http://www.w3.org/2001/XMLSchema"/>
  </ds:schemaRefs>
</ds:datastoreItem>
</file>

<file path=customXml/itemProps37.xml><?xml version="1.0" encoding="utf-8"?>
<ds:datastoreItem xmlns:ds="http://schemas.openxmlformats.org/officeDocument/2006/customXml" ds:itemID="{69AFD9CB-A981-4A97-8B44-89FD6E2D9C3F}">
  <ds:schemaRefs>
    <ds:schemaRef ds:uri="http://www.w3.org/2001/XMLSchema"/>
  </ds:schemaRefs>
</ds:datastoreItem>
</file>

<file path=customXml/itemProps38.xml><?xml version="1.0" encoding="utf-8"?>
<ds:datastoreItem xmlns:ds="http://schemas.openxmlformats.org/officeDocument/2006/customXml" ds:itemID="{32DB4EFF-7F63-45D4-BA52-DC563C9F8FF1}">
  <ds:schemaRefs>
    <ds:schemaRef ds:uri="http://www.w3.org/2001/XMLSchema"/>
  </ds:schemaRefs>
</ds:datastoreItem>
</file>

<file path=customXml/itemProps39.xml><?xml version="1.0" encoding="utf-8"?>
<ds:datastoreItem xmlns:ds="http://schemas.openxmlformats.org/officeDocument/2006/customXml" ds:itemID="{B5C20EBB-7663-4A44-BAC7-6D0144E8D8A7}">
  <ds:schemaRefs>
    <ds:schemaRef ds:uri="http://www.w3.org/2001/XMLSchema"/>
  </ds:schemaRefs>
</ds:datastoreItem>
</file>

<file path=customXml/itemProps40.xml><?xml version="1.0" encoding="utf-8"?>
<ds:datastoreItem xmlns:ds="http://schemas.openxmlformats.org/officeDocument/2006/customXml" ds:itemID="{9140C30F-2AAB-432E-8BB1-E57DACD74788}">
  <ds:schemaRefs>
    <ds:schemaRef ds:uri="http://www.w3.org/2001/XMLSchema"/>
  </ds:schemaRefs>
</ds:datastoreItem>
</file>

<file path=customXml/itemProps41.xml><?xml version="1.0" encoding="utf-8"?>
<ds:datastoreItem xmlns:ds="http://schemas.openxmlformats.org/officeDocument/2006/customXml" ds:itemID="{9F6DF1C5-777F-4660-A2AE-ED112284F410}">
  <ds:schemaRefs>
    <ds:schemaRef ds:uri="http://www.w3.org/2001/XMLSchema"/>
  </ds:schemaRefs>
</ds:datastoreItem>
</file>

<file path=customXml/itemProps42.xml><?xml version="1.0" encoding="utf-8"?>
<ds:datastoreItem xmlns:ds="http://schemas.openxmlformats.org/officeDocument/2006/customXml" ds:itemID="{A9596F55-6707-41F4-BA82-95F2EB607E00}">
  <ds:schemaRefs>
    <ds:schemaRef ds:uri="http://www.w3.org/2001/XMLSchema"/>
  </ds:schemaRefs>
</ds:datastoreItem>
</file>

<file path=customXml/itemProps43.xml><?xml version="1.0" encoding="utf-8"?>
<ds:datastoreItem xmlns:ds="http://schemas.openxmlformats.org/officeDocument/2006/customXml" ds:itemID="{E9A54576-04D6-4BD1-8DD0-8807062D9694}">
  <ds:schemaRefs>
    <ds:schemaRef ds:uri="http://www.w3.org/2001/XMLSchema"/>
  </ds:schemaRefs>
</ds:datastoreItem>
</file>

<file path=customXml/itemProps44.xml><?xml version="1.0" encoding="utf-8"?>
<ds:datastoreItem xmlns:ds="http://schemas.openxmlformats.org/officeDocument/2006/customXml" ds:itemID="{FCA9979C-8BD3-499E-A977-0A90AE52C62C}">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Seven</Template>
  <TotalTime>42950</TotalTime>
  <Words>2470</Words>
  <Application>Microsoft Office PowerPoint</Application>
  <PresentationFormat>宽屏</PresentationFormat>
  <Paragraphs>388</Paragraphs>
  <Slides>26</Slides>
  <Notes>0</Notes>
  <HiddenSlides>0</HiddenSlides>
  <MMClips>0</MMClips>
  <ScaleCrop>false</ScaleCrop>
  <HeadingPairs>
    <vt:vector size="6" baseType="variant">
      <vt:variant>
        <vt:lpstr>已用的字体</vt:lpstr>
      </vt:variant>
      <vt:variant>
        <vt:i4>13</vt:i4>
      </vt:variant>
      <vt:variant>
        <vt:lpstr>主题</vt:lpstr>
      </vt:variant>
      <vt:variant>
        <vt:i4>6</vt:i4>
      </vt:variant>
      <vt:variant>
        <vt:lpstr>幻灯片标题</vt:lpstr>
      </vt:variant>
      <vt:variant>
        <vt:i4>26</vt:i4>
      </vt:variant>
    </vt:vector>
  </HeadingPairs>
  <TitlesOfParts>
    <vt:vector size="45" baseType="lpstr">
      <vt:lpstr>Alibaba PuHuiTi B</vt:lpstr>
      <vt:lpstr>Arial Unicode MS</vt:lpstr>
      <vt:lpstr>quote-cjk-patch</vt:lpstr>
      <vt:lpstr>阿里巴巴普惠体</vt:lpstr>
      <vt:lpstr>阿里巴巴普惠体 Heavy</vt:lpstr>
      <vt:lpstr>阿里巴巴普惠体 Medium</vt:lpstr>
      <vt:lpstr>等线</vt:lpstr>
      <vt:lpstr>楷体</vt:lpstr>
      <vt:lpstr>宋体</vt:lpstr>
      <vt:lpstr>Arial</vt:lpstr>
      <vt:lpstr>Calisto MT</vt:lpstr>
      <vt:lpstr>Source Code Pro</vt:lpstr>
      <vt:lpstr>Wingdings</vt:lpstr>
      <vt:lpstr>内容模板</vt:lpstr>
      <vt:lpstr>封面</vt:lpstr>
      <vt:lpstr>章节目录模板</vt:lpstr>
      <vt:lpstr>小结思考模板2</vt:lpstr>
      <vt:lpstr>1_小结思考模板2</vt:lpstr>
      <vt:lpstr>1_章节目录模板</vt:lpstr>
      <vt:lpstr>RAG知识库-快速入门</vt:lpstr>
      <vt:lpstr>PowerPoint 演示文稿</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RAG知识库-核心API</vt:lpstr>
      <vt:lpstr>PowerPoint 演示文稿</vt:lpstr>
      <vt:lpstr>PowerPoint 演示文稿</vt:lpstr>
      <vt:lpstr>Tools工具-准备工作</vt:lpstr>
      <vt:lpstr>Tools工具-准备工作</vt:lpstr>
      <vt:lpstr>PowerPoint 演示文稿</vt:lpstr>
      <vt:lpstr>Tools工具-原理</vt:lpstr>
      <vt:lpstr>Tools工具-原理</vt:lpstr>
      <vt:lpstr>PowerPoint 演示文稿</vt:lpstr>
      <vt:lpstr>Tools工具-实现</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Seven</dc:creator>
  <cp:lastModifiedBy>Verse Wandering</cp:lastModifiedBy>
  <cp:revision>1885</cp:revision>
  <cp:lastPrinted>2022-05-29T16:00:00Z</cp:lastPrinted>
  <dcterms:created xsi:type="dcterms:W3CDTF">2022-05-29T16:00:00Z</dcterms:created>
  <dcterms:modified xsi:type="dcterms:W3CDTF">2025-11-07T03:37:19Z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1f6b6247-00f9-4185-bb3e-6a09396f8e3b</vt:lpwstr>
  </property>
</Properties>
</file>